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793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Arial"/>
      </a:defRPr>
    </a:lvl1pPr>
    <a:lvl2pPr indent="228600" latinLnBrk="0">
      <a:defRPr sz="1200">
        <a:latin typeface="+mj-lt"/>
        <a:ea typeface="+mj-ea"/>
        <a:cs typeface="+mj-cs"/>
        <a:sym typeface="Arial"/>
      </a:defRPr>
    </a:lvl2pPr>
    <a:lvl3pPr indent="457200" latinLnBrk="0">
      <a:defRPr sz="1200">
        <a:latin typeface="+mj-lt"/>
        <a:ea typeface="+mj-ea"/>
        <a:cs typeface="+mj-cs"/>
        <a:sym typeface="Arial"/>
      </a:defRPr>
    </a:lvl3pPr>
    <a:lvl4pPr indent="685800" latinLnBrk="0">
      <a:defRPr sz="1200">
        <a:latin typeface="+mj-lt"/>
        <a:ea typeface="+mj-ea"/>
        <a:cs typeface="+mj-cs"/>
        <a:sym typeface="Arial"/>
      </a:defRPr>
    </a:lvl4pPr>
    <a:lvl5pPr indent="914400" latinLnBrk="0">
      <a:defRPr sz="1200">
        <a:latin typeface="+mj-lt"/>
        <a:ea typeface="+mj-ea"/>
        <a:cs typeface="+mj-cs"/>
        <a:sym typeface="Arial"/>
      </a:defRPr>
    </a:lvl5pPr>
    <a:lvl6pPr indent="1143000" latinLnBrk="0">
      <a:defRPr sz="1200">
        <a:latin typeface="+mj-lt"/>
        <a:ea typeface="+mj-ea"/>
        <a:cs typeface="+mj-cs"/>
        <a:sym typeface="Arial"/>
      </a:defRPr>
    </a:lvl6pPr>
    <a:lvl7pPr indent="1371600" latinLnBrk="0">
      <a:defRPr sz="1200">
        <a:latin typeface="+mj-lt"/>
        <a:ea typeface="+mj-ea"/>
        <a:cs typeface="+mj-cs"/>
        <a:sym typeface="Arial"/>
      </a:defRPr>
    </a:lvl7pPr>
    <a:lvl8pPr indent="1600200" latinLnBrk="0">
      <a:defRPr sz="1200">
        <a:latin typeface="+mj-lt"/>
        <a:ea typeface="+mj-ea"/>
        <a:cs typeface="+mj-cs"/>
        <a:sym typeface="Arial"/>
      </a:defRPr>
    </a:lvl8pPr>
    <a:lvl9pPr indent="1828800" latinLnBrk="0">
      <a:defRPr sz="1200">
        <a:latin typeface="+mj-lt"/>
        <a:ea typeface="+mj-ea"/>
        <a:cs typeface="+mj-cs"/>
        <a:sym typeface="Arial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08965" y="92074"/>
            <a:ext cx="1096137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08965" y="1600200"/>
            <a:ext cx="1096137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5886661" y="6172200"/>
            <a:ext cx="2841838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png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.png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8.png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9.png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0.png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1.png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2.png"/></Relationships>
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3.png"/></Relationships>
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ww.sciencedirect.com/science/article/pii/S0021999118307125" TargetMode="External"/><Relationship Id="rId3" Type="http://schemas.openxmlformats.org/officeDocument/2006/relationships/hyperlink" Target="https://epubs.siam.org/doi/book/10.1137/1.9780898717839" TargetMode="External"/><Relationship Id="rId4" Type="http://schemas.openxmlformats.org/officeDocument/2006/relationships/hyperlink" Target="https://www.sciencedirect.com/science/article/abs/pii/S0045782521000773" TargetMode="External"/><Relationship Id="rId5" Type="http://schemas.openxmlformats.org/officeDocument/2006/relationships/hyperlink" Target="https://docs.jax.dev/en/latest/quickstart.html" TargetMode="External"/><Relationship Id="rId6" Type="http://schemas.openxmlformats.org/officeDocument/2006/relationships/hyperlink" Target="https://docs.jax.dev/en/latest/jax.html" TargetMode="Externa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0"/>
          <p:cNvSpPr txBox="1"/>
          <p:nvPr/>
        </p:nvSpPr>
        <p:spPr>
          <a:xfrm>
            <a:off x="731519" y="342205"/>
            <a:ext cx="3108962" cy="6414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500">
                <a:solidFill>
                  <a:srgbClr val="4456B7"/>
                </a:solidFill>
              </a:defRPr>
            </a:pPr>
            <a:r>
              <a:t>СПбПУ</a:t>
            </a:r>
          </a:p>
          <a:p>
            <a:pPr>
              <a:defRPr sz="1500">
                <a:solidFill>
                  <a:srgbClr val="4456B7"/>
                </a:solidFill>
              </a:defRPr>
            </a:pPr>
            <a:r>
              <a:t>Кафедра «Прикладная математика и информатика»</a:t>
            </a:r>
          </a:p>
        </p:txBody>
      </p:sp>
      <p:sp>
        <p:nvSpPr>
          <p:cNvPr id="21" name="Text 1"/>
          <p:cNvSpPr txBox="1"/>
          <p:nvPr/>
        </p:nvSpPr>
        <p:spPr>
          <a:xfrm>
            <a:off x="713231" y="1188719"/>
            <a:ext cx="6583682" cy="14630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/>
          <a:p>
            <a:pPr>
              <a:defRPr b="1" sz="2800">
                <a:solidFill>
                  <a:srgbClr val="111111"/>
                </a:solidFill>
              </a:defRPr>
            </a:pPr>
            <a:r>
              <a:t>Сравнение FDM и PINN</a:t>
            </a:r>
          </a:p>
          <a:p>
            <a:pPr>
              <a:defRPr b="1" sz="2800">
                <a:solidFill>
                  <a:srgbClr val="111111"/>
                </a:solidFill>
              </a:defRPr>
            </a:pPr>
            <a:r>
              <a:t>для решения 3D уравнения</a:t>
            </a:r>
          </a:p>
          <a:p>
            <a:pPr>
              <a:defRPr b="1" sz="2800">
                <a:solidFill>
                  <a:srgbClr val="111111"/>
                </a:solidFill>
              </a:defRPr>
            </a:pPr>
            <a:r>
              <a:t>теплопроводности в JAX</a:t>
            </a:r>
          </a:p>
        </p:txBody>
      </p:sp>
      <p:sp>
        <p:nvSpPr>
          <p:cNvPr id="22" name="Text 2"/>
          <p:cNvSpPr txBox="1"/>
          <p:nvPr/>
        </p:nvSpPr>
        <p:spPr>
          <a:xfrm>
            <a:off x="749807" y="2848331"/>
            <a:ext cx="2560322" cy="2469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700">
                <a:solidFill>
                  <a:srgbClr val="2C8C69"/>
                </a:solidFill>
              </a:defRPr>
            </a:lvl1pPr>
          </a:lstStyle>
          <a:p>
            <a:pPr/>
            <a:r>
              <a:t>доклад на семинаре</a:t>
            </a:r>
          </a:p>
        </p:txBody>
      </p:sp>
      <p:sp>
        <p:nvSpPr>
          <p:cNvPr id="23" name="Text 3"/>
          <p:cNvSpPr txBox="1"/>
          <p:nvPr/>
        </p:nvSpPr>
        <p:spPr>
          <a:xfrm>
            <a:off x="749807" y="3218688"/>
            <a:ext cx="4937762" cy="502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/>
          <a:p>
            <a:pPr defTabSz="841247">
              <a:defRPr sz="1288">
                <a:solidFill>
                  <a:srgbClr val="111111"/>
                </a:solidFill>
              </a:defRPr>
            </a:pPr>
            <a:r>
              <a:t>Тимур Фатахов, Сергей Тишковец, Чинь Тхи Тху Хоай, Игорь Кан</a:t>
            </a:r>
          </a:p>
          <a:p>
            <a:pPr defTabSz="841247">
              <a:defRPr sz="1288">
                <a:solidFill>
                  <a:srgbClr val="111111"/>
                </a:solidFill>
              </a:defRPr>
            </a:pPr>
            <a:r>
              <a:t>17.04.2026</a:t>
            </a:r>
          </a:p>
        </p:txBody>
      </p:sp>
      <p:sp>
        <p:nvSpPr>
          <p:cNvPr id="24" name="Shape 4"/>
          <p:cNvSpPr/>
          <p:nvPr/>
        </p:nvSpPr>
        <p:spPr>
          <a:xfrm>
            <a:off x="713231" y="4160520"/>
            <a:ext cx="10789921" cy="1691641"/>
          </a:xfrm>
          <a:prstGeom prst="roundRect">
            <a:avLst>
              <a:gd name="adj" fmla="val 16667"/>
            </a:avLst>
          </a:prstGeom>
          <a:solidFill>
            <a:srgbClr val="F6F8FA"/>
          </a:solidFill>
          <a:ln w="12700">
            <a:solidFill>
              <a:srgbClr val="D7DCE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5" name="Text 5"/>
          <p:cNvSpPr txBox="1"/>
          <p:nvPr/>
        </p:nvSpPr>
        <p:spPr>
          <a:xfrm>
            <a:off x="932688" y="4462271"/>
            <a:ext cx="10058401" cy="11155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/>
          <a:p>
            <a:pPr defTabSz="813816">
              <a:lnSpc>
                <a:spcPct val="104999"/>
              </a:lnSpc>
              <a:defRPr sz="1513">
                <a:solidFill>
                  <a:srgbClr val="111111"/>
                </a:solidFill>
              </a:defRPr>
            </a:pPr>
            <a:r>
              <a:t>• Проект: аналитическое решение, FDM-солвер, PINN-солвер и модуль валидации</a:t>
            </a:r>
          </a:p>
          <a:p>
            <a:pPr defTabSz="813816">
              <a:lnSpc>
                <a:spcPct val="104999"/>
              </a:lnSpc>
              <a:defRPr sz="1513">
                <a:solidFill>
                  <a:srgbClr val="111111"/>
                </a:solidFill>
              </a:defRPr>
            </a:pPr>
            <a:r>
              <a:t>• Цель: проверить корректность реализации и сравнить методы по точности, устойчивости и вычислительной стоимости</a:t>
            </a:r>
          </a:p>
          <a:p>
            <a:pPr defTabSz="813816">
              <a:lnSpc>
                <a:spcPct val="104999"/>
              </a:lnSpc>
              <a:defRPr sz="1513">
                <a:solidFill>
                  <a:srgbClr val="111111"/>
                </a:solidFill>
              </a:defRPr>
            </a:pPr>
            <a:r>
              <a:t>• JAX используется и для JIT-компиляции разностной схемы, и для автоматического дифференцирования PINN</a:t>
            </a:r>
          </a:p>
        </p:txBody>
      </p:sp>
      <p:sp>
        <p:nvSpPr>
          <p:cNvPr id="26" name="Shape 6"/>
          <p:cNvSpPr/>
          <p:nvPr/>
        </p:nvSpPr>
        <p:spPr>
          <a:xfrm>
            <a:off x="594359" y="6473952"/>
            <a:ext cx="10972801" cy="1"/>
          </a:xfrm>
          <a:prstGeom prst="line">
            <a:avLst/>
          </a:prstGeom>
          <a:ln w="12700">
            <a:solidFill>
              <a:srgbClr val="D7DCE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7" name="Text 7"/>
          <p:cNvSpPr txBox="1"/>
          <p:nvPr/>
        </p:nvSpPr>
        <p:spPr>
          <a:xfrm>
            <a:off x="621791" y="6529323"/>
            <a:ext cx="10972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/>
            <a:r>
              <a:t>17.04.2026</a:t>
            </a:r>
          </a:p>
        </p:txBody>
      </p:sp>
      <p:sp>
        <p:nvSpPr>
          <p:cNvPr id="28" name="Text 8"/>
          <p:cNvSpPr txBox="1"/>
          <p:nvPr/>
        </p:nvSpPr>
        <p:spPr>
          <a:xfrm>
            <a:off x="11155680" y="6529323"/>
            <a:ext cx="3200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6B7280"/>
                </a:solidFill>
              </a:defRPr>
            </a:lvl1pPr>
          </a:lstStyle>
          <a:p>
            <a:pPr/>
            <a:r>
              <a:t>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 0"/>
          <p:cNvSpPr txBox="1"/>
          <p:nvPr/>
        </p:nvSpPr>
        <p:spPr>
          <a:xfrm>
            <a:off x="658368" y="370168"/>
            <a:ext cx="10881360" cy="2837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000">
                <a:solidFill>
                  <a:srgbClr val="111111"/>
                </a:solidFill>
              </a:defRPr>
            </a:lvl1pPr>
          </a:lstStyle>
          <a:p>
            <a:pPr/>
            <a:r>
              <a:t>Постановка задачи</a:t>
            </a:r>
          </a:p>
        </p:txBody>
      </p:sp>
      <p:sp>
        <p:nvSpPr>
          <p:cNvPr id="31" name="Text 1"/>
          <p:cNvSpPr txBox="1"/>
          <p:nvPr/>
        </p:nvSpPr>
        <p:spPr>
          <a:xfrm>
            <a:off x="713231" y="868680"/>
            <a:ext cx="4663442" cy="502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 defTabSz="649223">
              <a:lnSpc>
                <a:spcPct val="104999"/>
              </a:lnSpc>
              <a:defRPr sz="1207">
                <a:solidFill>
                  <a:srgbClr val="111111"/>
                </a:solidFill>
              </a:defRPr>
            </a:pPr>
            <a:r>
              <a:t>Рассматривается нестационарное уравнение теплопроводности</a:t>
            </a:r>
          </a:p>
          <a:p>
            <a:pPr defTabSz="649223">
              <a:lnSpc>
                <a:spcPct val="104999"/>
              </a:lnSpc>
              <a:defRPr sz="1207">
                <a:solidFill>
                  <a:srgbClr val="111111"/>
                </a:solidFill>
              </a:defRPr>
            </a:pPr>
            <a:r>
              <a:t>в кубической области.</a:t>
            </a:r>
          </a:p>
        </p:txBody>
      </p:sp>
      <p:pic>
        <p:nvPicPr>
          <p:cNvPr id="32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68680" y="1444752"/>
            <a:ext cx="4206241" cy="548330"/>
          </a:xfrm>
          <a:prstGeom prst="rect">
            <a:avLst/>
          </a:prstGeom>
          <a:ln w="12700">
            <a:miter lim="400000"/>
          </a:ln>
        </p:spPr>
      </p:pic>
      <p:sp>
        <p:nvSpPr>
          <p:cNvPr id="33" name="Text 2"/>
          <p:cNvSpPr txBox="1"/>
          <p:nvPr/>
        </p:nvSpPr>
        <p:spPr>
          <a:xfrm>
            <a:off x="749808" y="2176272"/>
            <a:ext cx="182880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04999"/>
              </a:lnSpc>
              <a:defRPr b="1" sz="1600">
                <a:solidFill>
                  <a:srgbClr val="2C8C69"/>
                </a:solidFill>
              </a:defRPr>
            </a:lvl1pPr>
          </a:lstStyle>
          <a:p>
            <a:pPr/>
            <a:r>
              <a:t>Область расчёта</a:t>
            </a:r>
          </a:p>
        </p:txBody>
      </p:sp>
      <p:pic>
        <p:nvPicPr>
          <p:cNvPr id="34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68680" y="2395727"/>
            <a:ext cx="3507186" cy="457201"/>
          </a:xfrm>
          <a:prstGeom prst="rect">
            <a:avLst/>
          </a:prstGeom>
          <a:ln w="12700">
            <a:miter lim="400000"/>
          </a:ln>
        </p:spPr>
      </p:pic>
      <p:sp>
        <p:nvSpPr>
          <p:cNvPr id="35" name="Text 3"/>
          <p:cNvSpPr txBox="1"/>
          <p:nvPr/>
        </p:nvSpPr>
        <p:spPr>
          <a:xfrm>
            <a:off x="749808" y="2944367"/>
            <a:ext cx="2011679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04999"/>
              </a:lnSpc>
              <a:defRPr b="1" sz="1600">
                <a:solidFill>
                  <a:srgbClr val="2C8C69"/>
                </a:solidFill>
              </a:defRPr>
            </a:lvl1pPr>
          </a:lstStyle>
          <a:p>
            <a:pPr/>
            <a:r>
              <a:t>Начальное условие</a:t>
            </a:r>
          </a:p>
        </p:txBody>
      </p:sp>
      <p:pic>
        <p:nvPicPr>
          <p:cNvPr id="36" name="Image 2" descr="Image 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868680" y="3172967"/>
            <a:ext cx="3840480" cy="500650"/>
          </a:xfrm>
          <a:prstGeom prst="rect">
            <a:avLst/>
          </a:prstGeom>
          <a:ln w="12700">
            <a:miter lim="400000"/>
          </a:ln>
        </p:spPr>
      </p:pic>
      <p:sp>
        <p:nvSpPr>
          <p:cNvPr id="37" name="Text 4"/>
          <p:cNvSpPr txBox="1"/>
          <p:nvPr/>
        </p:nvSpPr>
        <p:spPr>
          <a:xfrm>
            <a:off x="749808" y="3977640"/>
            <a:ext cx="4572001" cy="914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 defTabSz="868680">
              <a:lnSpc>
                <a:spcPct val="104999"/>
              </a:lnSpc>
              <a:defRPr sz="1520">
                <a:solidFill>
                  <a:srgbClr val="111111"/>
                </a:solidFill>
              </a:defRPr>
            </a:pPr>
            <a:r>
              <a:t>• Граничные условия Дирихле: u = 0 на всех гранях куба</a:t>
            </a:r>
          </a:p>
          <a:p>
            <a:pPr defTabSz="868680">
              <a:lnSpc>
                <a:spcPct val="104999"/>
              </a:lnSpc>
              <a:defRPr sz="1520">
                <a:solidFill>
                  <a:srgbClr val="111111"/>
                </a:solidFill>
              </a:defRPr>
            </a:pPr>
            <a:r>
              <a:t>• Фактическая конфигурация эксперимента: α = 1.0, T = 0.1</a:t>
            </a:r>
          </a:p>
        </p:txBody>
      </p:sp>
      <p:sp>
        <p:nvSpPr>
          <p:cNvPr id="38" name="Shape 5"/>
          <p:cNvSpPr/>
          <p:nvPr/>
        </p:nvSpPr>
        <p:spPr>
          <a:xfrm>
            <a:off x="5965984" y="1129844"/>
            <a:ext cx="4951850" cy="4434841"/>
          </a:xfrm>
          <a:prstGeom prst="roundRect">
            <a:avLst>
              <a:gd name="adj" fmla="val 16667"/>
            </a:avLst>
          </a:prstGeom>
          <a:solidFill>
            <a:srgbClr val="F6F8FA"/>
          </a:solidFill>
          <a:ln w="12700">
            <a:solidFill>
              <a:srgbClr val="D7DCE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9" name="Shape 7"/>
          <p:cNvSpPr/>
          <p:nvPr/>
        </p:nvSpPr>
        <p:spPr>
          <a:xfrm>
            <a:off x="7812138" y="2019459"/>
            <a:ext cx="1728053" cy="1733413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2C8C69"/>
            </a:solidFill>
          </a:ln>
        </p:spPr>
        <p:txBody>
          <a:bodyPr lIns="45719" rIns="45719"/>
          <a:lstStyle/>
          <a:p>
            <a:pPr>
              <a:defRPr sz="2100"/>
            </a:pPr>
          </a:p>
        </p:txBody>
      </p:sp>
      <p:sp>
        <p:nvSpPr>
          <p:cNvPr id="40" name="Shape 10"/>
          <p:cNvSpPr/>
          <p:nvPr/>
        </p:nvSpPr>
        <p:spPr>
          <a:xfrm>
            <a:off x="7325051" y="3535839"/>
            <a:ext cx="483894" cy="217075"/>
          </a:xfrm>
          <a:prstGeom prst="line">
            <a:avLst/>
          </a:prstGeom>
          <a:ln w="12700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1" name="Text 12"/>
          <p:cNvSpPr txBox="1"/>
          <p:nvPr/>
        </p:nvSpPr>
        <p:spPr>
          <a:xfrm>
            <a:off x="6910289" y="4423381"/>
            <a:ext cx="3063241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300">
                <a:solidFill>
                  <a:srgbClr val="6B7280"/>
                </a:solidFill>
              </a:defRPr>
            </a:lvl1pPr>
          </a:lstStyle>
          <a:p>
            <a:pPr/>
            <a:r>
              <a:t>Ω = [0,1]^3</a:t>
            </a:r>
          </a:p>
        </p:txBody>
      </p:sp>
      <p:sp>
        <p:nvSpPr>
          <p:cNvPr id="42" name="Text 13"/>
          <p:cNvSpPr txBox="1"/>
          <p:nvPr/>
        </p:nvSpPr>
        <p:spPr>
          <a:xfrm>
            <a:off x="6268720" y="4900444"/>
            <a:ext cx="4572001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400">
                <a:solidFill>
                  <a:srgbClr val="6B7280"/>
                </a:solidFill>
              </a:defRPr>
            </a:lvl1pPr>
          </a:lstStyle>
          <a:p>
            <a:pPr/>
            <a:r>
              <a:t>Схема области и граничных условий</a:t>
            </a:r>
          </a:p>
        </p:txBody>
      </p:sp>
      <p:sp>
        <p:nvSpPr>
          <p:cNvPr id="43" name="Shape 14"/>
          <p:cNvSpPr/>
          <p:nvPr/>
        </p:nvSpPr>
        <p:spPr>
          <a:xfrm>
            <a:off x="594359" y="6473952"/>
            <a:ext cx="10972801" cy="1"/>
          </a:xfrm>
          <a:prstGeom prst="line">
            <a:avLst/>
          </a:prstGeom>
          <a:ln w="12700">
            <a:solidFill>
              <a:srgbClr val="D7DCE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4" name="Text 15"/>
          <p:cNvSpPr txBox="1"/>
          <p:nvPr/>
        </p:nvSpPr>
        <p:spPr>
          <a:xfrm>
            <a:off x="621791" y="6529323"/>
            <a:ext cx="10972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/>
            <a:r>
              <a:t>17.04.2026</a:t>
            </a:r>
          </a:p>
        </p:txBody>
      </p:sp>
      <p:sp>
        <p:nvSpPr>
          <p:cNvPr id="45" name="Text 16"/>
          <p:cNvSpPr txBox="1"/>
          <p:nvPr/>
        </p:nvSpPr>
        <p:spPr>
          <a:xfrm>
            <a:off x="11155680" y="6529323"/>
            <a:ext cx="3200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6B7280"/>
                </a:solidFill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46" name="Shape 7"/>
          <p:cNvSpPr/>
          <p:nvPr/>
        </p:nvSpPr>
        <p:spPr>
          <a:xfrm>
            <a:off x="7326458" y="1801068"/>
            <a:ext cx="1728053" cy="1733412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2C8C69"/>
            </a:solidFill>
          </a:ln>
        </p:spPr>
        <p:txBody>
          <a:bodyPr lIns="45719" rIns="45719"/>
          <a:lstStyle/>
          <a:p>
            <a:pPr>
              <a:defRPr sz="2100"/>
            </a:pPr>
          </a:p>
        </p:txBody>
      </p:sp>
      <p:sp>
        <p:nvSpPr>
          <p:cNvPr id="47" name="Shape 10"/>
          <p:cNvSpPr/>
          <p:nvPr/>
        </p:nvSpPr>
        <p:spPr>
          <a:xfrm>
            <a:off x="7325051" y="1794797"/>
            <a:ext cx="483894" cy="217074"/>
          </a:xfrm>
          <a:prstGeom prst="line">
            <a:avLst/>
          </a:prstGeom>
          <a:ln w="12700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8" name="Shape 10"/>
          <p:cNvSpPr/>
          <p:nvPr/>
        </p:nvSpPr>
        <p:spPr>
          <a:xfrm>
            <a:off x="9052788" y="3535839"/>
            <a:ext cx="483894" cy="217075"/>
          </a:xfrm>
          <a:prstGeom prst="line">
            <a:avLst/>
          </a:prstGeom>
          <a:ln w="12700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9" name="Shape 10"/>
          <p:cNvSpPr/>
          <p:nvPr/>
        </p:nvSpPr>
        <p:spPr>
          <a:xfrm>
            <a:off x="9052788" y="1794797"/>
            <a:ext cx="483894" cy="217074"/>
          </a:xfrm>
          <a:prstGeom prst="line">
            <a:avLst/>
          </a:prstGeom>
          <a:ln w="12700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 0"/>
          <p:cNvSpPr txBox="1"/>
          <p:nvPr/>
        </p:nvSpPr>
        <p:spPr>
          <a:xfrm>
            <a:off x="658368" y="370168"/>
            <a:ext cx="10881360" cy="2837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000">
                <a:solidFill>
                  <a:srgbClr val="111111"/>
                </a:solidFill>
              </a:defRPr>
            </a:lvl1pPr>
          </a:lstStyle>
          <a:p>
            <a:pPr/>
            <a:r>
              <a:t>Аналитическое решение задачи</a:t>
            </a:r>
          </a:p>
        </p:txBody>
      </p:sp>
      <p:sp>
        <p:nvSpPr>
          <p:cNvPr id="52" name="Text 1"/>
          <p:cNvSpPr txBox="1"/>
          <p:nvPr/>
        </p:nvSpPr>
        <p:spPr>
          <a:xfrm>
            <a:off x="731519" y="877824"/>
            <a:ext cx="5120642" cy="274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defTabSz="713231">
              <a:lnSpc>
                <a:spcPct val="104999"/>
              </a:lnSpc>
              <a:defRPr sz="1325">
                <a:solidFill>
                  <a:srgbClr val="111111"/>
                </a:solidFill>
              </a:defRPr>
            </a:lvl1pPr>
          </a:lstStyle>
          <a:p>
            <a:pPr/>
            <a:r>
              <a:t>Для выбранного начального условия точное решение имеет вид.</a:t>
            </a:r>
          </a:p>
        </p:txBody>
      </p:sp>
      <p:pic>
        <p:nvPicPr>
          <p:cNvPr id="53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099736" y="1967474"/>
            <a:ext cx="5979828" cy="779536"/>
          </a:xfrm>
          <a:prstGeom prst="rect">
            <a:avLst/>
          </a:prstGeom>
          <a:ln w="12700">
            <a:miter lim="400000"/>
          </a:ln>
        </p:spPr>
      </p:pic>
      <p:sp>
        <p:nvSpPr>
          <p:cNvPr id="54" name="Text 2"/>
          <p:cNvSpPr txBox="1"/>
          <p:nvPr/>
        </p:nvSpPr>
        <p:spPr>
          <a:xfrm>
            <a:off x="665489" y="3728466"/>
            <a:ext cx="7652853" cy="21031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ct val="104999"/>
              </a:lnSpc>
              <a:defRPr sz="1600">
                <a:solidFill>
                  <a:srgbClr val="111111"/>
                </a:solidFill>
              </a:defRPr>
            </a:pPr>
            <a:r>
              <a:t>• удовлетворяет исходному уравнению теплопроводности</a:t>
            </a:r>
          </a:p>
          <a:p>
            <a:pPr>
              <a:lnSpc>
                <a:spcPct val="104999"/>
              </a:lnSpc>
              <a:defRPr sz="1600">
                <a:solidFill>
                  <a:srgbClr val="111111"/>
                </a:solidFill>
              </a:defRPr>
            </a:pPr>
            <a:r>
              <a:t>• точно выполняет начальное условие</a:t>
            </a:r>
          </a:p>
          <a:p>
            <a:pPr>
              <a:lnSpc>
                <a:spcPct val="104999"/>
              </a:lnSpc>
              <a:defRPr sz="1600">
                <a:solidFill>
                  <a:srgbClr val="111111"/>
                </a:solidFill>
              </a:defRPr>
            </a:pPr>
            <a:r>
              <a:t>• точно удовлетворяет нулевым граничным условиям</a:t>
            </a:r>
          </a:p>
          <a:p>
            <a:pPr>
              <a:lnSpc>
                <a:spcPct val="104999"/>
              </a:lnSpc>
              <a:defRPr sz="1600">
                <a:solidFill>
                  <a:srgbClr val="111111"/>
                </a:solidFill>
              </a:defRPr>
            </a:pPr>
            <a:r>
              <a:t>• демонстрирует затухание амплитуды со временем</a:t>
            </a:r>
          </a:p>
          <a:p>
            <a:pPr>
              <a:lnSpc>
                <a:spcPct val="104999"/>
              </a:lnSpc>
              <a:defRPr sz="1600">
                <a:solidFill>
                  <a:srgbClr val="111111"/>
                </a:solidFill>
              </a:defRPr>
            </a:pPr>
            <a:r>
              <a:t>• используется как эталон при вычислении ошибок</a:t>
            </a:r>
          </a:p>
        </p:txBody>
      </p:sp>
      <p:sp>
        <p:nvSpPr>
          <p:cNvPr id="55" name="Shape 8"/>
          <p:cNvSpPr/>
          <p:nvPr/>
        </p:nvSpPr>
        <p:spPr>
          <a:xfrm>
            <a:off x="594359" y="6473952"/>
            <a:ext cx="10972801" cy="1"/>
          </a:xfrm>
          <a:prstGeom prst="line">
            <a:avLst/>
          </a:prstGeom>
          <a:ln w="12700">
            <a:solidFill>
              <a:srgbClr val="D7DCE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6" name="Text 9"/>
          <p:cNvSpPr txBox="1"/>
          <p:nvPr/>
        </p:nvSpPr>
        <p:spPr>
          <a:xfrm>
            <a:off x="621791" y="6529323"/>
            <a:ext cx="10972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/>
            <a:r>
              <a:t>17.04.2026</a:t>
            </a:r>
          </a:p>
        </p:txBody>
      </p:sp>
      <p:sp>
        <p:nvSpPr>
          <p:cNvPr id="57" name="Text 10"/>
          <p:cNvSpPr txBox="1"/>
          <p:nvPr/>
        </p:nvSpPr>
        <p:spPr>
          <a:xfrm>
            <a:off x="11155680" y="6529323"/>
            <a:ext cx="3200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6B7280"/>
                </a:solidFill>
              </a:defRPr>
            </a:lvl1pPr>
          </a:lstStyle>
          <a:p>
            <a:pPr/>
            <a:r>
              <a:t>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 0"/>
          <p:cNvSpPr txBox="1"/>
          <p:nvPr/>
        </p:nvSpPr>
        <p:spPr>
          <a:xfrm>
            <a:off x="658368" y="370168"/>
            <a:ext cx="10881360" cy="2837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000">
                <a:solidFill>
                  <a:srgbClr val="111111"/>
                </a:solidFill>
              </a:defRPr>
            </a:lvl1pPr>
          </a:lstStyle>
          <a:p>
            <a:pPr/>
            <a:r>
              <a:t>Зачем нужен аналитический benchmark</a:t>
            </a:r>
          </a:p>
        </p:txBody>
      </p:sp>
      <p:sp>
        <p:nvSpPr>
          <p:cNvPr id="60" name="Text 1"/>
          <p:cNvSpPr txBox="1"/>
          <p:nvPr/>
        </p:nvSpPr>
        <p:spPr>
          <a:xfrm>
            <a:off x="731519" y="896111"/>
            <a:ext cx="7498082" cy="4389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 defTabSz="813816">
              <a:lnSpc>
                <a:spcPct val="104999"/>
              </a:lnSpc>
              <a:defRPr sz="1513">
                <a:solidFill>
                  <a:srgbClr val="111111"/>
                </a:solidFill>
              </a:defRPr>
            </a:pPr>
            <a:r>
              <a:t>Наличие точного решения позволяет перейти от демонстрации работы программы</a:t>
            </a:r>
          </a:p>
          <a:p>
            <a:pPr defTabSz="813816">
              <a:lnSpc>
                <a:spcPct val="104999"/>
              </a:lnSpc>
              <a:defRPr sz="1513">
                <a:solidFill>
                  <a:srgbClr val="111111"/>
                </a:solidFill>
              </a:defRPr>
            </a:pPr>
            <a:r>
              <a:t>к полноценной численной валидации.</a:t>
            </a:r>
          </a:p>
        </p:txBody>
      </p:sp>
      <p:sp>
        <p:nvSpPr>
          <p:cNvPr id="61" name="Shape 2"/>
          <p:cNvSpPr/>
          <p:nvPr/>
        </p:nvSpPr>
        <p:spPr>
          <a:xfrm>
            <a:off x="841247" y="1828800"/>
            <a:ext cx="1828801" cy="731520"/>
          </a:xfrm>
          <a:prstGeom prst="roundRect">
            <a:avLst>
              <a:gd name="adj" fmla="val 16667"/>
            </a:avLst>
          </a:prstGeom>
          <a:solidFill>
            <a:srgbClr val="EAF1FF"/>
          </a:solidFill>
          <a:ln w="12700">
            <a:solidFill>
              <a:srgbClr val="D7DCE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2" name="Text 3"/>
          <p:cNvSpPr txBox="1"/>
          <p:nvPr/>
        </p:nvSpPr>
        <p:spPr>
          <a:xfrm>
            <a:off x="914400" y="1901951"/>
            <a:ext cx="1682496" cy="5852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/>
          <a:p>
            <a:pPr algn="ctr">
              <a:defRPr sz="1300">
                <a:solidFill>
                  <a:srgbClr val="111111"/>
                </a:solidFill>
              </a:defRPr>
            </a:pPr>
            <a:r>
              <a:t>Точное</a:t>
            </a:r>
          </a:p>
          <a:p>
            <a:pPr algn="ctr">
              <a:defRPr sz="1300">
                <a:solidFill>
                  <a:srgbClr val="111111"/>
                </a:solidFill>
              </a:defRPr>
            </a:pPr>
            <a:r>
              <a:t>решение</a:t>
            </a:r>
          </a:p>
        </p:txBody>
      </p:sp>
      <p:sp>
        <p:nvSpPr>
          <p:cNvPr id="63" name="Shape 4"/>
          <p:cNvSpPr/>
          <p:nvPr/>
        </p:nvSpPr>
        <p:spPr>
          <a:xfrm>
            <a:off x="3017520" y="1828800"/>
            <a:ext cx="1828801" cy="73152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2700">
            <a:solidFill>
              <a:srgbClr val="D7DCE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4" name="Text 5"/>
          <p:cNvSpPr txBox="1"/>
          <p:nvPr/>
        </p:nvSpPr>
        <p:spPr>
          <a:xfrm>
            <a:off x="3090672" y="1901951"/>
            <a:ext cx="1682496" cy="5852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/>
          <a:p>
            <a:pPr algn="ctr">
              <a:defRPr sz="1300">
                <a:solidFill>
                  <a:srgbClr val="111111"/>
                </a:solidFill>
              </a:defRPr>
            </a:pPr>
            <a:r>
              <a:t>Численный</a:t>
            </a:r>
          </a:p>
          <a:p>
            <a:pPr algn="ctr">
              <a:defRPr sz="1300">
                <a:solidFill>
                  <a:srgbClr val="111111"/>
                </a:solidFill>
              </a:defRPr>
            </a:pPr>
            <a:r>
              <a:t>solver</a:t>
            </a:r>
          </a:p>
        </p:txBody>
      </p:sp>
      <p:sp>
        <p:nvSpPr>
          <p:cNvPr id="65" name="Shape 6"/>
          <p:cNvSpPr/>
          <p:nvPr/>
        </p:nvSpPr>
        <p:spPr>
          <a:xfrm>
            <a:off x="5193791" y="1828800"/>
            <a:ext cx="1828801" cy="731520"/>
          </a:xfrm>
          <a:prstGeom prst="roundRect">
            <a:avLst>
              <a:gd name="adj" fmla="val 16667"/>
            </a:avLst>
          </a:prstGeom>
          <a:solidFill>
            <a:srgbClr val="FFF7ED"/>
          </a:solidFill>
          <a:ln w="12700">
            <a:solidFill>
              <a:srgbClr val="D7DCE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6" name="Text 7"/>
          <p:cNvSpPr txBox="1"/>
          <p:nvPr/>
        </p:nvSpPr>
        <p:spPr>
          <a:xfrm>
            <a:off x="5266944" y="1901951"/>
            <a:ext cx="1682496" cy="5852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300">
                <a:solidFill>
                  <a:srgbClr val="111111"/>
                </a:solidFill>
              </a:defRPr>
            </a:lvl1pPr>
          </a:lstStyle>
          <a:p>
            <a:pPr/>
            <a:r>
              <a:t>Ошибка</a:t>
            </a:r>
          </a:p>
        </p:txBody>
      </p:sp>
      <p:sp>
        <p:nvSpPr>
          <p:cNvPr id="67" name="Shape 8"/>
          <p:cNvSpPr/>
          <p:nvPr/>
        </p:nvSpPr>
        <p:spPr>
          <a:xfrm>
            <a:off x="7370064" y="1828800"/>
            <a:ext cx="1828801" cy="731520"/>
          </a:xfrm>
          <a:prstGeom prst="roundRect">
            <a:avLst>
              <a:gd name="adj" fmla="val 16667"/>
            </a:avLst>
          </a:prstGeom>
          <a:solidFill>
            <a:srgbClr val="F0FDF4"/>
          </a:solidFill>
          <a:ln w="12700">
            <a:solidFill>
              <a:srgbClr val="D7DCE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8" name="Text 9"/>
          <p:cNvSpPr txBox="1"/>
          <p:nvPr/>
        </p:nvSpPr>
        <p:spPr>
          <a:xfrm>
            <a:off x="7443216" y="1901951"/>
            <a:ext cx="1682497" cy="5852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300">
                <a:solidFill>
                  <a:srgbClr val="111111"/>
                </a:solidFill>
              </a:defRPr>
            </a:lvl1pPr>
          </a:lstStyle>
          <a:p>
            <a:pPr/>
            <a:r>
              <a:t>Метрика</a:t>
            </a:r>
          </a:p>
        </p:txBody>
      </p:sp>
      <p:sp>
        <p:nvSpPr>
          <p:cNvPr id="69" name="Shape 10"/>
          <p:cNvSpPr/>
          <p:nvPr/>
        </p:nvSpPr>
        <p:spPr>
          <a:xfrm>
            <a:off x="9546335" y="1828800"/>
            <a:ext cx="1645921" cy="731520"/>
          </a:xfrm>
          <a:prstGeom prst="roundRect">
            <a:avLst>
              <a:gd name="adj" fmla="val 16667"/>
            </a:avLst>
          </a:prstGeom>
          <a:solidFill>
            <a:srgbClr val="F5F3FF"/>
          </a:solidFill>
          <a:ln w="12700">
            <a:solidFill>
              <a:srgbClr val="D7DCE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0" name="Text 11"/>
          <p:cNvSpPr txBox="1"/>
          <p:nvPr/>
        </p:nvSpPr>
        <p:spPr>
          <a:xfrm>
            <a:off x="9619488" y="1901951"/>
            <a:ext cx="1499617" cy="5852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300">
                <a:solidFill>
                  <a:srgbClr val="111111"/>
                </a:solidFill>
              </a:defRPr>
            </a:lvl1pPr>
          </a:lstStyle>
          <a:p>
            <a:pPr/>
            <a:r>
              <a:t>Вывод</a:t>
            </a:r>
          </a:p>
        </p:txBody>
      </p:sp>
      <p:sp>
        <p:nvSpPr>
          <p:cNvPr id="71" name="Shape 12"/>
          <p:cNvSpPr/>
          <p:nvPr/>
        </p:nvSpPr>
        <p:spPr>
          <a:xfrm>
            <a:off x="2697479" y="2066544"/>
            <a:ext cx="201169" cy="256033"/>
          </a:xfrm>
          <a:prstGeom prst="chevron">
            <a:avLst>
              <a:gd name="adj" fmla="val 50000"/>
            </a:avLst>
          </a:prstGeom>
          <a:solidFill>
            <a:srgbClr val="2C8C69"/>
          </a:solidFill>
          <a:ln w="12700">
            <a:solidFill>
              <a:srgbClr val="2C8C6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2" name="Shape 13"/>
          <p:cNvSpPr/>
          <p:nvPr/>
        </p:nvSpPr>
        <p:spPr>
          <a:xfrm>
            <a:off x="4873752" y="2066544"/>
            <a:ext cx="201169" cy="256033"/>
          </a:xfrm>
          <a:prstGeom prst="chevron">
            <a:avLst>
              <a:gd name="adj" fmla="val 50000"/>
            </a:avLst>
          </a:prstGeom>
          <a:solidFill>
            <a:srgbClr val="2C8C69"/>
          </a:solidFill>
          <a:ln w="12700">
            <a:solidFill>
              <a:srgbClr val="2C8C6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3" name="Shape 14"/>
          <p:cNvSpPr/>
          <p:nvPr/>
        </p:nvSpPr>
        <p:spPr>
          <a:xfrm>
            <a:off x="7050023" y="2066544"/>
            <a:ext cx="201169" cy="256033"/>
          </a:xfrm>
          <a:prstGeom prst="chevron">
            <a:avLst>
              <a:gd name="adj" fmla="val 50000"/>
            </a:avLst>
          </a:prstGeom>
          <a:solidFill>
            <a:srgbClr val="2C8C69"/>
          </a:solidFill>
          <a:ln w="12700">
            <a:solidFill>
              <a:srgbClr val="2C8C6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4" name="Shape 15"/>
          <p:cNvSpPr/>
          <p:nvPr/>
        </p:nvSpPr>
        <p:spPr>
          <a:xfrm>
            <a:off x="9217152" y="2066544"/>
            <a:ext cx="201169" cy="256033"/>
          </a:xfrm>
          <a:prstGeom prst="chevron">
            <a:avLst>
              <a:gd name="adj" fmla="val 50000"/>
            </a:avLst>
          </a:prstGeom>
          <a:solidFill>
            <a:srgbClr val="2C8C69"/>
          </a:solidFill>
          <a:ln w="12700">
            <a:solidFill>
              <a:srgbClr val="2C8C6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5" name="Text 16"/>
          <p:cNvSpPr txBox="1"/>
          <p:nvPr/>
        </p:nvSpPr>
        <p:spPr>
          <a:xfrm>
            <a:off x="731520" y="3552444"/>
            <a:ext cx="6400801" cy="1691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ct val="104999"/>
              </a:lnSpc>
              <a:defRPr sz="1600">
                <a:solidFill>
                  <a:srgbClr val="111111"/>
                </a:solidFill>
              </a:defRPr>
            </a:pPr>
            <a:r>
              <a:t>• сравнение численного решения с эталоном в каждой точке сетки</a:t>
            </a:r>
          </a:p>
          <a:p>
            <a:pPr>
              <a:lnSpc>
                <a:spcPct val="104999"/>
              </a:lnSpc>
              <a:defRPr sz="1600">
                <a:solidFill>
                  <a:srgbClr val="111111"/>
                </a:solidFill>
              </a:defRPr>
            </a:pPr>
            <a:r>
              <a:t>• вычисление ошибок L₂, L∞ и относительной L₂</a:t>
            </a:r>
          </a:p>
          <a:p>
            <a:pPr>
              <a:lnSpc>
                <a:spcPct val="104999"/>
              </a:lnSpc>
              <a:defRPr sz="1600">
                <a:solidFill>
                  <a:srgbClr val="111111"/>
                </a:solidFill>
              </a:defRPr>
            </a:pPr>
            <a:r>
              <a:t>• проверка сходимости метода при измельчении сетки</a:t>
            </a:r>
          </a:p>
          <a:p>
            <a:pPr>
              <a:lnSpc>
                <a:spcPct val="104999"/>
              </a:lnSpc>
              <a:defRPr sz="1600">
                <a:solidFill>
                  <a:srgbClr val="111111"/>
                </a:solidFill>
              </a:defRPr>
            </a:pPr>
            <a:r>
              <a:t>• корректное сравнение FDM и PINN на одной физической задаче</a:t>
            </a:r>
          </a:p>
        </p:txBody>
      </p:sp>
      <p:sp>
        <p:nvSpPr>
          <p:cNvPr id="76" name="Shape 17"/>
          <p:cNvSpPr/>
          <p:nvPr/>
        </p:nvSpPr>
        <p:spPr>
          <a:xfrm>
            <a:off x="7863840" y="3423920"/>
            <a:ext cx="3337560" cy="1737361"/>
          </a:xfrm>
          <a:prstGeom prst="roundRect">
            <a:avLst>
              <a:gd name="adj" fmla="val 16667"/>
            </a:avLst>
          </a:prstGeom>
          <a:solidFill>
            <a:srgbClr val="EAF5F1"/>
          </a:solidFill>
          <a:ln w="12700">
            <a:solidFill>
              <a:srgbClr val="CFE5D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7" name="Text 18"/>
          <p:cNvSpPr txBox="1"/>
          <p:nvPr/>
        </p:nvSpPr>
        <p:spPr>
          <a:xfrm>
            <a:off x="8138159" y="3881120"/>
            <a:ext cx="2788921" cy="8229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/>
          <a:p>
            <a:pPr algn="ctr" defTabSz="786384">
              <a:lnSpc>
                <a:spcPct val="104999"/>
              </a:lnSpc>
              <a:defRPr sz="1376">
                <a:solidFill>
                  <a:srgbClr val="111111"/>
                </a:solidFill>
              </a:defRPr>
            </a:pPr>
            <a:r>
              <a:t>В этой работе аналитическое решение используется</a:t>
            </a:r>
          </a:p>
          <a:p>
            <a:pPr algn="ctr" defTabSz="786384">
              <a:lnSpc>
                <a:spcPct val="104999"/>
              </a:lnSpc>
              <a:defRPr sz="1376">
                <a:solidFill>
                  <a:srgbClr val="111111"/>
                </a:solidFill>
              </a:defRPr>
            </a:pPr>
            <a:r>
              <a:t>как единый критерий качества для обоих методов.</a:t>
            </a:r>
          </a:p>
        </p:txBody>
      </p:sp>
      <p:sp>
        <p:nvSpPr>
          <p:cNvPr id="78" name="Shape 19"/>
          <p:cNvSpPr/>
          <p:nvPr/>
        </p:nvSpPr>
        <p:spPr>
          <a:xfrm>
            <a:off x="594359" y="6473952"/>
            <a:ext cx="10972801" cy="1"/>
          </a:xfrm>
          <a:prstGeom prst="line">
            <a:avLst/>
          </a:prstGeom>
          <a:ln w="12700">
            <a:solidFill>
              <a:srgbClr val="D7DCE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9" name="Text 20"/>
          <p:cNvSpPr txBox="1"/>
          <p:nvPr/>
        </p:nvSpPr>
        <p:spPr>
          <a:xfrm>
            <a:off x="621791" y="6529323"/>
            <a:ext cx="10972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/>
            <a:r>
              <a:t>17.04.2026</a:t>
            </a:r>
          </a:p>
        </p:txBody>
      </p:sp>
      <p:sp>
        <p:nvSpPr>
          <p:cNvPr id="80" name="Text 21"/>
          <p:cNvSpPr txBox="1"/>
          <p:nvPr/>
        </p:nvSpPr>
        <p:spPr>
          <a:xfrm>
            <a:off x="11155680" y="6529323"/>
            <a:ext cx="3200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6B7280"/>
                </a:solidFill>
              </a:defRPr>
            </a:lvl1pPr>
          </a:lstStyle>
          <a:p>
            <a:pPr/>
            <a:r>
              <a:t>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 0"/>
          <p:cNvSpPr txBox="1"/>
          <p:nvPr/>
        </p:nvSpPr>
        <p:spPr>
          <a:xfrm>
            <a:off x="658368" y="370168"/>
            <a:ext cx="10881360" cy="2837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000">
                <a:solidFill>
                  <a:srgbClr val="111111"/>
                </a:solidFill>
              </a:defRPr>
            </a:lvl1pPr>
          </a:lstStyle>
          <a:p>
            <a:pPr/>
            <a:r>
              <a:t>Математическая идея FDM</a:t>
            </a:r>
          </a:p>
        </p:txBody>
      </p:sp>
      <p:sp>
        <p:nvSpPr>
          <p:cNvPr id="83" name="Text 1"/>
          <p:cNvSpPr txBox="1"/>
          <p:nvPr/>
        </p:nvSpPr>
        <p:spPr>
          <a:xfrm>
            <a:off x="749807" y="960119"/>
            <a:ext cx="5623562" cy="16459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ct val="104999"/>
              </a:lnSpc>
              <a:defRPr sz="1600">
                <a:solidFill>
                  <a:srgbClr val="111111"/>
                </a:solidFill>
              </a:defRPr>
            </a:pPr>
            <a:r>
              <a:t>• Непрерывная задача заменяется системой разностных уравнений на регулярной 3D сетке</a:t>
            </a:r>
          </a:p>
          <a:p>
            <a:pPr>
              <a:lnSpc>
                <a:spcPct val="104999"/>
              </a:lnSpc>
              <a:defRPr sz="1600">
                <a:solidFill>
                  <a:srgbClr val="111111"/>
                </a:solidFill>
              </a:defRPr>
            </a:pPr>
            <a:r>
              <a:t>• Центральные разности второго порядка аппроксимируют вторые производные по пространству</a:t>
            </a:r>
          </a:p>
          <a:p>
            <a:pPr>
              <a:lnSpc>
                <a:spcPct val="104999"/>
              </a:lnSpc>
              <a:defRPr sz="1600">
                <a:solidFill>
                  <a:srgbClr val="111111"/>
                </a:solidFill>
              </a:defRPr>
            </a:pPr>
            <a:r>
              <a:t>• По времени применяется явная схема Эйлера</a:t>
            </a:r>
          </a:p>
        </p:txBody>
      </p:sp>
      <p:sp>
        <p:nvSpPr>
          <p:cNvPr id="84" name="Shape 2"/>
          <p:cNvSpPr/>
          <p:nvPr/>
        </p:nvSpPr>
        <p:spPr>
          <a:xfrm>
            <a:off x="841248" y="4323079"/>
            <a:ext cx="5440680" cy="914401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2700">
            <a:solidFill>
              <a:srgbClr val="D7DCE2"/>
            </a:solidFill>
          </a:ln>
        </p:spPr>
        <p:txBody>
          <a:bodyPr lIns="45719" rIns="45719"/>
          <a:lstStyle/>
          <a:p>
            <a:pPr/>
          </a:p>
        </p:txBody>
      </p:sp>
      <p:pic>
        <p:nvPicPr>
          <p:cNvPr id="85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61698" y="4307945"/>
            <a:ext cx="7246572" cy="944670"/>
          </a:xfrm>
          <a:prstGeom prst="rect">
            <a:avLst/>
          </a:prstGeom>
          <a:ln w="12700">
            <a:miter lim="400000"/>
          </a:ln>
        </p:spPr>
      </p:pic>
      <p:sp>
        <p:nvSpPr>
          <p:cNvPr id="86" name="Shape 3"/>
          <p:cNvSpPr/>
          <p:nvPr/>
        </p:nvSpPr>
        <p:spPr>
          <a:xfrm>
            <a:off x="7242956" y="2572511"/>
            <a:ext cx="3794761" cy="713233"/>
          </a:xfrm>
          <a:prstGeom prst="roundRect">
            <a:avLst>
              <a:gd name="adj" fmla="val 16667"/>
            </a:avLst>
          </a:prstGeom>
          <a:solidFill>
            <a:srgbClr val="EAF5F1"/>
          </a:solidFill>
          <a:ln w="12700">
            <a:solidFill>
              <a:srgbClr val="D7DCE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7" name="Text 4"/>
          <p:cNvSpPr txBox="1"/>
          <p:nvPr/>
        </p:nvSpPr>
        <p:spPr>
          <a:xfrm>
            <a:off x="7316108" y="2645664"/>
            <a:ext cx="3648457" cy="5669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300">
                <a:solidFill>
                  <a:srgbClr val="111111"/>
                </a:solidFill>
              </a:defRPr>
            </a:lvl1pPr>
          </a:lstStyle>
          <a:p>
            <a:pPr/>
            <a:r>
              <a:t>Прозрачная численная интерпретация</a:t>
            </a:r>
          </a:p>
        </p:txBody>
      </p:sp>
      <p:sp>
        <p:nvSpPr>
          <p:cNvPr id="88" name="Shape 5"/>
          <p:cNvSpPr/>
          <p:nvPr/>
        </p:nvSpPr>
        <p:spPr>
          <a:xfrm>
            <a:off x="7242956" y="3560064"/>
            <a:ext cx="3794761" cy="713233"/>
          </a:xfrm>
          <a:prstGeom prst="roundRect">
            <a:avLst>
              <a:gd name="adj" fmla="val 16667"/>
            </a:avLst>
          </a:prstGeom>
          <a:solidFill>
            <a:srgbClr val="EAF1FF"/>
          </a:solidFill>
          <a:ln w="12700">
            <a:solidFill>
              <a:srgbClr val="D7DCE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9" name="Text 6"/>
          <p:cNvSpPr txBox="1"/>
          <p:nvPr/>
        </p:nvSpPr>
        <p:spPr>
          <a:xfrm>
            <a:off x="7316108" y="3633215"/>
            <a:ext cx="3648457" cy="5669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300">
                <a:solidFill>
                  <a:srgbClr val="111111"/>
                </a:solidFill>
              </a:defRPr>
            </a:lvl1pPr>
          </a:lstStyle>
          <a:p>
            <a:pPr/>
            <a:r>
              <a:t>Предсказуемая устойчивость</a:t>
            </a:r>
          </a:p>
        </p:txBody>
      </p:sp>
      <p:sp>
        <p:nvSpPr>
          <p:cNvPr id="90" name="Shape 7"/>
          <p:cNvSpPr/>
          <p:nvPr/>
        </p:nvSpPr>
        <p:spPr>
          <a:xfrm>
            <a:off x="7242956" y="4547615"/>
            <a:ext cx="3794761" cy="713233"/>
          </a:xfrm>
          <a:prstGeom prst="roundRect">
            <a:avLst>
              <a:gd name="adj" fmla="val 16667"/>
            </a:avLst>
          </a:prstGeom>
          <a:solidFill>
            <a:srgbClr val="FFF7ED"/>
          </a:solidFill>
          <a:ln w="12700">
            <a:solidFill>
              <a:srgbClr val="D7DCE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1" name="Text 8"/>
          <p:cNvSpPr txBox="1"/>
          <p:nvPr/>
        </p:nvSpPr>
        <p:spPr>
          <a:xfrm>
            <a:off x="7316108" y="4620767"/>
            <a:ext cx="3648457" cy="5669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300">
                <a:solidFill>
                  <a:srgbClr val="111111"/>
                </a:solidFill>
              </a:defRPr>
            </a:lvl1pPr>
          </a:lstStyle>
          <a:p>
            <a:pPr/>
            <a:r>
              <a:t>Проверка теоретического порядка сходимости</a:t>
            </a:r>
          </a:p>
        </p:txBody>
      </p:sp>
      <p:sp>
        <p:nvSpPr>
          <p:cNvPr id="92" name="Shape 14"/>
          <p:cNvSpPr/>
          <p:nvPr/>
        </p:nvSpPr>
        <p:spPr>
          <a:xfrm>
            <a:off x="594359" y="6473952"/>
            <a:ext cx="10972801" cy="1"/>
          </a:xfrm>
          <a:prstGeom prst="line">
            <a:avLst/>
          </a:prstGeom>
          <a:ln w="12700">
            <a:solidFill>
              <a:srgbClr val="D7DCE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3" name="Text 15"/>
          <p:cNvSpPr txBox="1"/>
          <p:nvPr/>
        </p:nvSpPr>
        <p:spPr>
          <a:xfrm>
            <a:off x="621791" y="6529323"/>
            <a:ext cx="10972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/>
            <a:r>
              <a:t>17.04.2026</a:t>
            </a:r>
          </a:p>
        </p:txBody>
      </p:sp>
      <p:sp>
        <p:nvSpPr>
          <p:cNvPr id="94" name="Text 16"/>
          <p:cNvSpPr txBox="1"/>
          <p:nvPr/>
        </p:nvSpPr>
        <p:spPr>
          <a:xfrm>
            <a:off x="11155680" y="6529323"/>
            <a:ext cx="3200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6B7280"/>
                </a:solidFill>
              </a:defRPr>
            </a:lvl1pPr>
          </a:lstStyle>
          <a:p>
            <a:pPr/>
            <a:r>
              <a:t>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ext 0"/>
          <p:cNvSpPr txBox="1"/>
          <p:nvPr/>
        </p:nvSpPr>
        <p:spPr>
          <a:xfrm>
            <a:off x="658368" y="370168"/>
            <a:ext cx="10881360" cy="2837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000">
                <a:solidFill>
                  <a:srgbClr val="111111"/>
                </a:solidFill>
              </a:defRPr>
            </a:lvl1pPr>
          </a:lstStyle>
          <a:p>
            <a:pPr/>
            <a:r>
              <a:t>FDM: лапласиан и аппроксимация второго порядка</a:t>
            </a:r>
          </a:p>
        </p:txBody>
      </p:sp>
      <p:sp>
        <p:nvSpPr>
          <p:cNvPr id="97" name="Text 1"/>
          <p:cNvSpPr txBox="1"/>
          <p:nvPr/>
        </p:nvSpPr>
        <p:spPr>
          <a:xfrm>
            <a:off x="749807" y="914400"/>
            <a:ext cx="5577842" cy="502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 defTabSz="713231">
              <a:lnSpc>
                <a:spcPct val="104999"/>
              </a:lnSpc>
              <a:defRPr sz="1325">
                <a:solidFill>
                  <a:srgbClr val="111111"/>
                </a:solidFill>
              </a:defRPr>
            </a:pPr>
            <a:r>
              <a:t>Пространственный оператор Лапласа реализован через центральные</a:t>
            </a:r>
          </a:p>
          <a:p>
            <a:pPr defTabSz="713231">
              <a:lnSpc>
                <a:spcPct val="104999"/>
              </a:lnSpc>
              <a:defRPr sz="1325">
                <a:solidFill>
                  <a:srgbClr val="111111"/>
                </a:solidFill>
              </a:defRPr>
            </a:pPr>
            <a:r>
              <a:t>разности второго порядка по трём координатам.</a:t>
            </a:r>
          </a:p>
        </p:txBody>
      </p:sp>
      <p:sp>
        <p:nvSpPr>
          <p:cNvPr id="98" name="Text 2"/>
          <p:cNvSpPr txBox="1"/>
          <p:nvPr/>
        </p:nvSpPr>
        <p:spPr>
          <a:xfrm>
            <a:off x="763797" y="1495457"/>
            <a:ext cx="4937761" cy="274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 defTabSz="786384">
              <a:lnSpc>
                <a:spcPct val="104999"/>
              </a:lnSpc>
              <a:defRPr sz="1376">
                <a:solidFill>
                  <a:srgbClr val="2C8C69"/>
                </a:solidFill>
              </a:defRPr>
            </a:pPr>
            <a:r>
              <a:t>Во внутренних узлах вычисляются </a:t>
            </a:r>
            <a14:m>
              <m:oMath>
                <m:sSub>
                  <m:e>
                    <m:r>
                      <a:rPr xmlns:a="http://schemas.openxmlformats.org/drawingml/2006/main" sz="1650" i="1">
                        <a:solidFill>
                          <a:srgbClr val="2C8C69"/>
                        </a:solidFill>
                        <a:latin typeface="Cambria Math" panose="02040503050406030204" pitchFamily="18" charset="0"/>
                      </a:rPr>
                      <m:t>u</m:t>
                    </m:r>
                  </m:e>
                  <m:sub>
                    <m:r>
                      <a:rPr xmlns:a="http://schemas.openxmlformats.org/drawingml/2006/main" sz="1650" i="1">
                        <a:solidFill>
                          <a:srgbClr val="2C8C69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xmlns:a="http://schemas.openxmlformats.org/drawingml/2006/main" sz="1650" i="1">
                        <a:solidFill>
                          <a:srgbClr val="2C8C69"/>
                        </a:solidFill>
                        <a:latin typeface="Cambria Math" panose="02040503050406030204" pitchFamily="18" charset="0"/>
                      </a:rPr>
                      <m:t>x</m:t>
                    </m:r>
                  </m:sub>
                </m:sSub>
              </m:oMath>
            </a14:m>
            <a:r>
              <a:t>, </a:t>
            </a:r>
            <a14:m>
              <m:oMath>
                <m:sSub>
                  <m:e>
                    <m:r>
                      <a:rPr xmlns:a="http://schemas.openxmlformats.org/drawingml/2006/main" sz="1600" i="1">
                        <a:solidFill>
                          <a:srgbClr val="2C8C69"/>
                        </a:solidFill>
                        <a:latin typeface="Cambria Math" panose="02040503050406030204" pitchFamily="18" charset="0"/>
                      </a:rPr>
                      <m:t>u</m:t>
                    </m:r>
                  </m:e>
                  <m:sub>
                    <m:r>
                      <a:rPr xmlns:a="http://schemas.openxmlformats.org/drawingml/2006/main" sz="1600" i="1">
                        <a:solidFill>
                          <a:srgbClr val="2C8C69"/>
                        </a:solidFill>
                        <a:latin typeface="Cambria Math" panose="02040503050406030204" pitchFamily="18" charset="0"/>
                      </a:rPr>
                      <m:t>y</m:t>
                    </m:r>
                    <m:r>
                      <a:rPr xmlns:a="http://schemas.openxmlformats.org/drawingml/2006/main" sz="1600" i="1">
                        <a:solidFill>
                          <a:srgbClr val="2C8C69"/>
                        </a:solidFill>
                        <a:latin typeface="Cambria Math" panose="02040503050406030204" pitchFamily="18" charset="0"/>
                      </a:rPr>
                      <m:t>y</m:t>
                    </m:r>
                  </m:sub>
                </m:sSub>
              </m:oMath>
            </a14:m>
            <a:r>
              <a:t> и </a:t>
            </a:r>
            <a14:m>
              <m:oMath>
                <m:sSub>
                  <m:e>
                    <m:r>
                      <a:rPr xmlns:a="http://schemas.openxmlformats.org/drawingml/2006/main" sz="1650" i="1">
                        <a:solidFill>
                          <a:srgbClr val="2C8C69"/>
                        </a:solidFill>
                        <a:latin typeface="Cambria Math" panose="02040503050406030204" pitchFamily="18" charset="0"/>
                      </a:rPr>
                      <m:t>u</m:t>
                    </m:r>
                  </m:e>
                  <m:sub>
                    <m:r>
                      <a:rPr xmlns:a="http://schemas.openxmlformats.org/drawingml/2006/main" sz="1650" i="1">
                        <a:solidFill>
                          <a:srgbClr val="2C8C69"/>
                        </a:solidFill>
                        <a:latin typeface="Cambria Math" panose="02040503050406030204" pitchFamily="18" charset="0"/>
                      </a:rPr>
                      <m:t>z</m:t>
                    </m:r>
                    <m:r>
                      <a:rPr xmlns:a="http://schemas.openxmlformats.org/drawingml/2006/main" sz="1650" i="1">
                        <a:solidFill>
                          <a:srgbClr val="2C8C69"/>
                        </a:solidFill>
                        <a:latin typeface="Cambria Math" panose="02040503050406030204" pitchFamily="18" charset="0"/>
                      </a:rPr>
                      <m:t>z</m:t>
                    </m:r>
                  </m:sub>
                </m:sSub>
              </m:oMath>
            </a14:m>
            <a:r>
              <a:t>.</a:t>
            </a:r>
            <a:endParaRPr sz="1600"/>
          </a:p>
        </p:txBody>
      </p:sp>
      <p:pic>
        <p:nvPicPr>
          <p:cNvPr id="99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199034" y="2611276"/>
            <a:ext cx="7292857" cy="950704"/>
          </a:xfrm>
          <a:prstGeom prst="rect">
            <a:avLst/>
          </a:prstGeom>
          <a:ln w="12700">
            <a:miter lim="400000"/>
          </a:ln>
        </p:spPr>
      </p:pic>
      <p:sp>
        <p:nvSpPr>
          <p:cNvPr id="100" name="Text 3"/>
          <p:cNvSpPr txBox="1"/>
          <p:nvPr/>
        </p:nvSpPr>
        <p:spPr>
          <a:xfrm>
            <a:off x="655642" y="3969980"/>
            <a:ext cx="8357206" cy="15087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ct val="104999"/>
              </a:lnSpc>
              <a:defRPr sz="1600">
                <a:solidFill>
                  <a:srgbClr val="111111"/>
                </a:solidFill>
              </a:defRPr>
            </a:pPr>
            <a:r>
              <a:t>• Аналогично вычисляются </a:t>
            </a:r>
            <a14:m>
              <m:oMath>
                <m:sSub>
                  <m:e>
                    <m:r>
                      <a:rPr xmlns:a="http://schemas.openxmlformats.org/drawingml/2006/main" sz="1900" i="1">
                        <a:solidFill>
                          <a:srgbClr val="111111"/>
                        </a:solidFill>
                        <a:latin typeface="Cambria Math" panose="02040503050406030204" pitchFamily="18" charset="0"/>
                      </a:rPr>
                      <m:t>u</m:t>
                    </m:r>
                  </m:e>
                  <m:sub>
                    <m:r>
                      <a:rPr xmlns:a="http://schemas.openxmlformats.org/drawingml/2006/main" sz="1900" i="1">
                        <a:solidFill>
                          <a:srgbClr val="111111"/>
                        </a:solidFill>
                        <a:latin typeface="Cambria Math" panose="02040503050406030204" pitchFamily="18" charset="0"/>
                      </a:rPr>
                      <m:t>y</m:t>
                    </m:r>
                    <m:r>
                      <a:rPr xmlns:a="http://schemas.openxmlformats.org/drawingml/2006/main" sz="1900" i="1">
                        <a:solidFill>
                          <a:srgbClr val="111111"/>
                        </a:solidFill>
                        <a:latin typeface="Cambria Math" panose="02040503050406030204" pitchFamily="18" charset="0"/>
                      </a:rPr>
                      <m:t>y</m:t>
                    </m:r>
                  </m:sub>
                </m:sSub>
              </m:oMath>
            </a14:m>
            <a:r>
              <a:t> и </a:t>
            </a:r>
            <a14:m>
              <m:oMath>
                <m:sSub>
                  <m:e>
                    <m:r>
                      <a:rPr xmlns:a="http://schemas.openxmlformats.org/drawingml/2006/main" sz="1900" i="1">
                        <a:solidFill>
                          <a:srgbClr val="111111"/>
                        </a:solidFill>
                        <a:latin typeface="Cambria Math" panose="02040503050406030204" pitchFamily="18" charset="0"/>
                      </a:rPr>
                      <m:t>u</m:t>
                    </m:r>
                  </m:e>
                  <m:sub>
                    <m:r>
                      <a:rPr xmlns:a="http://schemas.openxmlformats.org/drawingml/2006/main" sz="1900" i="1">
                        <a:solidFill>
                          <a:srgbClr val="111111"/>
                        </a:solidFill>
                        <a:latin typeface="Cambria Math" panose="02040503050406030204" pitchFamily="18" charset="0"/>
                      </a:rPr>
                      <m:t>z</m:t>
                    </m:r>
                    <m:r>
                      <a:rPr xmlns:a="http://schemas.openxmlformats.org/drawingml/2006/main" sz="1900" i="1">
                        <a:solidFill>
                          <a:srgbClr val="111111"/>
                        </a:solidFill>
                        <a:latin typeface="Cambria Math" panose="02040503050406030204" pitchFamily="18" charset="0"/>
                      </a:rPr>
                      <m:t>z</m:t>
                    </m:r>
                  </m:sub>
                </m:sSub>
              </m:oMath>
            </a14:m>
            <a:r>
              <a:t>, после чего они суммируются</a:t>
            </a:r>
          </a:p>
          <a:p>
            <a:pPr>
              <a:lnSpc>
                <a:spcPct val="104999"/>
              </a:lnSpc>
              <a:defRPr sz="1600">
                <a:solidFill>
                  <a:srgbClr val="111111"/>
                </a:solidFill>
              </a:defRPr>
            </a:pPr>
            <a:r>
              <a:t>• Пространственная аппроксимация имеет ожидаемую точность O(Δx²)</a:t>
            </a:r>
          </a:p>
          <a:p>
            <a:pPr>
              <a:lnSpc>
                <a:spcPct val="104999"/>
              </a:lnSpc>
              <a:defRPr sz="1600">
                <a:solidFill>
                  <a:srgbClr val="111111"/>
                </a:solidFill>
              </a:defRPr>
            </a:pPr>
            <a:r>
              <a:t>• Далее проверяется второй порядок сходимости FDM</a:t>
            </a:r>
          </a:p>
        </p:txBody>
      </p:sp>
      <p:sp>
        <p:nvSpPr>
          <p:cNvPr id="101" name="Shape 9"/>
          <p:cNvSpPr/>
          <p:nvPr/>
        </p:nvSpPr>
        <p:spPr>
          <a:xfrm>
            <a:off x="594359" y="6473952"/>
            <a:ext cx="10972801" cy="1"/>
          </a:xfrm>
          <a:prstGeom prst="line">
            <a:avLst/>
          </a:prstGeom>
          <a:ln w="12700">
            <a:solidFill>
              <a:srgbClr val="D7DCE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2" name="Text 10"/>
          <p:cNvSpPr txBox="1"/>
          <p:nvPr/>
        </p:nvSpPr>
        <p:spPr>
          <a:xfrm>
            <a:off x="621791" y="6529323"/>
            <a:ext cx="10972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/>
            <a:r>
              <a:t>17.04.2026</a:t>
            </a:r>
          </a:p>
        </p:txBody>
      </p:sp>
      <p:sp>
        <p:nvSpPr>
          <p:cNvPr id="103" name="Text 11"/>
          <p:cNvSpPr txBox="1"/>
          <p:nvPr/>
        </p:nvSpPr>
        <p:spPr>
          <a:xfrm>
            <a:off x="11155680" y="6529323"/>
            <a:ext cx="3200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6B7280"/>
                </a:solidFill>
              </a:defRPr>
            </a:lvl1pPr>
          </a:lstStyle>
          <a:p>
            <a:pPr/>
            <a:r>
              <a:t>7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 0"/>
          <p:cNvSpPr txBox="1"/>
          <p:nvPr/>
        </p:nvSpPr>
        <p:spPr>
          <a:xfrm>
            <a:off x="658368" y="370168"/>
            <a:ext cx="10881360" cy="2837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000">
                <a:solidFill>
                  <a:srgbClr val="111111"/>
                </a:solidFill>
              </a:defRPr>
            </a:lvl1pPr>
          </a:lstStyle>
          <a:p>
            <a:pPr/>
            <a:r>
              <a:t>FDM: код оператора Лапласа</a:t>
            </a:r>
          </a:p>
        </p:txBody>
      </p:sp>
      <p:sp>
        <p:nvSpPr>
          <p:cNvPr id="106" name="Text 1"/>
          <p:cNvSpPr txBox="1"/>
          <p:nvPr/>
        </p:nvSpPr>
        <p:spPr>
          <a:xfrm>
            <a:off x="749808" y="896111"/>
            <a:ext cx="10515601" cy="5120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ct val="104999"/>
              </a:lnSpc>
              <a:defRPr sz="1600">
                <a:solidFill>
                  <a:srgbClr val="111111"/>
                </a:solidFill>
              </a:defRPr>
            </a:pPr>
            <a:r>
              <a:t>Код реализует вычисление трёхмерного лапласиана только во внутренних узлах сетки.</a:t>
            </a:r>
          </a:p>
          <a:p>
            <a:pPr>
              <a:lnSpc>
                <a:spcPct val="104999"/>
              </a:lnSpc>
              <a:defRPr sz="1600">
                <a:solidFill>
                  <a:srgbClr val="111111"/>
                </a:solidFill>
              </a:defRPr>
            </a:pPr>
            <a:r>
              <a:t>Реализация полностью векторизована через срезы массивов JAX.</a:t>
            </a:r>
          </a:p>
        </p:txBody>
      </p:sp>
      <p:sp>
        <p:nvSpPr>
          <p:cNvPr id="107" name="Shape 2"/>
          <p:cNvSpPr/>
          <p:nvPr/>
        </p:nvSpPr>
        <p:spPr>
          <a:xfrm>
            <a:off x="841247" y="1600200"/>
            <a:ext cx="10515601" cy="2382167"/>
          </a:xfrm>
          <a:prstGeom prst="roundRect">
            <a:avLst>
              <a:gd name="adj" fmla="val 0"/>
            </a:avLst>
          </a:prstGeom>
          <a:solidFill>
            <a:srgbClr val="151A22"/>
          </a:solidFill>
          <a:ln w="12700">
            <a:solidFill>
              <a:srgbClr val="2D3440"/>
            </a:solidFill>
          </a:ln>
          <a:effectLst>
            <a:outerShdw sx="100000" sy="100000" kx="0" ky="0" algn="b" rotWithShape="0" blurRad="12700" dist="12700" dir="2700000">
              <a:srgbClr val="000000">
                <a:alpha val="1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8" name="Text 3"/>
          <p:cNvSpPr txBox="1"/>
          <p:nvPr/>
        </p:nvSpPr>
        <p:spPr>
          <a:xfrm>
            <a:off x="1005839" y="1692147"/>
            <a:ext cx="1018641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900">
                <a:solidFill>
                  <a:srgbClr val="96A0AD"/>
                </a:solidFill>
              </a:defRPr>
            </a:lvl1pPr>
          </a:lstStyle>
          <a:p>
            <a:pPr/>
            <a:r>
              <a:t>src/fdm_solver.py</a:t>
            </a:r>
          </a:p>
        </p:txBody>
      </p:sp>
      <p:sp>
        <p:nvSpPr>
          <p:cNvPr id="109" name="Text 4"/>
          <p:cNvSpPr txBox="1"/>
          <p:nvPr/>
        </p:nvSpPr>
        <p:spPr>
          <a:xfrm>
            <a:off x="987551" y="1819655"/>
            <a:ext cx="10222994" cy="42519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1 </a:t>
            </a:r>
            <a:r>
              <a:rPr>
                <a:solidFill>
                  <a:srgbClr val="FFFFFF"/>
                </a:solidFill>
              </a:rPr>
              <a:t>@jit</a:t>
            </a:r>
            <a:endParaRPr>
              <a:solidFill>
                <a:srgbClr val="FFFFFF"/>
              </a:solidFill>
            </a:endParaRPr>
          </a:p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2 </a:t>
            </a:r>
            <a:r>
              <a:rPr>
                <a:solidFill>
                  <a:srgbClr val="66D9EF"/>
                </a:solidFill>
              </a:rPr>
              <a:t>def</a:t>
            </a:r>
            <a:r>
              <a:rPr>
                <a:solidFill>
                  <a:srgbClr val="FFFFFF"/>
                </a:solidFill>
              </a:rPr>
              <a:t> laplacian_3d</a:t>
            </a:r>
            <a:r>
              <a:rPr>
                <a:solidFill>
                  <a:srgbClr val="F8F8F2"/>
                </a:solidFill>
              </a:rPr>
              <a:t>(</a:t>
            </a:r>
            <a:r>
              <a:rPr>
                <a:solidFill>
                  <a:srgbClr val="FFFFFF"/>
                </a:solidFill>
              </a:rPr>
              <a:t>u</a:t>
            </a:r>
            <a:r>
              <a:rPr>
                <a:solidFill>
                  <a:srgbClr val="F8F8F2"/>
                </a:solidFill>
              </a:rPr>
              <a:t>:</a:t>
            </a:r>
            <a:r>
              <a:rPr>
                <a:solidFill>
                  <a:srgbClr val="FFFFFF"/>
                </a:solidFill>
              </a:rPr>
              <a:t> jnp</a:t>
            </a:r>
            <a:r>
              <a:rPr>
                <a:solidFill>
                  <a:srgbClr val="F8F8F2"/>
                </a:solidFill>
              </a:rPr>
              <a:t>.</a:t>
            </a:r>
            <a:r>
              <a:rPr>
                <a:solidFill>
                  <a:srgbClr val="FFFFFF"/>
                </a:solidFill>
              </a:rPr>
              <a:t>ndarray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dx</a:t>
            </a:r>
            <a:r>
              <a:rPr>
                <a:solidFill>
                  <a:srgbClr val="F8F8F2"/>
                </a:solidFill>
              </a:rPr>
              <a:t>:</a:t>
            </a:r>
            <a:r>
              <a:rPr>
                <a:solidFill>
                  <a:srgbClr val="FFFFFF"/>
                </a:solidFill>
              </a:rPr>
              <a:t> float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dy</a:t>
            </a:r>
            <a:r>
              <a:rPr>
                <a:solidFill>
                  <a:srgbClr val="F8F8F2"/>
                </a:solidFill>
              </a:rPr>
              <a:t>:</a:t>
            </a:r>
            <a:r>
              <a:rPr>
                <a:solidFill>
                  <a:srgbClr val="FFFFFF"/>
                </a:solidFill>
              </a:rPr>
              <a:t> float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dz</a:t>
            </a:r>
            <a:r>
              <a:rPr>
                <a:solidFill>
                  <a:srgbClr val="F8F8F2"/>
                </a:solidFill>
              </a:rPr>
              <a:t>:</a:t>
            </a:r>
            <a:r>
              <a:rPr>
                <a:solidFill>
                  <a:srgbClr val="FFFFFF"/>
                </a:solidFill>
              </a:rPr>
              <a:t> float</a:t>
            </a:r>
            <a:r>
              <a:rPr>
                <a:solidFill>
                  <a:srgbClr val="F8F8F2"/>
                </a:solidFill>
              </a:rPr>
              <a:t>)</a:t>
            </a:r>
            <a:r>
              <a:rPr>
                <a:solidFill>
                  <a:srgbClr val="FFFFFF"/>
                </a:solidFill>
              </a:rPr>
              <a:t> </a:t>
            </a:r>
            <a:r>
              <a:rPr>
                <a:solidFill>
                  <a:srgbClr val="F8F8F2"/>
                </a:solidFill>
              </a:rPr>
              <a:t>-&gt;</a:t>
            </a:r>
            <a:r>
              <a:rPr>
                <a:solidFill>
                  <a:srgbClr val="FFFFFF"/>
                </a:solidFill>
              </a:rPr>
              <a:t> jnp</a:t>
            </a:r>
            <a:r>
              <a:rPr>
                <a:solidFill>
                  <a:srgbClr val="F8F8F2"/>
                </a:solidFill>
              </a:rPr>
              <a:t>.</a:t>
            </a:r>
            <a:r>
              <a:rPr>
                <a:solidFill>
                  <a:srgbClr val="FFFFFF"/>
                </a:solidFill>
              </a:rPr>
              <a:t>ndarray</a:t>
            </a:r>
            <a:r>
              <a:rPr>
                <a:solidFill>
                  <a:srgbClr val="F8F8F2"/>
                </a:solidFill>
              </a:rPr>
              <a:t>:</a:t>
            </a:r>
            <a:endParaRPr>
              <a:solidFill>
                <a:srgbClr val="FFFFFF"/>
              </a:solidFill>
            </a:endParaRPr>
          </a:p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3 </a:t>
            </a:r>
            <a:r>
              <a:rPr>
                <a:solidFill>
                  <a:srgbClr val="FFFFFF"/>
                </a:solidFill>
              </a:rPr>
              <a:t>    d2uxx </a:t>
            </a:r>
            <a:r>
              <a:rPr>
                <a:solidFill>
                  <a:srgbClr val="F8F8F2"/>
                </a:solidFill>
              </a:rPr>
              <a:t>=</a:t>
            </a:r>
            <a:r>
              <a:rPr>
                <a:solidFill>
                  <a:srgbClr val="FFFFFF"/>
                </a:solidFill>
              </a:rPr>
              <a:t> </a:t>
            </a:r>
            <a:r>
              <a:rPr>
                <a:solidFill>
                  <a:srgbClr val="F8F8F2"/>
                </a:solidFill>
              </a:rPr>
              <a:t>(</a:t>
            </a:r>
            <a:r>
              <a:rPr>
                <a:solidFill>
                  <a:srgbClr val="FFFFFF"/>
                </a:solidFill>
              </a:rPr>
              <a:t>u</a:t>
            </a:r>
            <a:r>
              <a:rPr>
                <a:solidFill>
                  <a:srgbClr val="F8F8F2"/>
                </a:solidFill>
              </a:rPr>
              <a:t>[</a:t>
            </a:r>
            <a:r>
              <a:rPr>
                <a:solidFill>
                  <a:srgbClr val="FFFFFF"/>
                </a:solidFill>
              </a:rPr>
              <a:t>2</a:t>
            </a:r>
            <a:r>
              <a:rPr>
                <a:solidFill>
                  <a:srgbClr val="F8F8F2"/>
                </a:solidFill>
              </a:rPr>
              <a:t>:,</a:t>
            </a:r>
            <a:r>
              <a:rPr>
                <a:solidFill>
                  <a:srgbClr val="FFFFFF"/>
                </a:solidFill>
              </a:rPr>
              <a:t> 1</a:t>
            </a:r>
            <a:r>
              <a:rPr>
                <a:solidFill>
                  <a:srgbClr val="F8F8F2"/>
                </a:solidFill>
              </a:rPr>
              <a:t>:-</a:t>
            </a:r>
            <a:r>
              <a:rPr>
                <a:solidFill>
                  <a:srgbClr val="FFFFFF"/>
                </a:solidFill>
              </a:rPr>
              <a:t>1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1</a:t>
            </a:r>
            <a:r>
              <a:rPr>
                <a:solidFill>
                  <a:srgbClr val="F8F8F2"/>
                </a:solidFill>
              </a:rPr>
              <a:t>:-</a:t>
            </a:r>
            <a:r>
              <a:rPr>
                <a:solidFill>
                  <a:srgbClr val="FFFFFF"/>
                </a:solidFill>
              </a:rPr>
              <a:t>1</a:t>
            </a:r>
            <a:r>
              <a:rPr>
                <a:solidFill>
                  <a:srgbClr val="F8F8F2"/>
                </a:solidFill>
              </a:rPr>
              <a:t>]</a:t>
            </a:r>
            <a:r>
              <a:rPr>
                <a:solidFill>
                  <a:srgbClr val="FFFFFF"/>
                </a:solidFill>
              </a:rPr>
              <a:t> </a:t>
            </a:r>
            <a:r>
              <a:rPr>
                <a:solidFill>
                  <a:srgbClr val="F8F8F2"/>
                </a:solidFill>
              </a:rPr>
              <a:t>-</a:t>
            </a:r>
            <a:r>
              <a:rPr>
                <a:solidFill>
                  <a:srgbClr val="FFFFFF"/>
                </a:solidFill>
              </a:rPr>
              <a:t> 2.0 </a:t>
            </a:r>
            <a:r>
              <a:rPr>
                <a:solidFill>
                  <a:srgbClr val="F8F8F2"/>
                </a:solidFill>
              </a:rPr>
              <a:t>*</a:t>
            </a:r>
            <a:r>
              <a:rPr>
                <a:solidFill>
                  <a:srgbClr val="FFFFFF"/>
                </a:solidFill>
              </a:rPr>
              <a:t> u</a:t>
            </a:r>
            <a:r>
              <a:rPr>
                <a:solidFill>
                  <a:srgbClr val="F8F8F2"/>
                </a:solidFill>
              </a:rPr>
              <a:t>[</a:t>
            </a:r>
            <a:r>
              <a:rPr>
                <a:solidFill>
                  <a:srgbClr val="FFFFFF"/>
                </a:solidFill>
              </a:rPr>
              <a:t>1</a:t>
            </a:r>
            <a:r>
              <a:rPr>
                <a:solidFill>
                  <a:srgbClr val="F8F8F2"/>
                </a:solidFill>
              </a:rPr>
              <a:t>:-</a:t>
            </a:r>
            <a:r>
              <a:rPr>
                <a:solidFill>
                  <a:srgbClr val="FFFFFF"/>
                </a:solidFill>
              </a:rPr>
              <a:t>1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1</a:t>
            </a:r>
            <a:r>
              <a:rPr>
                <a:solidFill>
                  <a:srgbClr val="F8F8F2"/>
                </a:solidFill>
              </a:rPr>
              <a:t>:-</a:t>
            </a:r>
            <a:r>
              <a:rPr>
                <a:solidFill>
                  <a:srgbClr val="FFFFFF"/>
                </a:solidFill>
              </a:rPr>
              <a:t>1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1</a:t>
            </a:r>
            <a:r>
              <a:rPr>
                <a:solidFill>
                  <a:srgbClr val="F8F8F2"/>
                </a:solidFill>
              </a:rPr>
              <a:t>:-</a:t>
            </a:r>
            <a:r>
              <a:rPr>
                <a:solidFill>
                  <a:srgbClr val="FFFFFF"/>
                </a:solidFill>
              </a:rPr>
              <a:t>1</a:t>
            </a:r>
            <a:r>
              <a:rPr>
                <a:solidFill>
                  <a:srgbClr val="F8F8F2"/>
                </a:solidFill>
              </a:rPr>
              <a:t>]</a:t>
            </a:r>
            <a:endParaRPr>
              <a:solidFill>
                <a:srgbClr val="FFFFFF"/>
              </a:solidFill>
            </a:endParaRPr>
          </a:p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4 </a:t>
            </a:r>
            <a:r>
              <a:rPr>
                <a:solidFill>
                  <a:srgbClr val="FFFFFF"/>
                </a:solidFill>
              </a:rPr>
              <a:t>             </a:t>
            </a:r>
            <a:r>
              <a:rPr>
                <a:solidFill>
                  <a:srgbClr val="F8F8F2"/>
                </a:solidFill>
              </a:rPr>
              <a:t>+</a:t>
            </a:r>
            <a:r>
              <a:rPr>
                <a:solidFill>
                  <a:srgbClr val="FFFFFF"/>
                </a:solidFill>
              </a:rPr>
              <a:t> u</a:t>
            </a:r>
            <a:r>
              <a:rPr>
                <a:solidFill>
                  <a:srgbClr val="F8F8F2"/>
                </a:solidFill>
              </a:rPr>
              <a:t>[:-</a:t>
            </a:r>
            <a:r>
              <a:rPr>
                <a:solidFill>
                  <a:srgbClr val="FFFFFF"/>
                </a:solidFill>
              </a:rPr>
              <a:t>2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1</a:t>
            </a:r>
            <a:r>
              <a:rPr>
                <a:solidFill>
                  <a:srgbClr val="F8F8F2"/>
                </a:solidFill>
              </a:rPr>
              <a:t>:-</a:t>
            </a:r>
            <a:r>
              <a:rPr>
                <a:solidFill>
                  <a:srgbClr val="FFFFFF"/>
                </a:solidFill>
              </a:rPr>
              <a:t>1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1</a:t>
            </a:r>
            <a:r>
              <a:rPr>
                <a:solidFill>
                  <a:srgbClr val="F8F8F2"/>
                </a:solidFill>
              </a:rPr>
              <a:t>:-</a:t>
            </a:r>
            <a:r>
              <a:rPr>
                <a:solidFill>
                  <a:srgbClr val="FFFFFF"/>
                </a:solidFill>
              </a:rPr>
              <a:t>1</a:t>
            </a:r>
            <a:r>
              <a:rPr>
                <a:solidFill>
                  <a:srgbClr val="F8F8F2"/>
                </a:solidFill>
              </a:rPr>
              <a:t>])</a:t>
            </a:r>
            <a:r>
              <a:rPr>
                <a:solidFill>
                  <a:srgbClr val="FFFFFF"/>
                </a:solidFill>
              </a:rPr>
              <a:t> </a:t>
            </a:r>
            <a:r>
              <a:rPr>
                <a:solidFill>
                  <a:srgbClr val="F8F8F2"/>
                </a:solidFill>
              </a:rPr>
              <a:t>/</a:t>
            </a:r>
            <a:r>
              <a:rPr>
                <a:solidFill>
                  <a:srgbClr val="FFFFFF"/>
                </a:solidFill>
              </a:rPr>
              <a:t> dx</a:t>
            </a:r>
            <a:r>
              <a:rPr>
                <a:solidFill>
                  <a:srgbClr val="F8F8F2"/>
                </a:solidFill>
              </a:rPr>
              <a:t>**</a:t>
            </a:r>
            <a:r>
              <a:rPr>
                <a:solidFill>
                  <a:srgbClr val="FFFFFF"/>
                </a:solidFill>
              </a:rPr>
              <a:t>2</a:t>
            </a:r>
            <a:endParaRPr>
              <a:solidFill>
                <a:srgbClr val="FFFFFF"/>
              </a:solidFill>
            </a:endParaRPr>
          </a:p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5 </a:t>
            </a:r>
            <a:r>
              <a:rPr>
                <a:solidFill>
                  <a:srgbClr val="FFFFFF"/>
                </a:solidFill>
              </a:rPr>
              <a:t>    d2uyy </a:t>
            </a:r>
            <a:r>
              <a:rPr>
                <a:solidFill>
                  <a:srgbClr val="F8F8F2"/>
                </a:solidFill>
              </a:rPr>
              <a:t>=</a:t>
            </a:r>
            <a:r>
              <a:rPr>
                <a:solidFill>
                  <a:srgbClr val="FFFFFF"/>
                </a:solidFill>
              </a:rPr>
              <a:t> </a:t>
            </a:r>
            <a:r>
              <a:rPr>
                <a:solidFill>
                  <a:srgbClr val="F8F8F2"/>
                </a:solidFill>
              </a:rPr>
              <a:t>(</a:t>
            </a:r>
            <a:r>
              <a:rPr>
                <a:solidFill>
                  <a:srgbClr val="FFFFFF"/>
                </a:solidFill>
              </a:rPr>
              <a:t>u</a:t>
            </a:r>
            <a:r>
              <a:rPr>
                <a:solidFill>
                  <a:srgbClr val="F8F8F2"/>
                </a:solidFill>
              </a:rPr>
              <a:t>[</a:t>
            </a:r>
            <a:r>
              <a:rPr>
                <a:solidFill>
                  <a:srgbClr val="FFFFFF"/>
                </a:solidFill>
              </a:rPr>
              <a:t>1</a:t>
            </a:r>
            <a:r>
              <a:rPr>
                <a:solidFill>
                  <a:srgbClr val="F8F8F2"/>
                </a:solidFill>
              </a:rPr>
              <a:t>:-</a:t>
            </a:r>
            <a:r>
              <a:rPr>
                <a:solidFill>
                  <a:srgbClr val="FFFFFF"/>
                </a:solidFill>
              </a:rPr>
              <a:t>1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2</a:t>
            </a:r>
            <a:r>
              <a:rPr>
                <a:solidFill>
                  <a:srgbClr val="F8F8F2"/>
                </a:solidFill>
              </a:rPr>
              <a:t>:,</a:t>
            </a:r>
            <a:r>
              <a:rPr>
                <a:solidFill>
                  <a:srgbClr val="FFFFFF"/>
                </a:solidFill>
              </a:rPr>
              <a:t> 1</a:t>
            </a:r>
            <a:r>
              <a:rPr>
                <a:solidFill>
                  <a:srgbClr val="F8F8F2"/>
                </a:solidFill>
              </a:rPr>
              <a:t>:-</a:t>
            </a:r>
            <a:r>
              <a:rPr>
                <a:solidFill>
                  <a:srgbClr val="FFFFFF"/>
                </a:solidFill>
              </a:rPr>
              <a:t>1</a:t>
            </a:r>
            <a:r>
              <a:rPr>
                <a:solidFill>
                  <a:srgbClr val="F8F8F2"/>
                </a:solidFill>
              </a:rPr>
              <a:t>]</a:t>
            </a:r>
            <a:r>
              <a:rPr>
                <a:solidFill>
                  <a:srgbClr val="FFFFFF"/>
                </a:solidFill>
              </a:rPr>
              <a:t> </a:t>
            </a:r>
            <a:r>
              <a:rPr>
                <a:solidFill>
                  <a:srgbClr val="F8F8F2"/>
                </a:solidFill>
              </a:rPr>
              <a:t>-</a:t>
            </a:r>
            <a:r>
              <a:rPr>
                <a:solidFill>
                  <a:srgbClr val="FFFFFF"/>
                </a:solidFill>
              </a:rPr>
              <a:t> 2.0 </a:t>
            </a:r>
            <a:r>
              <a:rPr>
                <a:solidFill>
                  <a:srgbClr val="F8F8F2"/>
                </a:solidFill>
              </a:rPr>
              <a:t>*</a:t>
            </a:r>
            <a:r>
              <a:rPr>
                <a:solidFill>
                  <a:srgbClr val="FFFFFF"/>
                </a:solidFill>
              </a:rPr>
              <a:t> u</a:t>
            </a:r>
            <a:r>
              <a:rPr>
                <a:solidFill>
                  <a:srgbClr val="F8F8F2"/>
                </a:solidFill>
              </a:rPr>
              <a:t>[</a:t>
            </a:r>
            <a:r>
              <a:rPr>
                <a:solidFill>
                  <a:srgbClr val="FFFFFF"/>
                </a:solidFill>
              </a:rPr>
              <a:t>1</a:t>
            </a:r>
            <a:r>
              <a:rPr>
                <a:solidFill>
                  <a:srgbClr val="F8F8F2"/>
                </a:solidFill>
              </a:rPr>
              <a:t>:-</a:t>
            </a:r>
            <a:r>
              <a:rPr>
                <a:solidFill>
                  <a:srgbClr val="FFFFFF"/>
                </a:solidFill>
              </a:rPr>
              <a:t>1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1</a:t>
            </a:r>
            <a:r>
              <a:rPr>
                <a:solidFill>
                  <a:srgbClr val="F8F8F2"/>
                </a:solidFill>
              </a:rPr>
              <a:t>:-</a:t>
            </a:r>
            <a:r>
              <a:rPr>
                <a:solidFill>
                  <a:srgbClr val="FFFFFF"/>
                </a:solidFill>
              </a:rPr>
              <a:t>1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1</a:t>
            </a:r>
            <a:r>
              <a:rPr>
                <a:solidFill>
                  <a:srgbClr val="F8F8F2"/>
                </a:solidFill>
              </a:rPr>
              <a:t>:-</a:t>
            </a:r>
            <a:r>
              <a:rPr>
                <a:solidFill>
                  <a:srgbClr val="FFFFFF"/>
                </a:solidFill>
              </a:rPr>
              <a:t>1</a:t>
            </a:r>
            <a:r>
              <a:rPr>
                <a:solidFill>
                  <a:srgbClr val="F8F8F2"/>
                </a:solidFill>
              </a:rPr>
              <a:t>]</a:t>
            </a:r>
            <a:endParaRPr>
              <a:solidFill>
                <a:srgbClr val="FFFFFF"/>
              </a:solidFill>
            </a:endParaRPr>
          </a:p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6 </a:t>
            </a:r>
            <a:r>
              <a:rPr>
                <a:solidFill>
                  <a:srgbClr val="FFFFFF"/>
                </a:solidFill>
              </a:rPr>
              <a:t>             </a:t>
            </a:r>
            <a:r>
              <a:rPr>
                <a:solidFill>
                  <a:srgbClr val="F8F8F2"/>
                </a:solidFill>
              </a:rPr>
              <a:t>+</a:t>
            </a:r>
            <a:r>
              <a:rPr>
                <a:solidFill>
                  <a:srgbClr val="FFFFFF"/>
                </a:solidFill>
              </a:rPr>
              <a:t> u</a:t>
            </a:r>
            <a:r>
              <a:rPr>
                <a:solidFill>
                  <a:srgbClr val="F8F8F2"/>
                </a:solidFill>
              </a:rPr>
              <a:t>[</a:t>
            </a:r>
            <a:r>
              <a:rPr>
                <a:solidFill>
                  <a:srgbClr val="FFFFFF"/>
                </a:solidFill>
              </a:rPr>
              <a:t>1</a:t>
            </a:r>
            <a:r>
              <a:rPr>
                <a:solidFill>
                  <a:srgbClr val="F8F8F2"/>
                </a:solidFill>
              </a:rPr>
              <a:t>:-</a:t>
            </a:r>
            <a:r>
              <a:rPr>
                <a:solidFill>
                  <a:srgbClr val="FFFFFF"/>
                </a:solidFill>
              </a:rPr>
              <a:t>1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</a:t>
            </a:r>
            <a:r>
              <a:rPr>
                <a:solidFill>
                  <a:srgbClr val="F8F8F2"/>
                </a:solidFill>
              </a:rPr>
              <a:t>:-</a:t>
            </a:r>
            <a:r>
              <a:rPr>
                <a:solidFill>
                  <a:srgbClr val="FFFFFF"/>
                </a:solidFill>
              </a:rPr>
              <a:t>2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1</a:t>
            </a:r>
            <a:r>
              <a:rPr>
                <a:solidFill>
                  <a:srgbClr val="F8F8F2"/>
                </a:solidFill>
              </a:rPr>
              <a:t>:-</a:t>
            </a:r>
            <a:r>
              <a:rPr>
                <a:solidFill>
                  <a:srgbClr val="FFFFFF"/>
                </a:solidFill>
              </a:rPr>
              <a:t>1</a:t>
            </a:r>
            <a:r>
              <a:rPr>
                <a:solidFill>
                  <a:srgbClr val="F8F8F2"/>
                </a:solidFill>
              </a:rPr>
              <a:t>])</a:t>
            </a:r>
            <a:r>
              <a:rPr>
                <a:solidFill>
                  <a:srgbClr val="FFFFFF"/>
                </a:solidFill>
              </a:rPr>
              <a:t> </a:t>
            </a:r>
            <a:r>
              <a:rPr>
                <a:solidFill>
                  <a:srgbClr val="F8F8F2"/>
                </a:solidFill>
              </a:rPr>
              <a:t>/</a:t>
            </a:r>
            <a:r>
              <a:rPr>
                <a:solidFill>
                  <a:srgbClr val="FFFFFF"/>
                </a:solidFill>
              </a:rPr>
              <a:t> dy</a:t>
            </a:r>
            <a:r>
              <a:rPr>
                <a:solidFill>
                  <a:srgbClr val="F8F8F2"/>
                </a:solidFill>
              </a:rPr>
              <a:t>**</a:t>
            </a:r>
            <a:r>
              <a:rPr>
                <a:solidFill>
                  <a:srgbClr val="FFFFFF"/>
                </a:solidFill>
              </a:rPr>
              <a:t>2</a:t>
            </a:r>
            <a:endParaRPr>
              <a:solidFill>
                <a:srgbClr val="FFFFFF"/>
              </a:solidFill>
            </a:endParaRPr>
          </a:p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7 </a:t>
            </a:r>
            <a:r>
              <a:rPr>
                <a:solidFill>
                  <a:srgbClr val="FFFFFF"/>
                </a:solidFill>
              </a:rPr>
              <a:t>    d2uzz </a:t>
            </a:r>
            <a:r>
              <a:rPr>
                <a:solidFill>
                  <a:srgbClr val="F8F8F2"/>
                </a:solidFill>
              </a:rPr>
              <a:t>=</a:t>
            </a:r>
            <a:r>
              <a:rPr>
                <a:solidFill>
                  <a:srgbClr val="FFFFFF"/>
                </a:solidFill>
              </a:rPr>
              <a:t> </a:t>
            </a:r>
            <a:r>
              <a:rPr>
                <a:solidFill>
                  <a:srgbClr val="F8F8F2"/>
                </a:solidFill>
              </a:rPr>
              <a:t>(</a:t>
            </a:r>
            <a:r>
              <a:rPr>
                <a:solidFill>
                  <a:srgbClr val="FFFFFF"/>
                </a:solidFill>
              </a:rPr>
              <a:t>u</a:t>
            </a:r>
            <a:r>
              <a:rPr>
                <a:solidFill>
                  <a:srgbClr val="F8F8F2"/>
                </a:solidFill>
              </a:rPr>
              <a:t>[</a:t>
            </a:r>
            <a:r>
              <a:rPr>
                <a:solidFill>
                  <a:srgbClr val="FFFFFF"/>
                </a:solidFill>
              </a:rPr>
              <a:t>1</a:t>
            </a:r>
            <a:r>
              <a:rPr>
                <a:solidFill>
                  <a:srgbClr val="F8F8F2"/>
                </a:solidFill>
              </a:rPr>
              <a:t>:-</a:t>
            </a:r>
            <a:r>
              <a:rPr>
                <a:solidFill>
                  <a:srgbClr val="FFFFFF"/>
                </a:solidFill>
              </a:rPr>
              <a:t>1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1</a:t>
            </a:r>
            <a:r>
              <a:rPr>
                <a:solidFill>
                  <a:srgbClr val="F8F8F2"/>
                </a:solidFill>
              </a:rPr>
              <a:t>:-</a:t>
            </a:r>
            <a:r>
              <a:rPr>
                <a:solidFill>
                  <a:srgbClr val="FFFFFF"/>
                </a:solidFill>
              </a:rPr>
              <a:t>1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2</a:t>
            </a:r>
            <a:r>
              <a:rPr>
                <a:solidFill>
                  <a:srgbClr val="F8F8F2"/>
                </a:solidFill>
              </a:rPr>
              <a:t>:]</a:t>
            </a:r>
            <a:r>
              <a:rPr>
                <a:solidFill>
                  <a:srgbClr val="FFFFFF"/>
                </a:solidFill>
              </a:rPr>
              <a:t> </a:t>
            </a:r>
            <a:r>
              <a:rPr>
                <a:solidFill>
                  <a:srgbClr val="F8F8F2"/>
                </a:solidFill>
              </a:rPr>
              <a:t>-</a:t>
            </a:r>
            <a:r>
              <a:rPr>
                <a:solidFill>
                  <a:srgbClr val="FFFFFF"/>
                </a:solidFill>
              </a:rPr>
              <a:t> 2.0 </a:t>
            </a:r>
            <a:r>
              <a:rPr>
                <a:solidFill>
                  <a:srgbClr val="F8F8F2"/>
                </a:solidFill>
              </a:rPr>
              <a:t>*</a:t>
            </a:r>
            <a:r>
              <a:rPr>
                <a:solidFill>
                  <a:srgbClr val="FFFFFF"/>
                </a:solidFill>
              </a:rPr>
              <a:t> u</a:t>
            </a:r>
            <a:r>
              <a:rPr>
                <a:solidFill>
                  <a:srgbClr val="F8F8F2"/>
                </a:solidFill>
              </a:rPr>
              <a:t>[</a:t>
            </a:r>
            <a:r>
              <a:rPr>
                <a:solidFill>
                  <a:srgbClr val="FFFFFF"/>
                </a:solidFill>
              </a:rPr>
              <a:t>1</a:t>
            </a:r>
            <a:r>
              <a:rPr>
                <a:solidFill>
                  <a:srgbClr val="F8F8F2"/>
                </a:solidFill>
              </a:rPr>
              <a:t>:-</a:t>
            </a:r>
            <a:r>
              <a:rPr>
                <a:solidFill>
                  <a:srgbClr val="FFFFFF"/>
                </a:solidFill>
              </a:rPr>
              <a:t>1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1</a:t>
            </a:r>
            <a:r>
              <a:rPr>
                <a:solidFill>
                  <a:srgbClr val="F8F8F2"/>
                </a:solidFill>
              </a:rPr>
              <a:t>:-</a:t>
            </a:r>
            <a:r>
              <a:rPr>
                <a:solidFill>
                  <a:srgbClr val="FFFFFF"/>
                </a:solidFill>
              </a:rPr>
              <a:t>1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1</a:t>
            </a:r>
            <a:r>
              <a:rPr>
                <a:solidFill>
                  <a:srgbClr val="F8F8F2"/>
                </a:solidFill>
              </a:rPr>
              <a:t>:-</a:t>
            </a:r>
            <a:r>
              <a:rPr>
                <a:solidFill>
                  <a:srgbClr val="FFFFFF"/>
                </a:solidFill>
              </a:rPr>
              <a:t>1</a:t>
            </a:r>
            <a:r>
              <a:rPr>
                <a:solidFill>
                  <a:srgbClr val="F8F8F2"/>
                </a:solidFill>
              </a:rPr>
              <a:t>]</a:t>
            </a:r>
            <a:endParaRPr>
              <a:solidFill>
                <a:srgbClr val="FFFFFF"/>
              </a:solidFill>
            </a:endParaRPr>
          </a:p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8 </a:t>
            </a:r>
            <a:r>
              <a:rPr>
                <a:solidFill>
                  <a:srgbClr val="FFFFFF"/>
                </a:solidFill>
              </a:rPr>
              <a:t>             </a:t>
            </a:r>
            <a:r>
              <a:rPr>
                <a:solidFill>
                  <a:srgbClr val="F8F8F2"/>
                </a:solidFill>
              </a:rPr>
              <a:t>+</a:t>
            </a:r>
            <a:r>
              <a:rPr>
                <a:solidFill>
                  <a:srgbClr val="FFFFFF"/>
                </a:solidFill>
              </a:rPr>
              <a:t> u</a:t>
            </a:r>
            <a:r>
              <a:rPr>
                <a:solidFill>
                  <a:srgbClr val="F8F8F2"/>
                </a:solidFill>
              </a:rPr>
              <a:t>[</a:t>
            </a:r>
            <a:r>
              <a:rPr>
                <a:solidFill>
                  <a:srgbClr val="FFFFFF"/>
                </a:solidFill>
              </a:rPr>
              <a:t>1</a:t>
            </a:r>
            <a:r>
              <a:rPr>
                <a:solidFill>
                  <a:srgbClr val="F8F8F2"/>
                </a:solidFill>
              </a:rPr>
              <a:t>:-</a:t>
            </a:r>
            <a:r>
              <a:rPr>
                <a:solidFill>
                  <a:srgbClr val="FFFFFF"/>
                </a:solidFill>
              </a:rPr>
              <a:t>1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1</a:t>
            </a:r>
            <a:r>
              <a:rPr>
                <a:solidFill>
                  <a:srgbClr val="F8F8F2"/>
                </a:solidFill>
              </a:rPr>
              <a:t>:-</a:t>
            </a:r>
            <a:r>
              <a:rPr>
                <a:solidFill>
                  <a:srgbClr val="FFFFFF"/>
                </a:solidFill>
              </a:rPr>
              <a:t>1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</a:t>
            </a:r>
            <a:r>
              <a:rPr>
                <a:solidFill>
                  <a:srgbClr val="F8F8F2"/>
                </a:solidFill>
              </a:rPr>
              <a:t>:-</a:t>
            </a:r>
            <a:r>
              <a:rPr>
                <a:solidFill>
                  <a:srgbClr val="FFFFFF"/>
                </a:solidFill>
              </a:rPr>
              <a:t>2</a:t>
            </a:r>
            <a:r>
              <a:rPr>
                <a:solidFill>
                  <a:srgbClr val="F8F8F2"/>
                </a:solidFill>
              </a:rPr>
              <a:t>])</a:t>
            </a:r>
            <a:r>
              <a:rPr>
                <a:solidFill>
                  <a:srgbClr val="FFFFFF"/>
                </a:solidFill>
              </a:rPr>
              <a:t> </a:t>
            </a:r>
            <a:r>
              <a:rPr>
                <a:solidFill>
                  <a:srgbClr val="F8F8F2"/>
                </a:solidFill>
              </a:rPr>
              <a:t>/</a:t>
            </a:r>
            <a:r>
              <a:rPr>
                <a:solidFill>
                  <a:srgbClr val="FFFFFF"/>
                </a:solidFill>
              </a:rPr>
              <a:t> dz</a:t>
            </a:r>
            <a:r>
              <a:rPr>
                <a:solidFill>
                  <a:srgbClr val="F8F8F2"/>
                </a:solidFill>
              </a:rPr>
              <a:t>**</a:t>
            </a:r>
            <a:r>
              <a:rPr>
                <a:solidFill>
                  <a:srgbClr val="FFFFFF"/>
                </a:solidFill>
              </a:rPr>
              <a:t>2</a:t>
            </a:r>
            <a:endParaRPr>
              <a:solidFill>
                <a:srgbClr val="FFFFFF"/>
              </a:solidFill>
            </a:endParaRPr>
          </a:p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9 </a:t>
            </a:r>
            <a:r>
              <a:rPr>
                <a:solidFill>
                  <a:srgbClr val="FFFFFF"/>
                </a:solidFill>
              </a:rPr>
              <a:t>    </a:t>
            </a:r>
            <a:r>
              <a:rPr>
                <a:solidFill>
                  <a:srgbClr val="66D9EF"/>
                </a:solidFill>
              </a:rPr>
              <a:t>return</a:t>
            </a:r>
            <a:r>
              <a:rPr>
                <a:solidFill>
                  <a:srgbClr val="FFFFFF"/>
                </a:solidFill>
              </a:rPr>
              <a:t> d2uxx </a:t>
            </a:r>
            <a:r>
              <a:rPr>
                <a:solidFill>
                  <a:srgbClr val="F8F8F2"/>
                </a:solidFill>
              </a:rPr>
              <a:t>+</a:t>
            </a:r>
            <a:r>
              <a:rPr>
                <a:solidFill>
                  <a:srgbClr val="FFFFFF"/>
                </a:solidFill>
              </a:rPr>
              <a:t> d2uyy </a:t>
            </a:r>
            <a:r>
              <a:rPr>
                <a:solidFill>
                  <a:srgbClr val="F8F8F2"/>
                </a:solidFill>
              </a:rPr>
              <a:t>+</a:t>
            </a:r>
            <a:r>
              <a:rPr>
                <a:solidFill>
                  <a:srgbClr val="FFFFFF"/>
                </a:solidFill>
              </a:rPr>
              <a:t> d2uzz</a:t>
            </a:r>
          </a:p>
        </p:txBody>
      </p:sp>
      <p:sp>
        <p:nvSpPr>
          <p:cNvPr id="110" name="Shape 5"/>
          <p:cNvSpPr/>
          <p:nvPr/>
        </p:nvSpPr>
        <p:spPr>
          <a:xfrm>
            <a:off x="594359" y="6473952"/>
            <a:ext cx="10972801" cy="1"/>
          </a:xfrm>
          <a:prstGeom prst="line">
            <a:avLst/>
          </a:prstGeom>
          <a:ln w="12700">
            <a:solidFill>
              <a:srgbClr val="D7DCE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1" name="Text 6"/>
          <p:cNvSpPr txBox="1"/>
          <p:nvPr/>
        </p:nvSpPr>
        <p:spPr>
          <a:xfrm>
            <a:off x="621791" y="6529323"/>
            <a:ext cx="10972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/>
            <a:r>
              <a:t>17.04.2026</a:t>
            </a:r>
          </a:p>
        </p:txBody>
      </p:sp>
      <p:sp>
        <p:nvSpPr>
          <p:cNvPr id="112" name="Text 7"/>
          <p:cNvSpPr txBox="1"/>
          <p:nvPr/>
        </p:nvSpPr>
        <p:spPr>
          <a:xfrm>
            <a:off x="11155680" y="6529323"/>
            <a:ext cx="3200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6B7280"/>
                </a:solidFill>
              </a:defRPr>
            </a:lvl1pPr>
          </a:lstStyle>
          <a:p>
            <a:pPr/>
            <a:r>
              <a:t>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Text 0"/>
          <p:cNvSpPr txBox="1"/>
          <p:nvPr/>
        </p:nvSpPr>
        <p:spPr>
          <a:xfrm>
            <a:off x="658368" y="370168"/>
            <a:ext cx="10881360" cy="2837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000">
                <a:solidFill>
                  <a:srgbClr val="111111"/>
                </a:solidFill>
              </a:defRPr>
            </a:lvl1pPr>
          </a:lstStyle>
          <a:p>
            <a:pPr/>
            <a:r>
              <a:t>FDM: шаг Эйлера и граничные условия</a:t>
            </a:r>
          </a:p>
        </p:txBody>
      </p:sp>
      <p:sp>
        <p:nvSpPr>
          <p:cNvPr id="115" name="Text 1"/>
          <p:cNvSpPr txBox="1"/>
          <p:nvPr/>
        </p:nvSpPr>
        <p:spPr>
          <a:xfrm>
            <a:off x="749807" y="932688"/>
            <a:ext cx="4846322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defTabSz="813816">
              <a:lnSpc>
                <a:spcPct val="104999"/>
              </a:lnSpc>
              <a:defRPr sz="1424">
                <a:solidFill>
                  <a:srgbClr val="111111"/>
                </a:solidFill>
              </a:defRPr>
            </a:lvl1pPr>
          </a:lstStyle>
          <a:p>
            <a:pPr/>
            <a:r>
              <a:t>Один шаг по времени реализован явной схемой Эйлера.</a:t>
            </a:r>
          </a:p>
        </p:txBody>
      </p:sp>
      <p:pic>
        <p:nvPicPr>
          <p:cNvPr id="116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68680" y="1298447"/>
            <a:ext cx="4559342" cy="594361"/>
          </a:xfrm>
          <a:prstGeom prst="rect">
            <a:avLst/>
          </a:prstGeom>
          <a:ln w="12700">
            <a:miter lim="400000"/>
          </a:ln>
        </p:spPr>
      </p:pic>
      <p:sp>
        <p:nvSpPr>
          <p:cNvPr id="117" name="Text 2"/>
          <p:cNvSpPr txBox="1"/>
          <p:nvPr/>
        </p:nvSpPr>
        <p:spPr>
          <a:xfrm>
            <a:off x="749808" y="2148839"/>
            <a:ext cx="4983480" cy="182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ct val="104999"/>
              </a:lnSpc>
              <a:defRPr sz="1600">
                <a:solidFill>
                  <a:srgbClr val="111111"/>
                </a:solidFill>
              </a:defRPr>
            </a:pPr>
            <a:r>
              <a:t>• обновляется только внутренняя часть массива</a:t>
            </a:r>
          </a:p>
          <a:p>
            <a:pPr>
              <a:lnSpc>
                <a:spcPct val="104999"/>
              </a:lnSpc>
              <a:defRPr sz="1600">
                <a:solidFill>
                  <a:srgbClr val="111111"/>
                </a:solidFill>
              </a:defRPr>
            </a:pPr>
            <a:r>
              <a:t>• граничные узлы не пересчитываются</a:t>
            </a:r>
          </a:p>
          <a:p>
            <a:pPr>
              <a:lnSpc>
                <a:spcPct val="104999"/>
              </a:lnSpc>
              <a:defRPr sz="1600">
                <a:solidFill>
                  <a:srgbClr val="111111"/>
                </a:solidFill>
              </a:defRPr>
            </a:pPr>
            <a:r>
              <a:t>• нулевые граничные условия Дирихле сохраняются автоматически</a:t>
            </a:r>
          </a:p>
          <a:p>
            <a:pPr>
              <a:lnSpc>
                <a:spcPct val="104999"/>
              </a:lnSpc>
              <a:defRPr sz="1600">
                <a:solidFill>
                  <a:srgbClr val="111111"/>
                </a:solidFill>
              </a:defRPr>
            </a:pPr>
            <a:r>
              <a:t>• математическая постановка напрямую связана с кодом солвера</a:t>
            </a:r>
          </a:p>
        </p:txBody>
      </p:sp>
      <p:sp>
        <p:nvSpPr>
          <p:cNvPr id="118" name="Shape 3"/>
          <p:cNvSpPr/>
          <p:nvPr/>
        </p:nvSpPr>
        <p:spPr>
          <a:xfrm>
            <a:off x="6400800" y="799538"/>
            <a:ext cx="4297680" cy="4686863"/>
          </a:xfrm>
          <a:prstGeom prst="roundRect">
            <a:avLst>
              <a:gd name="adj" fmla="val 16312"/>
            </a:avLst>
          </a:prstGeom>
          <a:solidFill>
            <a:srgbClr val="FBFCFD"/>
          </a:solidFill>
          <a:ln w="12700">
            <a:solidFill>
              <a:srgbClr val="D7DCE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9" name="Shape 4"/>
          <p:cNvSpPr/>
          <p:nvPr/>
        </p:nvSpPr>
        <p:spPr>
          <a:xfrm>
            <a:off x="7360919" y="1828800"/>
            <a:ext cx="2377441" cy="2377440"/>
          </a:xfrm>
          <a:prstGeom prst="rect">
            <a:avLst/>
          </a:prstGeom>
          <a:solidFill>
            <a:srgbClr val="ECFDF5"/>
          </a:solidFill>
          <a:ln w="12700">
            <a:solidFill>
              <a:srgbClr val="2C8C6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0" name="Shape 5"/>
          <p:cNvSpPr/>
          <p:nvPr/>
        </p:nvSpPr>
        <p:spPr>
          <a:xfrm>
            <a:off x="6812280" y="1280160"/>
            <a:ext cx="3474721" cy="3474721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4456B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1" name="Text 6"/>
          <p:cNvSpPr txBox="1"/>
          <p:nvPr/>
        </p:nvSpPr>
        <p:spPr>
          <a:xfrm>
            <a:off x="7543800" y="2629891"/>
            <a:ext cx="2011679" cy="5009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1700">
                <a:solidFill>
                  <a:srgbClr val="111111"/>
                </a:solidFill>
              </a:defRPr>
            </a:pPr>
            <a:r>
              <a:t>interior</a:t>
            </a:r>
          </a:p>
          <a:p>
            <a:pPr algn="ctr">
              <a:defRPr sz="1700">
                <a:solidFill>
                  <a:srgbClr val="111111"/>
                </a:solidFill>
              </a:defRPr>
            </a:pPr>
            <a:r>
              <a:t>обновляется</a:t>
            </a:r>
          </a:p>
        </p:txBody>
      </p:sp>
      <p:sp>
        <p:nvSpPr>
          <p:cNvPr id="122" name="Text 7"/>
          <p:cNvSpPr txBox="1"/>
          <p:nvPr/>
        </p:nvSpPr>
        <p:spPr>
          <a:xfrm>
            <a:off x="6949440" y="4935256"/>
            <a:ext cx="3200401" cy="4005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1400">
                <a:solidFill>
                  <a:srgbClr val="6B7280"/>
                </a:solidFill>
              </a:defRPr>
            </a:pPr>
            <a:r>
              <a:t>boundary</a:t>
            </a:r>
          </a:p>
          <a:p>
            <a:pPr algn="ctr">
              <a:defRPr sz="1400">
                <a:solidFill>
                  <a:srgbClr val="6B7280"/>
                </a:solidFill>
              </a:defRPr>
            </a:pPr>
            <a:r>
              <a:t>фиксируется</a:t>
            </a:r>
          </a:p>
        </p:txBody>
      </p:sp>
      <p:sp>
        <p:nvSpPr>
          <p:cNvPr id="123" name="Shape 8"/>
          <p:cNvSpPr/>
          <p:nvPr/>
        </p:nvSpPr>
        <p:spPr>
          <a:xfrm>
            <a:off x="594359" y="6473952"/>
            <a:ext cx="10972801" cy="1"/>
          </a:xfrm>
          <a:prstGeom prst="line">
            <a:avLst/>
          </a:prstGeom>
          <a:ln w="12700">
            <a:solidFill>
              <a:srgbClr val="D7DCE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4" name="Text 9"/>
          <p:cNvSpPr txBox="1"/>
          <p:nvPr/>
        </p:nvSpPr>
        <p:spPr>
          <a:xfrm>
            <a:off x="621791" y="6529323"/>
            <a:ext cx="10972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/>
            <a:r>
              <a:t>17.04.2026</a:t>
            </a:r>
          </a:p>
        </p:txBody>
      </p:sp>
      <p:sp>
        <p:nvSpPr>
          <p:cNvPr id="125" name="Text 10"/>
          <p:cNvSpPr txBox="1"/>
          <p:nvPr/>
        </p:nvSpPr>
        <p:spPr>
          <a:xfrm>
            <a:off x="11155680" y="6529323"/>
            <a:ext cx="3200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6B7280"/>
                </a:solidFill>
              </a:defRPr>
            </a:lvl1pPr>
          </a:lstStyle>
          <a:p>
            <a:pPr/>
            <a:r>
              <a:t>9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ext 0"/>
          <p:cNvSpPr txBox="1"/>
          <p:nvPr/>
        </p:nvSpPr>
        <p:spPr>
          <a:xfrm>
            <a:off x="658368" y="370168"/>
            <a:ext cx="10881360" cy="2837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000">
                <a:solidFill>
                  <a:srgbClr val="111111"/>
                </a:solidFill>
              </a:defRPr>
            </a:lvl1pPr>
          </a:lstStyle>
          <a:p>
            <a:pPr/>
            <a:r>
              <a:t>FDM: код временного шага</a:t>
            </a:r>
          </a:p>
        </p:txBody>
      </p:sp>
      <p:sp>
        <p:nvSpPr>
          <p:cNvPr id="128" name="Text 1"/>
          <p:cNvSpPr txBox="1"/>
          <p:nvPr/>
        </p:nvSpPr>
        <p:spPr>
          <a:xfrm>
            <a:off x="749808" y="914400"/>
            <a:ext cx="9601201" cy="2560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04999"/>
              </a:lnSpc>
              <a:defRPr sz="1600">
                <a:solidFill>
                  <a:srgbClr val="111111"/>
                </a:solidFill>
              </a:defRPr>
            </a:lvl1pPr>
          </a:lstStyle>
          <a:p>
            <a:pPr/>
            <a:r>
              <a:t>Функция euler_step вычисляет лапласиан и обновляет только внутренние узлы сетки.</a:t>
            </a:r>
          </a:p>
        </p:txBody>
      </p:sp>
      <p:sp>
        <p:nvSpPr>
          <p:cNvPr id="129" name="Shape 2"/>
          <p:cNvSpPr/>
          <p:nvPr/>
        </p:nvSpPr>
        <p:spPr>
          <a:xfrm>
            <a:off x="841247" y="1600200"/>
            <a:ext cx="10515601" cy="2971800"/>
          </a:xfrm>
          <a:prstGeom prst="roundRect">
            <a:avLst>
              <a:gd name="adj" fmla="val 0"/>
            </a:avLst>
          </a:prstGeom>
          <a:solidFill>
            <a:srgbClr val="151A22"/>
          </a:solidFill>
          <a:ln w="12700">
            <a:solidFill>
              <a:srgbClr val="2D3440"/>
            </a:solidFill>
          </a:ln>
          <a:effectLst>
            <a:outerShdw sx="100000" sy="100000" kx="0" ky="0" algn="b" rotWithShape="0" blurRad="12700" dist="12700" dir="2700000">
              <a:srgbClr val="000000">
                <a:alpha val="1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0" name="Text 3"/>
          <p:cNvSpPr txBox="1"/>
          <p:nvPr/>
        </p:nvSpPr>
        <p:spPr>
          <a:xfrm>
            <a:off x="1005839" y="1692147"/>
            <a:ext cx="1018641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900">
                <a:solidFill>
                  <a:srgbClr val="96A0AD"/>
                </a:solidFill>
              </a:defRPr>
            </a:lvl1pPr>
          </a:lstStyle>
          <a:p>
            <a:pPr/>
            <a:r>
              <a:t>src/fdm_solver.py</a:t>
            </a:r>
          </a:p>
        </p:txBody>
      </p:sp>
      <p:sp>
        <p:nvSpPr>
          <p:cNvPr id="131" name="Text 4"/>
          <p:cNvSpPr txBox="1"/>
          <p:nvPr/>
        </p:nvSpPr>
        <p:spPr>
          <a:xfrm>
            <a:off x="987551" y="1819655"/>
            <a:ext cx="10222994" cy="26974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1 </a:t>
            </a:r>
            <a:r>
              <a:rPr>
                <a:solidFill>
                  <a:srgbClr val="FFFFFF"/>
                </a:solidFill>
              </a:rPr>
              <a:t>@jit</a:t>
            </a:r>
            <a:endParaRPr>
              <a:solidFill>
                <a:srgbClr val="FFFFFF"/>
              </a:solidFill>
            </a:endParaRPr>
          </a:p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2 </a:t>
            </a:r>
            <a:r>
              <a:rPr>
                <a:solidFill>
                  <a:srgbClr val="66D9EF"/>
                </a:solidFill>
              </a:rPr>
              <a:t>def</a:t>
            </a:r>
            <a:r>
              <a:rPr>
                <a:solidFill>
                  <a:srgbClr val="FFFFFF"/>
                </a:solidFill>
              </a:rPr>
              <a:t> euler_step</a:t>
            </a:r>
            <a:r>
              <a:rPr>
                <a:solidFill>
                  <a:srgbClr val="F8F8F2"/>
                </a:solidFill>
              </a:rPr>
              <a:t>(</a:t>
            </a:r>
            <a:r>
              <a:rPr>
                <a:solidFill>
                  <a:srgbClr val="FFFFFF"/>
                </a:solidFill>
              </a:rPr>
              <a:t>u</a:t>
            </a:r>
            <a:r>
              <a:rPr>
                <a:solidFill>
                  <a:srgbClr val="F8F8F2"/>
                </a:solidFill>
              </a:rPr>
              <a:t>:</a:t>
            </a:r>
            <a:r>
              <a:rPr>
                <a:solidFill>
                  <a:srgbClr val="FFFFFF"/>
                </a:solidFill>
              </a:rPr>
              <a:t> jnp</a:t>
            </a:r>
            <a:r>
              <a:rPr>
                <a:solidFill>
                  <a:srgbClr val="F8F8F2"/>
                </a:solidFill>
              </a:rPr>
              <a:t>.</a:t>
            </a:r>
            <a:r>
              <a:rPr>
                <a:solidFill>
                  <a:srgbClr val="FFFFFF"/>
                </a:solidFill>
              </a:rPr>
              <a:t>ndarray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dt</a:t>
            </a:r>
            <a:r>
              <a:rPr>
                <a:solidFill>
                  <a:srgbClr val="F8F8F2"/>
                </a:solidFill>
              </a:rPr>
              <a:t>:</a:t>
            </a:r>
            <a:r>
              <a:rPr>
                <a:solidFill>
                  <a:srgbClr val="FFFFFF"/>
                </a:solidFill>
              </a:rPr>
              <a:t> float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alpha</a:t>
            </a:r>
            <a:r>
              <a:rPr>
                <a:solidFill>
                  <a:srgbClr val="F8F8F2"/>
                </a:solidFill>
              </a:rPr>
              <a:t>:</a:t>
            </a:r>
            <a:r>
              <a:rPr>
                <a:solidFill>
                  <a:srgbClr val="FFFFFF"/>
                </a:solidFill>
              </a:rPr>
              <a:t> float</a:t>
            </a:r>
            <a:r>
              <a:rPr>
                <a:solidFill>
                  <a:srgbClr val="F8F8F2"/>
                </a:solidFill>
              </a:rPr>
              <a:t>,</a:t>
            </a:r>
            <a:endParaRPr>
              <a:solidFill>
                <a:srgbClr val="FFFFFF"/>
              </a:solidFill>
            </a:endParaRPr>
          </a:p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3 </a:t>
            </a:r>
            <a:r>
              <a:rPr>
                <a:solidFill>
                  <a:srgbClr val="FFFFFF"/>
                </a:solidFill>
              </a:rPr>
              <a:t>               dx</a:t>
            </a:r>
            <a:r>
              <a:rPr>
                <a:solidFill>
                  <a:srgbClr val="F8F8F2"/>
                </a:solidFill>
              </a:rPr>
              <a:t>:</a:t>
            </a:r>
            <a:r>
              <a:rPr>
                <a:solidFill>
                  <a:srgbClr val="FFFFFF"/>
                </a:solidFill>
              </a:rPr>
              <a:t> float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dy</a:t>
            </a:r>
            <a:r>
              <a:rPr>
                <a:solidFill>
                  <a:srgbClr val="F8F8F2"/>
                </a:solidFill>
              </a:rPr>
              <a:t>:</a:t>
            </a:r>
            <a:r>
              <a:rPr>
                <a:solidFill>
                  <a:srgbClr val="FFFFFF"/>
                </a:solidFill>
              </a:rPr>
              <a:t> float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dz</a:t>
            </a:r>
            <a:r>
              <a:rPr>
                <a:solidFill>
                  <a:srgbClr val="F8F8F2"/>
                </a:solidFill>
              </a:rPr>
              <a:t>:</a:t>
            </a:r>
            <a:r>
              <a:rPr>
                <a:solidFill>
                  <a:srgbClr val="FFFFFF"/>
                </a:solidFill>
              </a:rPr>
              <a:t> float</a:t>
            </a:r>
            <a:r>
              <a:rPr>
                <a:solidFill>
                  <a:srgbClr val="F8F8F2"/>
                </a:solidFill>
              </a:rPr>
              <a:t>)</a:t>
            </a:r>
            <a:r>
              <a:rPr>
                <a:solidFill>
                  <a:srgbClr val="FFFFFF"/>
                </a:solidFill>
              </a:rPr>
              <a:t> </a:t>
            </a:r>
            <a:r>
              <a:rPr>
                <a:solidFill>
                  <a:srgbClr val="F8F8F2"/>
                </a:solidFill>
              </a:rPr>
              <a:t>-&gt;</a:t>
            </a:r>
            <a:r>
              <a:rPr>
                <a:solidFill>
                  <a:srgbClr val="FFFFFF"/>
                </a:solidFill>
              </a:rPr>
              <a:t> jnp</a:t>
            </a:r>
            <a:r>
              <a:rPr>
                <a:solidFill>
                  <a:srgbClr val="F8F8F2"/>
                </a:solidFill>
              </a:rPr>
              <a:t>.</a:t>
            </a:r>
            <a:r>
              <a:rPr>
                <a:solidFill>
                  <a:srgbClr val="FFFFFF"/>
                </a:solidFill>
              </a:rPr>
              <a:t>ndarray</a:t>
            </a:r>
            <a:r>
              <a:rPr>
                <a:solidFill>
                  <a:srgbClr val="F8F8F2"/>
                </a:solidFill>
              </a:rPr>
              <a:t>:</a:t>
            </a:r>
            <a:endParaRPr>
              <a:solidFill>
                <a:srgbClr val="FFFFFF"/>
              </a:solidFill>
            </a:endParaRPr>
          </a:p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4 </a:t>
            </a:r>
            <a:r>
              <a:rPr>
                <a:solidFill>
                  <a:srgbClr val="FFFFFF"/>
                </a:solidFill>
              </a:rPr>
              <a:t>    lap </a:t>
            </a:r>
            <a:r>
              <a:rPr>
                <a:solidFill>
                  <a:srgbClr val="F8F8F2"/>
                </a:solidFill>
              </a:rPr>
              <a:t>=</a:t>
            </a:r>
            <a:r>
              <a:rPr>
                <a:solidFill>
                  <a:srgbClr val="FFFFFF"/>
                </a:solidFill>
              </a:rPr>
              <a:t> laplacian_3d</a:t>
            </a:r>
            <a:r>
              <a:rPr>
                <a:solidFill>
                  <a:srgbClr val="F8F8F2"/>
                </a:solidFill>
              </a:rPr>
              <a:t>(</a:t>
            </a:r>
            <a:r>
              <a:rPr>
                <a:solidFill>
                  <a:srgbClr val="FFFFFF"/>
                </a:solidFill>
              </a:rPr>
              <a:t>u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dx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dy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dz</a:t>
            </a:r>
            <a:r>
              <a:rPr>
                <a:solidFill>
                  <a:srgbClr val="F8F8F2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5 </a:t>
            </a:r>
            <a:r>
              <a:rPr>
                <a:solidFill>
                  <a:srgbClr val="FFFFFF"/>
                </a:solidFill>
              </a:rPr>
              <a:t>    u_next_interior </a:t>
            </a:r>
            <a:r>
              <a:rPr>
                <a:solidFill>
                  <a:srgbClr val="F8F8F2"/>
                </a:solidFill>
              </a:rPr>
              <a:t>=</a:t>
            </a:r>
            <a:r>
              <a:rPr>
                <a:solidFill>
                  <a:srgbClr val="FFFFFF"/>
                </a:solidFill>
              </a:rPr>
              <a:t> u</a:t>
            </a:r>
            <a:r>
              <a:rPr>
                <a:solidFill>
                  <a:srgbClr val="F8F8F2"/>
                </a:solidFill>
              </a:rPr>
              <a:t>[</a:t>
            </a:r>
            <a:r>
              <a:rPr>
                <a:solidFill>
                  <a:srgbClr val="FFFFFF"/>
                </a:solidFill>
              </a:rPr>
              <a:t>1</a:t>
            </a:r>
            <a:r>
              <a:rPr>
                <a:solidFill>
                  <a:srgbClr val="F8F8F2"/>
                </a:solidFill>
              </a:rPr>
              <a:t>:-</a:t>
            </a:r>
            <a:r>
              <a:rPr>
                <a:solidFill>
                  <a:srgbClr val="FFFFFF"/>
                </a:solidFill>
              </a:rPr>
              <a:t>1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1</a:t>
            </a:r>
            <a:r>
              <a:rPr>
                <a:solidFill>
                  <a:srgbClr val="F8F8F2"/>
                </a:solidFill>
              </a:rPr>
              <a:t>:-</a:t>
            </a:r>
            <a:r>
              <a:rPr>
                <a:solidFill>
                  <a:srgbClr val="FFFFFF"/>
                </a:solidFill>
              </a:rPr>
              <a:t>1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1</a:t>
            </a:r>
            <a:r>
              <a:rPr>
                <a:solidFill>
                  <a:srgbClr val="F8F8F2"/>
                </a:solidFill>
              </a:rPr>
              <a:t>:-</a:t>
            </a:r>
            <a:r>
              <a:rPr>
                <a:solidFill>
                  <a:srgbClr val="FFFFFF"/>
                </a:solidFill>
              </a:rPr>
              <a:t>1</a:t>
            </a:r>
            <a:r>
              <a:rPr>
                <a:solidFill>
                  <a:srgbClr val="F8F8F2"/>
                </a:solidFill>
              </a:rPr>
              <a:t>]</a:t>
            </a:r>
            <a:r>
              <a:rPr>
                <a:solidFill>
                  <a:srgbClr val="FFFFFF"/>
                </a:solidFill>
              </a:rPr>
              <a:t> </a:t>
            </a:r>
            <a:r>
              <a:rPr>
                <a:solidFill>
                  <a:srgbClr val="F8F8F2"/>
                </a:solidFill>
              </a:rPr>
              <a:t>+</a:t>
            </a:r>
            <a:r>
              <a:rPr>
                <a:solidFill>
                  <a:srgbClr val="FFFFFF"/>
                </a:solidFill>
              </a:rPr>
              <a:t> alpha </a:t>
            </a:r>
            <a:r>
              <a:rPr>
                <a:solidFill>
                  <a:srgbClr val="F8F8F2"/>
                </a:solidFill>
              </a:rPr>
              <a:t>*</a:t>
            </a:r>
            <a:r>
              <a:rPr>
                <a:solidFill>
                  <a:srgbClr val="FFFFFF"/>
                </a:solidFill>
              </a:rPr>
              <a:t> dt </a:t>
            </a:r>
            <a:r>
              <a:rPr>
                <a:solidFill>
                  <a:srgbClr val="F8F8F2"/>
                </a:solidFill>
              </a:rPr>
              <a:t>*</a:t>
            </a:r>
            <a:r>
              <a:rPr>
                <a:solidFill>
                  <a:srgbClr val="FFFFFF"/>
                </a:solidFill>
              </a:rPr>
              <a:t> lap</a:t>
            </a:r>
            <a:endParaRPr>
              <a:solidFill>
                <a:srgbClr val="FFFFFF"/>
              </a:solidFill>
            </a:endParaRPr>
          </a:p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6 </a:t>
            </a:r>
            <a:r>
              <a:rPr>
                <a:solidFill>
                  <a:srgbClr val="FFFFFF"/>
                </a:solidFill>
              </a:rPr>
              <a:t>    </a:t>
            </a:r>
            <a:r>
              <a:rPr>
                <a:solidFill>
                  <a:srgbClr val="66D9EF"/>
                </a:solidFill>
              </a:rPr>
              <a:t>return</a:t>
            </a:r>
            <a:r>
              <a:rPr>
                <a:solidFill>
                  <a:srgbClr val="FFFFFF"/>
                </a:solidFill>
              </a:rPr>
              <a:t> u</a:t>
            </a:r>
            <a:r>
              <a:rPr>
                <a:solidFill>
                  <a:srgbClr val="F8F8F2"/>
                </a:solidFill>
              </a:rPr>
              <a:t>.</a:t>
            </a:r>
            <a:r>
              <a:rPr>
                <a:solidFill>
                  <a:srgbClr val="FFFFFF"/>
                </a:solidFill>
              </a:rPr>
              <a:t>at</a:t>
            </a:r>
            <a:r>
              <a:rPr>
                <a:solidFill>
                  <a:srgbClr val="F8F8F2"/>
                </a:solidFill>
              </a:rPr>
              <a:t>[</a:t>
            </a:r>
            <a:r>
              <a:rPr>
                <a:solidFill>
                  <a:srgbClr val="FFFFFF"/>
                </a:solidFill>
              </a:rPr>
              <a:t>1</a:t>
            </a:r>
            <a:r>
              <a:rPr>
                <a:solidFill>
                  <a:srgbClr val="F8F8F2"/>
                </a:solidFill>
              </a:rPr>
              <a:t>:-</a:t>
            </a:r>
            <a:r>
              <a:rPr>
                <a:solidFill>
                  <a:srgbClr val="FFFFFF"/>
                </a:solidFill>
              </a:rPr>
              <a:t>1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1</a:t>
            </a:r>
            <a:r>
              <a:rPr>
                <a:solidFill>
                  <a:srgbClr val="F8F8F2"/>
                </a:solidFill>
              </a:rPr>
              <a:t>:-</a:t>
            </a:r>
            <a:r>
              <a:rPr>
                <a:solidFill>
                  <a:srgbClr val="FFFFFF"/>
                </a:solidFill>
              </a:rPr>
              <a:t>1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1</a:t>
            </a:r>
            <a:r>
              <a:rPr>
                <a:solidFill>
                  <a:srgbClr val="F8F8F2"/>
                </a:solidFill>
              </a:rPr>
              <a:t>:-</a:t>
            </a:r>
            <a:r>
              <a:rPr>
                <a:solidFill>
                  <a:srgbClr val="FFFFFF"/>
                </a:solidFill>
              </a:rPr>
              <a:t>1</a:t>
            </a:r>
            <a:r>
              <a:rPr>
                <a:solidFill>
                  <a:srgbClr val="F8F8F2"/>
                </a:solidFill>
              </a:rPr>
              <a:t>].</a:t>
            </a:r>
            <a:r>
              <a:rPr>
                <a:solidFill>
                  <a:srgbClr val="FFFFFF"/>
                </a:solidFill>
              </a:rPr>
              <a:t>set</a:t>
            </a:r>
            <a:r>
              <a:rPr>
                <a:solidFill>
                  <a:srgbClr val="F8F8F2"/>
                </a:solidFill>
              </a:rPr>
              <a:t>(</a:t>
            </a:r>
            <a:r>
              <a:rPr>
                <a:solidFill>
                  <a:srgbClr val="FFFFFF"/>
                </a:solidFill>
              </a:rPr>
              <a:t>u_next_interior</a:t>
            </a:r>
            <a:r>
              <a:rPr>
                <a:solidFill>
                  <a:srgbClr val="F8F8F2"/>
                </a:solidFill>
              </a:rPr>
              <a:t>)</a:t>
            </a:r>
          </a:p>
        </p:txBody>
      </p:sp>
      <p:sp>
        <p:nvSpPr>
          <p:cNvPr id="132" name="Shape 5"/>
          <p:cNvSpPr/>
          <p:nvPr/>
        </p:nvSpPr>
        <p:spPr>
          <a:xfrm>
            <a:off x="841247" y="4828032"/>
            <a:ext cx="10515601" cy="914401"/>
          </a:xfrm>
          <a:prstGeom prst="roundRect">
            <a:avLst>
              <a:gd name="adj" fmla="val 16667"/>
            </a:avLst>
          </a:prstGeom>
          <a:solidFill>
            <a:srgbClr val="F6F8FA"/>
          </a:solidFill>
          <a:ln w="12700">
            <a:solidFill>
              <a:srgbClr val="D7DCE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3" name="Text 6"/>
          <p:cNvSpPr txBox="1"/>
          <p:nvPr/>
        </p:nvSpPr>
        <p:spPr>
          <a:xfrm>
            <a:off x="1051560" y="5093208"/>
            <a:ext cx="10058401" cy="384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 algn="ctr" defTabSz="768095">
              <a:lnSpc>
                <a:spcPct val="104999"/>
              </a:lnSpc>
              <a:defRPr sz="1260">
                <a:solidFill>
                  <a:srgbClr val="111111"/>
                </a:solidFill>
              </a:defRPr>
            </a:pPr>
            <a:r>
              <a:t>Операция .at[1:-1, 1:-1, 1:-1].set(...) явно фиксирует область обновления;</a:t>
            </a:r>
          </a:p>
          <a:p>
            <a:pPr algn="ctr" defTabSz="768095">
              <a:lnSpc>
                <a:spcPct val="104999"/>
              </a:lnSpc>
              <a:defRPr sz="1260">
                <a:solidFill>
                  <a:srgbClr val="111111"/>
                </a:solidFill>
              </a:defRPr>
            </a:pPr>
            <a:r>
              <a:t>границы остаются нулевыми без отдельного шага постобработки.</a:t>
            </a:r>
          </a:p>
        </p:txBody>
      </p:sp>
      <p:sp>
        <p:nvSpPr>
          <p:cNvPr id="134" name="Shape 7"/>
          <p:cNvSpPr/>
          <p:nvPr/>
        </p:nvSpPr>
        <p:spPr>
          <a:xfrm>
            <a:off x="594359" y="6473952"/>
            <a:ext cx="10972801" cy="1"/>
          </a:xfrm>
          <a:prstGeom prst="line">
            <a:avLst/>
          </a:prstGeom>
          <a:ln w="12700">
            <a:solidFill>
              <a:srgbClr val="D7DCE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5" name="Text 8"/>
          <p:cNvSpPr txBox="1"/>
          <p:nvPr/>
        </p:nvSpPr>
        <p:spPr>
          <a:xfrm>
            <a:off x="621791" y="6529323"/>
            <a:ext cx="10972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/>
            <a:r>
              <a:t>17.04.2026</a:t>
            </a:r>
          </a:p>
        </p:txBody>
      </p:sp>
      <p:sp>
        <p:nvSpPr>
          <p:cNvPr id="136" name="Text 9"/>
          <p:cNvSpPr txBox="1"/>
          <p:nvPr/>
        </p:nvSpPr>
        <p:spPr>
          <a:xfrm>
            <a:off x="11155680" y="6529323"/>
            <a:ext cx="3200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6B7280"/>
                </a:solidFill>
              </a:defRPr>
            </a:lvl1pPr>
          </a:lstStyle>
          <a:p>
            <a:pPr/>
            <a:r>
              <a:t>10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ext 0"/>
          <p:cNvSpPr txBox="1"/>
          <p:nvPr/>
        </p:nvSpPr>
        <p:spPr>
          <a:xfrm>
            <a:off x="658368" y="370168"/>
            <a:ext cx="10881360" cy="2837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000">
                <a:solidFill>
                  <a:srgbClr val="111111"/>
                </a:solidFill>
              </a:defRPr>
            </a:lvl1pPr>
          </a:lstStyle>
          <a:p>
            <a:pPr/>
            <a:r>
              <a:t>FDM: устойчивость и условие CFL</a:t>
            </a:r>
          </a:p>
        </p:txBody>
      </p:sp>
      <p:sp>
        <p:nvSpPr>
          <p:cNvPr id="139" name="Text 1"/>
          <p:cNvSpPr txBox="1"/>
          <p:nvPr/>
        </p:nvSpPr>
        <p:spPr>
          <a:xfrm>
            <a:off x="749808" y="914400"/>
            <a:ext cx="5669280" cy="228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defTabSz="704087">
              <a:lnSpc>
                <a:spcPct val="104999"/>
              </a:lnSpc>
              <a:defRPr sz="1232">
                <a:solidFill>
                  <a:srgbClr val="111111"/>
                </a:solidFill>
              </a:defRPr>
            </a:lvl1pPr>
          </a:lstStyle>
          <a:p>
            <a:pPr/>
            <a:r>
              <a:t>Для явной схемы Эйлера в 3D используется ограничение на шаг по времени.</a:t>
            </a:r>
          </a:p>
        </p:txBody>
      </p:sp>
      <p:pic>
        <p:nvPicPr>
          <p:cNvPr id="140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68680" y="1298447"/>
            <a:ext cx="3657601" cy="476809"/>
          </a:xfrm>
          <a:prstGeom prst="rect">
            <a:avLst/>
          </a:prstGeom>
          <a:ln w="12700">
            <a:miter lim="400000"/>
          </a:ln>
        </p:spPr>
      </p:pic>
      <p:sp>
        <p:nvSpPr>
          <p:cNvPr id="141" name="Text 2"/>
          <p:cNvSpPr txBox="1"/>
          <p:nvPr/>
        </p:nvSpPr>
        <p:spPr>
          <a:xfrm>
            <a:off x="749808" y="2057400"/>
            <a:ext cx="6984996" cy="9906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ct val="104999"/>
              </a:lnSpc>
              <a:defRPr sz="1600">
                <a:solidFill>
                  <a:srgbClr val="111111"/>
                </a:solidFill>
              </a:defRPr>
            </a:pPr>
            <a:r>
              <a:t>• вычисляются шаги сетки dx, dy, dz</a:t>
            </a:r>
          </a:p>
          <a:p>
            <a:pPr>
              <a:lnSpc>
                <a:spcPct val="104999"/>
              </a:lnSpc>
              <a:defRPr sz="1600">
                <a:solidFill>
                  <a:srgbClr val="111111"/>
                </a:solidFill>
              </a:defRPr>
            </a:pPr>
            <a:r>
              <a:t>• оценивается допустимый dt_max</a:t>
            </a:r>
          </a:p>
          <a:p>
            <a:pPr>
              <a:lnSpc>
                <a:spcPct val="104999"/>
              </a:lnSpc>
              <a:defRPr sz="1600">
                <a:solidFill>
                  <a:srgbClr val="111111"/>
                </a:solidFill>
              </a:defRPr>
            </a:pPr>
            <a:r>
              <a:t>• если dt больше допустимого, выводится предупреждение</a:t>
            </a:r>
          </a:p>
          <a:p>
            <a:pPr>
              <a:lnSpc>
                <a:spcPct val="104999"/>
              </a:lnSpc>
              <a:defRPr sz="1600">
                <a:solidFill>
                  <a:srgbClr val="111111"/>
                </a:solidFill>
              </a:defRPr>
            </a:pPr>
            <a:r>
              <a:t>• это необходимо для контроля численной устойчивости</a:t>
            </a:r>
          </a:p>
        </p:txBody>
      </p:sp>
      <p:sp>
        <p:nvSpPr>
          <p:cNvPr id="142" name="Shape 3"/>
          <p:cNvSpPr/>
          <p:nvPr/>
        </p:nvSpPr>
        <p:spPr>
          <a:xfrm>
            <a:off x="3549837" y="3208987"/>
            <a:ext cx="7283989" cy="2256022"/>
          </a:xfrm>
          <a:prstGeom prst="roundRect">
            <a:avLst>
              <a:gd name="adj" fmla="val 0"/>
            </a:avLst>
          </a:prstGeom>
          <a:solidFill>
            <a:srgbClr val="151A22"/>
          </a:solidFill>
          <a:ln w="12700">
            <a:solidFill>
              <a:srgbClr val="2D3440"/>
            </a:solidFill>
          </a:ln>
          <a:effectLst>
            <a:outerShdw sx="100000" sy="100000" kx="0" ky="0" algn="b" rotWithShape="0" blurRad="12700" dist="12700" dir="2700000">
              <a:srgbClr val="000000">
                <a:alpha val="1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3" name="Text 4"/>
          <p:cNvSpPr txBox="1"/>
          <p:nvPr/>
        </p:nvSpPr>
        <p:spPr>
          <a:xfrm>
            <a:off x="3678330" y="3286547"/>
            <a:ext cx="479145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900">
                <a:solidFill>
                  <a:srgbClr val="96A0AD"/>
                </a:solidFill>
              </a:defRPr>
            </a:lvl1pPr>
          </a:lstStyle>
          <a:p>
            <a:pPr/>
            <a:r>
              <a:t>контроль устойчивости</a:t>
            </a:r>
          </a:p>
        </p:txBody>
      </p:sp>
      <p:sp>
        <p:nvSpPr>
          <p:cNvPr id="144" name="Text 5"/>
          <p:cNvSpPr txBox="1"/>
          <p:nvPr/>
        </p:nvSpPr>
        <p:spPr>
          <a:xfrm>
            <a:off x="3696141" y="3428443"/>
            <a:ext cx="6991381" cy="19852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1 </a:t>
            </a:r>
            <a:r>
              <a:rPr>
                <a:solidFill>
                  <a:srgbClr val="FFFFFF"/>
                </a:solidFill>
              </a:rPr>
              <a:t>dx </a:t>
            </a:r>
            <a:r>
              <a:rPr>
                <a:solidFill>
                  <a:srgbClr val="F8F8F2"/>
                </a:solidFill>
              </a:rPr>
              <a:t>=</a:t>
            </a:r>
            <a:r>
              <a:rPr>
                <a:solidFill>
                  <a:srgbClr val="FFFFFF"/>
                </a:solidFill>
              </a:rPr>
              <a:t> Lx </a:t>
            </a:r>
            <a:r>
              <a:rPr>
                <a:solidFill>
                  <a:srgbClr val="F8F8F2"/>
                </a:solidFill>
              </a:rPr>
              <a:t>/</a:t>
            </a:r>
            <a:r>
              <a:rPr>
                <a:solidFill>
                  <a:srgbClr val="FFFFFF"/>
                </a:solidFill>
              </a:rPr>
              <a:t> </a:t>
            </a:r>
            <a:r>
              <a:rPr>
                <a:solidFill>
                  <a:srgbClr val="F8F8F2"/>
                </a:solidFill>
              </a:rPr>
              <a:t>(</a:t>
            </a:r>
            <a:r>
              <a:rPr>
                <a:solidFill>
                  <a:srgbClr val="FFFFFF"/>
                </a:solidFill>
              </a:rPr>
              <a:t>Nx </a:t>
            </a:r>
            <a:r>
              <a:rPr>
                <a:solidFill>
                  <a:srgbClr val="F8F8F2"/>
                </a:solidFill>
              </a:rPr>
              <a:t>-</a:t>
            </a:r>
            <a:r>
              <a:rPr>
                <a:solidFill>
                  <a:srgbClr val="FFFFFF"/>
                </a:solidFill>
              </a:rPr>
              <a:t> 1</a:t>
            </a:r>
            <a:r>
              <a:rPr>
                <a:solidFill>
                  <a:srgbClr val="F8F8F2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2 </a:t>
            </a:r>
            <a:r>
              <a:rPr>
                <a:solidFill>
                  <a:srgbClr val="FFFFFF"/>
                </a:solidFill>
              </a:rPr>
              <a:t>dy </a:t>
            </a:r>
            <a:r>
              <a:rPr>
                <a:solidFill>
                  <a:srgbClr val="F8F8F2"/>
                </a:solidFill>
              </a:rPr>
              <a:t>=</a:t>
            </a:r>
            <a:r>
              <a:rPr>
                <a:solidFill>
                  <a:srgbClr val="FFFFFF"/>
                </a:solidFill>
              </a:rPr>
              <a:t> Ly </a:t>
            </a:r>
            <a:r>
              <a:rPr>
                <a:solidFill>
                  <a:srgbClr val="F8F8F2"/>
                </a:solidFill>
              </a:rPr>
              <a:t>/</a:t>
            </a:r>
            <a:r>
              <a:rPr>
                <a:solidFill>
                  <a:srgbClr val="FFFFFF"/>
                </a:solidFill>
              </a:rPr>
              <a:t> </a:t>
            </a:r>
            <a:r>
              <a:rPr>
                <a:solidFill>
                  <a:srgbClr val="F8F8F2"/>
                </a:solidFill>
              </a:rPr>
              <a:t>(</a:t>
            </a:r>
            <a:r>
              <a:rPr>
                <a:solidFill>
                  <a:srgbClr val="FFFFFF"/>
                </a:solidFill>
              </a:rPr>
              <a:t>Ny </a:t>
            </a:r>
            <a:r>
              <a:rPr>
                <a:solidFill>
                  <a:srgbClr val="F8F8F2"/>
                </a:solidFill>
              </a:rPr>
              <a:t>-</a:t>
            </a:r>
            <a:r>
              <a:rPr>
                <a:solidFill>
                  <a:srgbClr val="FFFFFF"/>
                </a:solidFill>
              </a:rPr>
              <a:t> 1</a:t>
            </a:r>
            <a:r>
              <a:rPr>
                <a:solidFill>
                  <a:srgbClr val="F8F8F2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3 </a:t>
            </a:r>
            <a:r>
              <a:rPr>
                <a:solidFill>
                  <a:srgbClr val="FFFFFF"/>
                </a:solidFill>
              </a:rPr>
              <a:t>dz </a:t>
            </a:r>
            <a:r>
              <a:rPr>
                <a:solidFill>
                  <a:srgbClr val="F8F8F2"/>
                </a:solidFill>
              </a:rPr>
              <a:t>=</a:t>
            </a:r>
            <a:r>
              <a:rPr>
                <a:solidFill>
                  <a:srgbClr val="FFFFFF"/>
                </a:solidFill>
              </a:rPr>
              <a:t> Lz </a:t>
            </a:r>
            <a:r>
              <a:rPr>
                <a:solidFill>
                  <a:srgbClr val="F8F8F2"/>
                </a:solidFill>
              </a:rPr>
              <a:t>/</a:t>
            </a:r>
            <a:r>
              <a:rPr>
                <a:solidFill>
                  <a:srgbClr val="FFFFFF"/>
                </a:solidFill>
              </a:rPr>
              <a:t> </a:t>
            </a:r>
            <a:r>
              <a:rPr>
                <a:solidFill>
                  <a:srgbClr val="F8F8F2"/>
                </a:solidFill>
              </a:rPr>
              <a:t>(</a:t>
            </a:r>
            <a:r>
              <a:rPr>
                <a:solidFill>
                  <a:srgbClr val="FFFFFF"/>
                </a:solidFill>
              </a:rPr>
              <a:t>Nz </a:t>
            </a:r>
            <a:r>
              <a:rPr>
                <a:solidFill>
                  <a:srgbClr val="F8F8F2"/>
                </a:solidFill>
              </a:rPr>
              <a:t>-</a:t>
            </a:r>
            <a:r>
              <a:rPr>
                <a:solidFill>
                  <a:srgbClr val="FFFFFF"/>
                </a:solidFill>
              </a:rPr>
              <a:t> 1</a:t>
            </a:r>
            <a:r>
              <a:rPr>
                <a:solidFill>
                  <a:srgbClr val="F8F8F2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4 </a:t>
            </a:r>
            <a:endParaRPr>
              <a:solidFill>
                <a:srgbClr val="FFFFFF"/>
              </a:solidFill>
            </a:endParaRPr>
          </a:p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5 </a:t>
            </a:r>
            <a:r>
              <a:rPr>
                <a:solidFill>
                  <a:srgbClr val="FFFFFF"/>
                </a:solidFill>
              </a:rPr>
              <a:t>dt_max </a:t>
            </a:r>
            <a:r>
              <a:rPr>
                <a:solidFill>
                  <a:srgbClr val="F8F8F2"/>
                </a:solidFill>
              </a:rPr>
              <a:t>=</a:t>
            </a:r>
            <a:r>
              <a:rPr>
                <a:solidFill>
                  <a:srgbClr val="FFFFFF"/>
                </a:solidFill>
              </a:rPr>
              <a:t> min</a:t>
            </a:r>
            <a:r>
              <a:rPr>
                <a:solidFill>
                  <a:srgbClr val="F8F8F2"/>
                </a:solidFill>
              </a:rPr>
              <a:t>(</a:t>
            </a:r>
            <a:r>
              <a:rPr>
                <a:solidFill>
                  <a:srgbClr val="FFFFFF"/>
                </a:solidFill>
              </a:rPr>
              <a:t>dx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dy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dz</a:t>
            </a:r>
            <a:r>
              <a:rPr>
                <a:solidFill>
                  <a:srgbClr val="F8F8F2"/>
                </a:solidFill>
              </a:rPr>
              <a:t>)**</a:t>
            </a:r>
            <a:r>
              <a:rPr>
                <a:solidFill>
                  <a:srgbClr val="FFFFFF"/>
                </a:solidFill>
              </a:rPr>
              <a:t>2 </a:t>
            </a:r>
            <a:r>
              <a:rPr>
                <a:solidFill>
                  <a:srgbClr val="F8F8F2"/>
                </a:solidFill>
              </a:rPr>
              <a:t>/</a:t>
            </a:r>
            <a:r>
              <a:rPr>
                <a:solidFill>
                  <a:srgbClr val="FFFFFF"/>
                </a:solidFill>
              </a:rPr>
              <a:t> </a:t>
            </a:r>
            <a:r>
              <a:rPr>
                <a:solidFill>
                  <a:srgbClr val="F8F8F2"/>
                </a:solidFill>
              </a:rPr>
              <a:t>(</a:t>
            </a:r>
            <a:r>
              <a:rPr>
                <a:solidFill>
                  <a:srgbClr val="FFFFFF"/>
                </a:solidFill>
              </a:rPr>
              <a:t>6.0 </a:t>
            </a:r>
            <a:r>
              <a:rPr>
                <a:solidFill>
                  <a:srgbClr val="F8F8F2"/>
                </a:solidFill>
              </a:rPr>
              <a:t>*</a:t>
            </a:r>
            <a:r>
              <a:rPr>
                <a:solidFill>
                  <a:srgbClr val="FFFFFF"/>
                </a:solidFill>
              </a:rPr>
              <a:t> alpha</a:t>
            </a:r>
            <a:r>
              <a:rPr>
                <a:solidFill>
                  <a:srgbClr val="F8F8F2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6 </a:t>
            </a:r>
            <a:r>
              <a:rPr>
                <a:solidFill>
                  <a:srgbClr val="66D9EF"/>
                </a:solidFill>
              </a:rPr>
              <a:t>if</a:t>
            </a:r>
            <a:r>
              <a:rPr>
                <a:solidFill>
                  <a:srgbClr val="FFFFFF"/>
                </a:solidFill>
              </a:rPr>
              <a:t> dt </a:t>
            </a:r>
            <a:r>
              <a:rPr>
                <a:solidFill>
                  <a:srgbClr val="F8F8F2"/>
                </a:solidFill>
              </a:rPr>
              <a:t>&gt;</a:t>
            </a:r>
            <a:r>
              <a:rPr>
                <a:solidFill>
                  <a:srgbClr val="FFFFFF"/>
                </a:solidFill>
              </a:rPr>
              <a:t> dt_max</a:t>
            </a:r>
            <a:r>
              <a:rPr>
                <a:solidFill>
                  <a:srgbClr val="F8F8F2"/>
                </a:solidFill>
              </a:rPr>
              <a:t>:</a:t>
            </a:r>
            <a:endParaRPr>
              <a:solidFill>
                <a:srgbClr val="FFFFFF"/>
              </a:solidFill>
            </a:endParaRPr>
          </a:p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7 </a:t>
            </a:r>
            <a:r>
              <a:rPr>
                <a:solidFill>
                  <a:srgbClr val="FFFFFF"/>
                </a:solidFill>
              </a:rPr>
              <a:t>    </a:t>
            </a:r>
            <a:r>
              <a:rPr>
                <a:solidFill>
                  <a:srgbClr val="66D9EF"/>
                </a:solidFill>
              </a:rPr>
              <a:t>print</a:t>
            </a:r>
            <a:r>
              <a:rPr>
                <a:solidFill>
                  <a:srgbClr val="F8F8F2"/>
                </a:solidFill>
              </a:rPr>
              <a:t>(</a:t>
            </a:r>
            <a:r>
              <a:rPr>
                <a:solidFill>
                  <a:srgbClr val="FFFFFF"/>
                </a:solidFill>
              </a:rPr>
              <a:t>f"ВНИМАНИЕ: dt = </a:t>
            </a:r>
            <a:r>
              <a:rPr>
                <a:solidFill>
                  <a:srgbClr val="F8F8F2"/>
                </a:solidFill>
              </a:rPr>
              <a:t>{</a:t>
            </a:r>
            <a:r>
              <a:rPr>
                <a:solidFill>
                  <a:srgbClr val="FFFFFF"/>
                </a:solidFill>
              </a:rPr>
              <a:t>dt</a:t>
            </a:r>
            <a:r>
              <a:rPr>
                <a:solidFill>
                  <a:srgbClr val="F8F8F2"/>
                </a:solidFill>
              </a:rPr>
              <a:t>:</a:t>
            </a:r>
            <a:r>
              <a:rPr>
                <a:solidFill>
                  <a:srgbClr val="FFFFFF"/>
                </a:solidFill>
              </a:rPr>
              <a:t>.2e</a:t>
            </a:r>
            <a:r>
              <a:rPr>
                <a:solidFill>
                  <a:srgbClr val="F8F8F2"/>
                </a:solidFill>
              </a:rPr>
              <a:t>}</a:t>
            </a:r>
            <a:r>
              <a:rPr>
                <a:solidFill>
                  <a:srgbClr val="FFFFFF"/>
                </a:solidFill>
              </a:rPr>
              <a:t> &gt; dt_max = </a:t>
            </a:r>
            <a:r>
              <a:rPr>
                <a:solidFill>
                  <a:srgbClr val="F8F8F2"/>
                </a:solidFill>
              </a:rPr>
              <a:t>{</a:t>
            </a:r>
            <a:r>
              <a:rPr>
                <a:solidFill>
                  <a:srgbClr val="FFFFFF"/>
                </a:solidFill>
              </a:rPr>
              <a:t>dt_max</a:t>
            </a:r>
            <a:r>
              <a:rPr>
                <a:solidFill>
                  <a:srgbClr val="F8F8F2"/>
                </a:solidFill>
              </a:rPr>
              <a:t>:</a:t>
            </a:r>
            <a:r>
              <a:rPr>
                <a:solidFill>
                  <a:srgbClr val="FFFFFF"/>
                </a:solidFill>
              </a:rPr>
              <a:t>.2e</a:t>
            </a:r>
            <a:r>
              <a:rPr>
                <a:solidFill>
                  <a:srgbClr val="F8F8F2"/>
                </a:solidFill>
              </a:rPr>
              <a:t>}</a:t>
            </a:r>
            <a:r>
              <a:rPr>
                <a:solidFill>
                  <a:srgbClr val="FFFFFF"/>
                </a:solidFill>
              </a:rPr>
              <a:t>"</a:t>
            </a:r>
            <a:r>
              <a:rPr>
                <a:solidFill>
                  <a:srgbClr val="F8F8F2"/>
                </a:solidFill>
              </a:rPr>
              <a:t>)</a:t>
            </a:r>
          </a:p>
        </p:txBody>
      </p:sp>
      <p:sp>
        <p:nvSpPr>
          <p:cNvPr id="145" name="Shape 6"/>
          <p:cNvSpPr/>
          <p:nvPr/>
        </p:nvSpPr>
        <p:spPr>
          <a:xfrm>
            <a:off x="594359" y="6473952"/>
            <a:ext cx="10972801" cy="1"/>
          </a:xfrm>
          <a:prstGeom prst="line">
            <a:avLst/>
          </a:prstGeom>
          <a:ln w="12700">
            <a:solidFill>
              <a:srgbClr val="D7DCE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6" name="Text 7"/>
          <p:cNvSpPr txBox="1"/>
          <p:nvPr/>
        </p:nvSpPr>
        <p:spPr>
          <a:xfrm>
            <a:off x="621791" y="6529323"/>
            <a:ext cx="10972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/>
            <a:r>
              <a:t>17.04.2026</a:t>
            </a:r>
          </a:p>
        </p:txBody>
      </p:sp>
      <p:sp>
        <p:nvSpPr>
          <p:cNvPr id="147" name="Text 8"/>
          <p:cNvSpPr txBox="1"/>
          <p:nvPr/>
        </p:nvSpPr>
        <p:spPr>
          <a:xfrm>
            <a:off x="11155680" y="6529323"/>
            <a:ext cx="3200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6B7280"/>
                </a:solidFill>
              </a:defRPr>
            </a:lvl1pPr>
          </a:lstStyle>
          <a:p>
            <a:pPr/>
            <a:r>
              <a:t>11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Text 0"/>
          <p:cNvSpPr txBox="1"/>
          <p:nvPr/>
        </p:nvSpPr>
        <p:spPr>
          <a:xfrm>
            <a:off x="658368" y="370168"/>
            <a:ext cx="10881360" cy="2837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000">
                <a:solidFill>
                  <a:srgbClr val="111111"/>
                </a:solidFill>
              </a:defRPr>
            </a:lvl1pPr>
          </a:lstStyle>
          <a:p>
            <a:pPr/>
            <a:r>
              <a:t>FDM: временной цикл в JAX через lax.scan</a:t>
            </a:r>
          </a:p>
        </p:txBody>
      </p:sp>
      <p:sp>
        <p:nvSpPr>
          <p:cNvPr id="150" name="Text 1"/>
          <p:cNvSpPr txBox="1"/>
          <p:nvPr/>
        </p:nvSpPr>
        <p:spPr>
          <a:xfrm>
            <a:off x="609277" y="1008086"/>
            <a:ext cx="4169477" cy="28638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ct val="104999"/>
              </a:lnSpc>
              <a:defRPr sz="1600">
                <a:solidFill>
                  <a:srgbClr val="111111"/>
                </a:solidFill>
              </a:defRPr>
            </a:pPr>
            <a:r>
              <a:t>• После выбора шага по времени решатель строит начальное условие и выполняет интегрирование по времени</a:t>
            </a:r>
          </a:p>
          <a:p>
            <a:pPr>
              <a:lnSpc>
                <a:spcPct val="104999"/>
              </a:lnSpc>
              <a:defRPr sz="1600">
                <a:solidFill>
                  <a:srgbClr val="111111"/>
                </a:solidFill>
              </a:defRPr>
            </a:pPr>
            <a:r>
              <a:t>• Вместо обычного Python-цикла используется jax.lax.scan</a:t>
            </a:r>
          </a:p>
          <a:p>
            <a:pPr>
              <a:lnSpc>
                <a:spcPct val="104999"/>
              </a:lnSpc>
              <a:defRPr sz="1600">
                <a:solidFill>
                  <a:srgbClr val="111111"/>
                </a:solidFill>
              </a:defRPr>
            </a:pPr>
            <a:r>
              <a:t>• Это делает реализацию JIT-совместимой и отделяет численный шаг от механики временного цикла</a:t>
            </a:r>
          </a:p>
        </p:txBody>
      </p:sp>
      <p:sp>
        <p:nvSpPr>
          <p:cNvPr id="151" name="Shape 2"/>
          <p:cNvSpPr/>
          <p:nvPr/>
        </p:nvSpPr>
        <p:spPr>
          <a:xfrm>
            <a:off x="4999166" y="1005839"/>
            <a:ext cx="6907068" cy="2680945"/>
          </a:xfrm>
          <a:prstGeom prst="roundRect">
            <a:avLst>
              <a:gd name="adj" fmla="val 0"/>
            </a:avLst>
          </a:prstGeom>
          <a:solidFill>
            <a:srgbClr val="151A22"/>
          </a:solidFill>
          <a:ln w="12700">
            <a:solidFill>
              <a:srgbClr val="2D3440"/>
            </a:solidFill>
          </a:ln>
          <a:effectLst>
            <a:outerShdw sx="100000" sy="100000" kx="0" ky="0" algn="b" rotWithShape="0" blurRad="12700" dist="12700" dir="2700000">
              <a:srgbClr val="000000">
                <a:alpha val="1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2" name="Text 3"/>
          <p:cNvSpPr txBox="1"/>
          <p:nvPr/>
        </p:nvSpPr>
        <p:spPr>
          <a:xfrm>
            <a:off x="5179567" y="1088419"/>
            <a:ext cx="497433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900">
                <a:solidFill>
                  <a:srgbClr val="96A0AD"/>
                </a:solidFill>
              </a:defRPr>
            </a:lvl1pPr>
          </a:lstStyle>
          <a:p>
            <a:pPr/>
            <a:r>
              <a:t>временной цикл</a:t>
            </a:r>
          </a:p>
        </p:txBody>
      </p:sp>
      <p:sp>
        <p:nvSpPr>
          <p:cNvPr id="153" name="Text 4"/>
          <p:cNvSpPr txBox="1"/>
          <p:nvPr/>
        </p:nvSpPr>
        <p:spPr>
          <a:xfrm>
            <a:off x="5145470" y="1225296"/>
            <a:ext cx="6614460" cy="2620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1 </a:t>
            </a:r>
            <a:r>
              <a:rPr>
                <a:solidFill>
                  <a:srgbClr val="FFFFFF"/>
                </a:solidFill>
              </a:rPr>
              <a:t>n_steps </a:t>
            </a:r>
            <a:r>
              <a:rPr>
                <a:solidFill>
                  <a:srgbClr val="F8F8F2"/>
                </a:solidFill>
              </a:rPr>
              <a:t>=</a:t>
            </a:r>
            <a:r>
              <a:rPr>
                <a:solidFill>
                  <a:srgbClr val="FFFFFF"/>
                </a:solidFill>
              </a:rPr>
              <a:t> int</a:t>
            </a:r>
            <a:r>
              <a:rPr>
                <a:solidFill>
                  <a:srgbClr val="F8F8F2"/>
                </a:solidFill>
              </a:rPr>
              <a:t>(</a:t>
            </a:r>
            <a:r>
              <a:rPr>
                <a:solidFill>
                  <a:srgbClr val="FFFFFF"/>
                </a:solidFill>
              </a:rPr>
              <a:t>round</a:t>
            </a:r>
            <a:r>
              <a:rPr>
                <a:solidFill>
                  <a:srgbClr val="F8F8F2"/>
                </a:solidFill>
              </a:rPr>
              <a:t>(</a:t>
            </a:r>
            <a:r>
              <a:rPr>
                <a:solidFill>
                  <a:srgbClr val="FFFFFF"/>
                </a:solidFill>
              </a:rPr>
              <a:t>T </a:t>
            </a:r>
            <a:r>
              <a:rPr>
                <a:solidFill>
                  <a:srgbClr val="F8F8F2"/>
                </a:solidFill>
              </a:rPr>
              <a:t>/</a:t>
            </a:r>
            <a:r>
              <a:rPr>
                <a:solidFill>
                  <a:srgbClr val="FFFFFF"/>
                </a:solidFill>
              </a:rPr>
              <a:t> dt</a:t>
            </a:r>
            <a:r>
              <a:rPr>
                <a:solidFill>
                  <a:srgbClr val="F8F8F2"/>
                </a:solidFill>
              </a:rPr>
              <a:t>))</a:t>
            </a:r>
            <a:endParaRPr>
              <a:solidFill>
                <a:srgbClr val="FFFFFF"/>
              </a:solidFill>
            </a:endParaRPr>
          </a:p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2 </a:t>
            </a:r>
            <a:r>
              <a:rPr>
                <a:solidFill>
                  <a:srgbClr val="66D9EF"/>
                </a:solidFill>
              </a:rPr>
              <a:t>if</a:t>
            </a:r>
            <a:r>
              <a:rPr>
                <a:solidFill>
                  <a:srgbClr val="FFFFFF"/>
                </a:solidFill>
              </a:rPr>
              <a:t> n_steps </a:t>
            </a:r>
            <a:r>
              <a:rPr>
                <a:solidFill>
                  <a:srgbClr val="F8F8F2"/>
                </a:solidFill>
              </a:rPr>
              <a:t>&lt;</a:t>
            </a:r>
            <a:r>
              <a:rPr>
                <a:solidFill>
                  <a:srgbClr val="FFFFFF"/>
                </a:solidFill>
              </a:rPr>
              <a:t> 1</a:t>
            </a:r>
            <a:r>
              <a:rPr>
                <a:solidFill>
                  <a:srgbClr val="F8F8F2"/>
                </a:solidFill>
              </a:rPr>
              <a:t>:</a:t>
            </a:r>
            <a:endParaRPr>
              <a:solidFill>
                <a:srgbClr val="FFFFFF"/>
              </a:solidFill>
            </a:endParaRPr>
          </a:p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3 </a:t>
            </a:r>
            <a:r>
              <a:rPr>
                <a:solidFill>
                  <a:srgbClr val="FFFFFF"/>
                </a:solidFill>
              </a:rPr>
              <a:t>    n_steps </a:t>
            </a:r>
            <a:r>
              <a:rPr>
                <a:solidFill>
                  <a:srgbClr val="F8F8F2"/>
                </a:solidFill>
              </a:rPr>
              <a:t>=</a:t>
            </a:r>
            <a:r>
              <a:rPr>
                <a:solidFill>
                  <a:srgbClr val="FFFFFF"/>
                </a:solidFill>
              </a:rPr>
              <a:t> 1</a:t>
            </a:r>
            <a:endParaRPr>
              <a:solidFill>
                <a:srgbClr val="FFFFFF"/>
              </a:solidFill>
            </a:endParaRPr>
          </a:p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4 </a:t>
            </a:r>
            <a:endParaRPr>
              <a:solidFill>
                <a:srgbClr val="FFFFFF"/>
              </a:solidFill>
            </a:endParaRPr>
          </a:p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5 </a:t>
            </a:r>
            <a:r>
              <a:rPr>
                <a:solidFill>
                  <a:srgbClr val="FFFFFF"/>
                </a:solidFill>
              </a:rPr>
              <a:t>u0 </a:t>
            </a:r>
            <a:r>
              <a:rPr>
                <a:solidFill>
                  <a:srgbClr val="F8F8F2"/>
                </a:solidFill>
              </a:rPr>
              <a:t>=</a:t>
            </a:r>
            <a:r>
              <a:rPr>
                <a:solidFill>
                  <a:srgbClr val="FFFFFF"/>
                </a:solidFill>
              </a:rPr>
              <a:t> create_initial_condition</a:t>
            </a:r>
            <a:r>
              <a:rPr>
                <a:solidFill>
                  <a:srgbClr val="F8F8F2"/>
                </a:solidFill>
              </a:rPr>
              <a:t>(</a:t>
            </a:r>
            <a:r>
              <a:rPr>
                <a:solidFill>
                  <a:srgbClr val="FFFFFF"/>
                </a:solidFill>
              </a:rPr>
              <a:t>Nx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Ny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Nz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Lx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Ly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Lz</a:t>
            </a:r>
            <a:r>
              <a:rPr>
                <a:solidFill>
                  <a:srgbClr val="F8F8F2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6 </a:t>
            </a:r>
            <a:endParaRPr>
              <a:solidFill>
                <a:srgbClr val="FFFFFF"/>
              </a:solidFill>
            </a:endParaRPr>
          </a:p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7 </a:t>
            </a:r>
            <a:r>
              <a:rPr>
                <a:solidFill>
                  <a:srgbClr val="66D9EF"/>
                </a:solidFill>
              </a:rPr>
              <a:t>def</a:t>
            </a:r>
            <a:r>
              <a:rPr>
                <a:solidFill>
                  <a:srgbClr val="FFFFFF"/>
                </a:solidFill>
              </a:rPr>
              <a:t> scan_body</a:t>
            </a:r>
            <a:r>
              <a:rPr>
                <a:solidFill>
                  <a:srgbClr val="F8F8F2"/>
                </a:solidFill>
              </a:rPr>
              <a:t>(</a:t>
            </a:r>
            <a:r>
              <a:rPr>
                <a:solidFill>
                  <a:srgbClr val="FFFFFF"/>
                </a:solidFill>
              </a:rPr>
              <a:t>carry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_</a:t>
            </a:r>
            <a:r>
              <a:rPr>
                <a:solidFill>
                  <a:srgbClr val="F8F8F2"/>
                </a:solidFill>
              </a:rPr>
              <a:t>):</a:t>
            </a:r>
            <a:endParaRPr>
              <a:solidFill>
                <a:srgbClr val="FFFFFF"/>
              </a:solidFill>
            </a:endParaRPr>
          </a:p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8 </a:t>
            </a:r>
            <a:r>
              <a:rPr>
                <a:solidFill>
                  <a:srgbClr val="FFFFFF"/>
                </a:solidFill>
              </a:rPr>
              <a:t>    </a:t>
            </a:r>
            <a:r>
              <a:rPr>
                <a:solidFill>
                  <a:srgbClr val="66D9EF"/>
                </a:solidFill>
              </a:rPr>
              <a:t>return</a:t>
            </a:r>
            <a:r>
              <a:rPr>
                <a:solidFill>
                  <a:srgbClr val="FFFFFF"/>
                </a:solidFill>
              </a:rPr>
              <a:t> euler_step</a:t>
            </a:r>
            <a:r>
              <a:rPr>
                <a:solidFill>
                  <a:srgbClr val="F8F8F2"/>
                </a:solidFill>
              </a:rPr>
              <a:t>(</a:t>
            </a:r>
            <a:r>
              <a:rPr>
                <a:solidFill>
                  <a:srgbClr val="FFFFFF"/>
                </a:solidFill>
              </a:rPr>
              <a:t>carry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dt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alpha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dx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dy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dz</a:t>
            </a:r>
            <a:r>
              <a:rPr>
                <a:solidFill>
                  <a:srgbClr val="F8F8F2"/>
                </a:solidFill>
              </a:rPr>
              <a:t>),</a:t>
            </a:r>
            <a:r>
              <a:rPr>
                <a:solidFill>
                  <a:srgbClr val="FFFFFF"/>
                </a:solidFill>
              </a:rPr>
              <a:t> </a:t>
            </a:r>
            <a:r>
              <a:rPr>
                <a:solidFill>
                  <a:srgbClr val="AE81FF"/>
                </a:solidFill>
              </a:rPr>
              <a:t>None</a:t>
            </a:r>
            <a:endParaRPr>
              <a:solidFill>
                <a:srgbClr val="FFFFFF"/>
              </a:solidFill>
            </a:endParaRPr>
          </a:p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9 </a:t>
            </a:r>
            <a:endParaRPr>
              <a:solidFill>
                <a:srgbClr val="FFFFFF"/>
              </a:solidFill>
            </a:endParaRPr>
          </a:p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10 </a:t>
            </a:r>
            <a:r>
              <a:rPr>
                <a:solidFill>
                  <a:srgbClr val="FFFFFF"/>
                </a:solidFill>
              </a:rPr>
              <a:t>final_u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_ </a:t>
            </a:r>
            <a:r>
              <a:rPr>
                <a:solidFill>
                  <a:srgbClr val="F8F8F2"/>
                </a:solidFill>
              </a:rPr>
              <a:t>=</a:t>
            </a:r>
            <a:r>
              <a:rPr>
                <a:solidFill>
                  <a:srgbClr val="FFFFFF"/>
                </a:solidFill>
              </a:rPr>
              <a:t> lax</a:t>
            </a:r>
            <a:r>
              <a:rPr>
                <a:solidFill>
                  <a:srgbClr val="F8F8F2"/>
                </a:solidFill>
              </a:rPr>
              <a:t>.</a:t>
            </a:r>
            <a:r>
              <a:rPr>
                <a:solidFill>
                  <a:srgbClr val="FFFFFF"/>
                </a:solidFill>
              </a:rPr>
              <a:t>scan</a:t>
            </a:r>
            <a:r>
              <a:rPr>
                <a:solidFill>
                  <a:srgbClr val="F8F8F2"/>
                </a:solidFill>
              </a:rPr>
              <a:t>(</a:t>
            </a:r>
            <a:r>
              <a:rPr>
                <a:solidFill>
                  <a:srgbClr val="FFFFFF"/>
                </a:solidFill>
              </a:rPr>
              <a:t>scan_body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u0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</a:t>
            </a:r>
            <a:r>
              <a:rPr>
                <a:solidFill>
                  <a:srgbClr val="AE81FF"/>
                </a:solidFill>
              </a:rPr>
              <a:t>None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length</a:t>
            </a:r>
            <a:r>
              <a:rPr>
                <a:solidFill>
                  <a:srgbClr val="F8F8F2"/>
                </a:solidFill>
              </a:rPr>
              <a:t>=</a:t>
            </a:r>
            <a:r>
              <a:rPr>
                <a:solidFill>
                  <a:srgbClr val="FFFFFF"/>
                </a:solidFill>
              </a:rPr>
              <a:t>n_steps</a:t>
            </a:r>
            <a:r>
              <a:rPr>
                <a:solidFill>
                  <a:srgbClr val="F8F8F2"/>
                </a:solidFill>
              </a:rPr>
              <a:t>)</a:t>
            </a:r>
          </a:p>
        </p:txBody>
      </p:sp>
      <p:sp>
        <p:nvSpPr>
          <p:cNvPr id="154" name="Shape 5"/>
          <p:cNvSpPr/>
          <p:nvPr/>
        </p:nvSpPr>
        <p:spPr>
          <a:xfrm>
            <a:off x="3200360" y="4498729"/>
            <a:ext cx="1371601" cy="566929"/>
          </a:xfrm>
          <a:prstGeom prst="roundRect">
            <a:avLst>
              <a:gd name="adj" fmla="val 16667"/>
            </a:avLst>
          </a:prstGeom>
          <a:solidFill>
            <a:srgbClr val="EAF1FF"/>
          </a:solidFill>
          <a:ln w="12700">
            <a:solidFill>
              <a:srgbClr val="D7DCE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5" name="Text 6"/>
          <p:cNvSpPr txBox="1"/>
          <p:nvPr/>
        </p:nvSpPr>
        <p:spPr>
          <a:xfrm>
            <a:off x="3273512" y="4571881"/>
            <a:ext cx="1225298" cy="4206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300">
                <a:solidFill>
                  <a:srgbClr val="111111"/>
                </a:solidFill>
              </a:defRPr>
            </a:lvl1pPr>
          </a:lstStyle>
          <a:p>
            <a:pPr/>
            <a:r>
              <a:t>u₀</a:t>
            </a:r>
          </a:p>
        </p:txBody>
      </p:sp>
      <p:sp>
        <p:nvSpPr>
          <p:cNvPr id="156" name="Shape 7"/>
          <p:cNvSpPr/>
          <p:nvPr/>
        </p:nvSpPr>
        <p:spPr>
          <a:xfrm>
            <a:off x="4983440" y="4498729"/>
            <a:ext cx="1783081" cy="566929"/>
          </a:xfrm>
          <a:prstGeom prst="roundRect">
            <a:avLst>
              <a:gd name="adj" fmla="val 16667"/>
            </a:avLst>
          </a:prstGeom>
          <a:solidFill>
            <a:srgbClr val="F0FDF4"/>
          </a:solidFill>
          <a:ln w="12700">
            <a:solidFill>
              <a:srgbClr val="D7DCE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7" name="Text 8"/>
          <p:cNvSpPr txBox="1"/>
          <p:nvPr/>
        </p:nvSpPr>
        <p:spPr>
          <a:xfrm>
            <a:off x="5056592" y="4571881"/>
            <a:ext cx="1636777" cy="4206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300">
                <a:solidFill>
                  <a:srgbClr val="111111"/>
                </a:solidFill>
              </a:defRPr>
            </a:lvl1pPr>
          </a:lstStyle>
          <a:p>
            <a:pPr/>
            <a:r>
              <a:t>scan_body</a:t>
            </a:r>
          </a:p>
        </p:txBody>
      </p:sp>
      <p:sp>
        <p:nvSpPr>
          <p:cNvPr id="158" name="Shape 9"/>
          <p:cNvSpPr/>
          <p:nvPr/>
        </p:nvSpPr>
        <p:spPr>
          <a:xfrm>
            <a:off x="7205433" y="4491972"/>
            <a:ext cx="1463041" cy="566929"/>
          </a:xfrm>
          <a:prstGeom prst="roundRect">
            <a:avLst>
              <a:gd name="adj" fmla="val 16667"/>
            </a:avLst>
          </a:prstGeom>
          <a:solidFill>
            <a:srgbClr val="FFF7ED"/>
          </a:solidFill>
          <a:ln w="12700">
            <a:solidFill>
              <a:srgbClr val="D7DCE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9" name="Text 10"/>
          <p:cNvSpPr txBox="1"/>
          <p:nvPr/>
        </p:nvSpPr>
        <p:spPr>
          <a:xfrm>
            <a:off x="7278584" y="4565124"/>
            <a:ext cx="1316737" cy="4206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300">
                <a:solidFill>
                  <a:srgbClr val="111111"/>
                </a:solidFill>
              </a:defRPr>
            </a:lvl1pPr>
          </a:lstStyle>
          <a:p>
            <a:pPr/>
            <a:r>
              <a:t>final_u</a:t>
            </a:r>
          </a:p>
        </p:txBody>
      </p:sp>
      <p:sp>
        <p:nvSpPr>
          <p:cNvPr id="160" name="Shape 11"/>
          <p:cNvSpPr/>
          <p:nvPr/>
        </p:nvSpPr>
        <p:spPr>
          <a:xfrm>
            <a:off x="4681689" y="4663321"/>
            <a:ext cx="164593" cy="256033"/>
          </a:xfrm>
          <a:prstGeom prst="chevron">
            <a:avLst>
              <a:gd name="adj" fmla="val 50000"/>
            </a:avLst>
          </a:prstGeom>
          <a:solidFill>
            <a:srgbClr val="2C8C69"/>
          </a:solidFill>
          <a:ln w="12700">
            <a:solidFill>
              <a:srgbClr val="2C8C6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1" name="Shape 12"/>
          <p:cNvSpPr/>
          <p:nvPr/>
        </p:nvSpPr>
        <p:spPr>
          <a:xfrm>
            <a:off x="6903680" y="4656564"/>
            <a:ext cx="164593" cy="256033"/>
          </a:xfrm>
          <a:prstGeom prst="chevron">
            <a:avLst>
              <a:gd name="adj" fmla="val 50000"/>
            </a:avLst>
          </a:prstGeom>
          <a:solidFill>
            <a:srgbClr val="2C8C69"/>
          </a:solidFill>
          <a:ln w="12700">
            <a:solidFill>
              <a:srgbClr val="2C8C6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2" name="Shape 13"/>
          <p:cNvSpPr/>
          <p:nvPr/>
        </p:nvSpPr>
        <p:spPr>
          <a:xfrm>
            <a:off x="594359" y="6473952"/>
            <a:ext cx="10972801" cy="1"/>
          </a:xfrm>
          <a:prstGeom prst="line">
            <a:avLst/>
          </a:prstGeom>
          <a:ln w="12700">
            <a:solidFill>
              <a:srgbClr val="D7DCE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3" name="Text 14"/>
          <p:cNvSpPr txBox="1"/>
          <p:nvPr/>
        </p:nvSpPr>
        <p:spPr>
          <a:xfrm>
            <a:off x="621791" y="6529323"/>
            <a:ext cx="10972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/>
            <a:r>
              <a:t>17.04.2026</a:t>
            </a:r>
          </a:p>
        </p:txBody>
      </p:sp>
      <p:sp>
        <p:nvSpPr>
          <p:cNvPr id="164" name="Text 15"/>
          <p:cNvSpPr txBox="1"/>
          <p:nvPr/>
        </p:nvSpPr>
        <p:spPr>
          <a:xfrm>
            <a:off x="11155680" y="6529323"/>
            <a:ext cx="3200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6B7280"/>
                </a:solidFill>
              </a:defRPr>
            </a:lvl1pPr>
          </a:lstStyle>
          <a:p>
            <a:pPr/>
            <a:r>
              <a:t>12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Text 0"/>
          <p:cNvSpPr txBox="1"/>
          <p:nvPr/>
        </p:nvSpPr>
        <p:spPr>
          <a:xfrm>
            <a:off x="658368" y="370168"/>
            <a:ext cx="10881360" cy="2837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000">
                <a:solidFill>
                  <a:srgbClr val="111111"/>
                </a:solidFill>
              </a:defRPr>
            </a:lvl1pPr>
          </a:lstStyle>
          <a:p>
            <a:pPr/>
            <a:r>
              <a:t>FDM: схема валидации и численные метрики</a:t>
            </a:r>
          </a:p>
        </p:txBody>
      </p:sp>
      <p:sp>
        <p:nvSpPr>
          <p:cNvPr id="167" name="Text 1"/>
          <p:cNvSpPr txBox="1"/>
          <p:nvPr/>
        </p:nvSpPr>
        <p:spPr>
          <a:xfrm>
            <a:off x="749808" y="914400"/>
            <a:ext cx="6675119" cy="2560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defTabSz="704087">
              <a:lnSpc>
                <a:spcPct val="104999"/>
              </a:lnSpc>
              <a:defRPr sz="1232">
                <a:solidFill>
                  <a:srgbClr val="111111"/>
                </a:solidFill>
              </a:defRPr>
            </a:lvl1pPr>
          </a:lstStyle>
          <a:p>
            <a:pPr/>
            <a:r>
              <a:t>Для FDM решение сравнивается с аналитическим эталоном на последовательности сеток.</a:t>
            </a:r>
          </a:p>
        </p:txBody>
      </p:sp>
      <p:pic>
        <p:nvPicPr>
          <p:cNvPr id="168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909559" y="710549"/>
            <a:ext cx="3154556" cy="411231"/>
          </a:xfrm>
          <a:prstGeom prst="rect">
            <a:avLst/>
          </a:prstGeom>
          <a:ln w="12700">
            <a:miter lim="400000"/>
          </a:ln>
        </p:spPr>
      </p:pic>
      <p:sp>
        <p:nvSpPr>
          <p:cNvPr id="169" name="Text 2"/>
          <p:cNvSpPr txBox="1"/>
          <p:nvPr/>
        </p:nvSpPr>
        <p:spPr>
          <a:xfrm>
            <a:off x="749807" y="1298447"/>
            <a:ext cx="10241282" cy="777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ct val="104999"/>
              </a:lnSpc>
              <a:defRPr sz="1500">
                <a:solidFill>
                  <a:srgbClr val="111111"/>
                </a:solidFill>
              </a:defRPr>
            </a:pPr>
            <a:r>
              <a:t>• для каждой сетки вычисляются абсолютные ошибки L₂ и L∞, относительная ошибка L₂ и шаг по времени dt</a:t>
            </a:r>
          </a:p>
          <a:p>
            <a:pPr>
              <a:lnSpc>
                <a:spcPct val="104999"/>
              </a:lnSpc>
              <a:defRPr sz="1500">
                <a:solidFill>
                  <a:srgbClr val="111111"/>
                </a:solidFill>
              </a:defRPr>
            </a:pPr>
            <a:r>
              <a:t>• при измельчении сетки ошибки монотонно уменьшаются</a:t>
            </a:r>
          </a:p>
        </p:txBody>
      </p:sp>
      <p:graphicFrame>
        <p:nvGraphicFramePr>
          <p:cNvPr id="170" name="Table 0"/>
          <p:cNvGraphicFramePr/>
          <p:nvPr/>
        </p:nvGraphicFramePr>
        <p:xfrm>
          <a:off x="1005839" y="2148839"/>
          <a:ext cx="9692641" cy="2057401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1234440"/>
                <a:gridCol w="2194560"/>
                <a:gridCol w="2194560"/>
                <a:gridCol w="2240280"/>
                <a:gridCol w="182880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500">
                          <a:solidFill>
                            <a:srgbClr val="111111"/>
                          </a:solidFill>
                        </a:rPr>
                        <a:t>Сетка</a:t>
                      </a:r>
                    </a:p>
                  </a:txBody>
                  <a:tcPr marL="54864" marR="54864" marT="54864" marB="54864" anchor="t" anchorCtr="0" horzOverflow="overflow">
                    <a:lnL w="12700">
                      <a:solidFill>
                        <a:srgbClr val="D7DCE2"/>
                      </a:solidFill>
                    </a:lnL>
                    <a:lnR w="12700">
                      <a:solidFill>
                        <a:srgbClr val="D7DCE2"/>
                      </a:solidFill>
                    </a:lnR>
                    <a:lnT w="12700">
                      <a:solidFill>
                        <a:srgbClr val="D7DCE2"/>
                      </a:solidFill>
                    </a:lnT>
                    <a:lnB w="12700">
                      <a:solidFill>
                        <a:srgbClr val="D7DC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500">
                          <a:solidFill>
                            <a:srgbClr val="111111"/>
                          </a:solidFill>
                        </a:rPr>
                        <a:t>L₂</a:t>
                      </a:r>
                    </a:p>
                  </a:txBody>
                  <a:tcPr marL="54864" marR="54864" marT="54864" marB="54864" anchor="t" anchorCtr="0" horzOverflow="overflow">
                    <a:lnL w="12700">
                      <a:solidFill>
                        <a:srgbClr val="D7DCE2"/>
                      </a:solidFill>
                    </a:lnL>
                    <a:lnR w="12700">
                      <a:solidFill>
                        <a:srgbClr val="D7DCE2"/>
                      </a:solidFill>
                    </a:lnR>
                    <a:lnT w="12700">
                      <a:solidFill>
                        <a:srgbClr val="D7DCE2"/>
                      </a:solidFill>
                    </a:lnT>
                    <a:lnB w="12700">
                      <a:solidFill>
                        <a:srgbClr val="D7DC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500">
                          <a:solidFill>
                            <a:srgbClr val="111111"/>
                          </a:solidFill>
                        </a:rPr>
                        <a:t>L∞</a:t>
                      </a:r>
                    </a:p>
                  </a:txBody>
                  <a:tcPr marL="54864" marR="54864" marT="54864" marB="54864" anchor="t" anchorCtr="0" horzOverflow="overflow">
                    <a:lnL w="12700">
                      <a:solidFill>
                        <a:srgbClr val="D7DCE2"/>
                      </a:solidFill>
                    </a:lnL>
                    <a:lnR w="12700">
                      <a:solidFill>
                        <a:srgbClr val="D7DCE2"/>
                      </a:solidFill>
                    </a:lnR>
                    <a:lnT w="12700">
                      <a:solidFill>
                        <a:srgbClr val="D7DCE2"/>
                      </a:solidFill>
                    </a:lnT>
                    <a:lnB w="12700">
                      <a:solidFill>
                        <a:srgbClr val="D7DC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500">
                          <a:solidFill>
                            <a:srgbClr val="111111"/>
                          </a:solidFill>
                        </a:rPr>
                        <a:t>rel L₂</a:t>
                      </a:r>
                    </a:p>
                  </a:txBody>
                  <a:tcPr marL="54864" marR="54864" marT="54864" marB="54864" anchor="t" anchorCtr="0" horzOverflow="overflow">
                    <a:lnL w="12700">
                      <a:solidFill>
                        <a:srgbClr val="D7DCE2"/>
                      </a:solidFill>
                    </a:lnL>
                    <a:lnR w="12700">
                      <a:solidFill>
                        <a:srgbClr val="D7DCE2"/>
                      </a:solidFill>
                    </a:lnR>
                    <a:lnT w="12700">
                      <a:solidFill>
                        <a:srgbClr val="D7DCE2"/>
                      </a:solidFill>
                    </a:lnT>
                    <a:lnB w="12700">
                      <a:solidFill>
                        <a:srgbClr val="D7DC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500">
                          <a:solidFill>
                            <a:srgbClr val="111111"/>
                          </a:solidFill>
                        </a:rPr>
                        <a:t>dt</a:t>
                      </a:r>
                    </a:p>
                  </a:txBody>
                  <a:tcPr marL="54864" marR="54864" marT="54864" marB="54864" anchor="t" anchorCtr="0" horzOverflow="overflow">
                    <a:lnL w="12700">
                      <a:solidFill>
                        <a:srgbClr val="D7DCE2"/>
                      </a:solidFill>
                    </a:lnL>
                    <a:lnR w="12700">
                      <a:solidFill>
                        <a:srgbClr val="D7DCE2"/>
                      </a:solidFill>
                    </a:lnR>
                    <a:lnT w="12700">
                      <a:solidFill>
                        <a:srgbClr val="D7DCE2"/>
                      </a:solidFill>
                    </a:lnT>
                    <a:lnB w="12700">
                      <a:solidFill>
                        <a:srgbClr val="D7DCE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500">
                          <a:solidFill>
                            <a:srgbClr val="111111"/>
                          </a:solidFill>
                        </a:rPr>
                        <a:t>11³</a:t>
                      </a:r>
                    </a:p>
                  </a:txBody>
                  <a:tcPr marL="54864" marR="54864" marT="54864" marB="54864" anchor="t" anchorCtr="0" horzOverflow="overflow">
                    <a:lnL w="12700">
                      <a:solidFill>
                        <a:srgbClr val="D7DCE2"/>
                      </a:solidFill>
                    </a:lnL>
                    <a:lnR w="12700">
                      <a:solidFill>
                        <a:srgbClr val="D7DCE2"/>
                      </a:solidFill>
                    </a:lnR>
                    <a:lnT w="12700">
                      <a:solidFill>
                        <a:srgbClr val="D7DCE2"/>
                      </a:solidFill>
                    </a:lnT>
                    <a:lnB w="12700">
                      <a:solidFill>
                        <a:srgbClr val="D7DC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500">
                          <a:solidFill>
                            <a:srgbClr val="111111"/>
                          </a:solidFill>
                        </a:rPr>
                        <a:t>2.73e-04</a:t>
                      </a:r>
                    </a:p>
                  </a:txBody>
                  <a:tcPr marL="54864" marR="54864" marT="54864" marB="54864" anchor="t" anchorCtr="0" horzOverflow="overflow">
                    <a:lnL w="12700">
                      <a:solidFill>
                        <a:srgbClr val="D7DCE2"/>
                      </a:solidFill>
                    </a:lnL>
                    <a:lnR w="12700">
                      <a:solidFill>
                        <a:srgbClr val="D7DCE2"/>
                      </a:solidFill>
                    </a:lnR>
                    <a:lnT w="12700">
                      <a:solidFill>
                        <a:srgbClr val="D7DCE2"/>
                      </a:solidFill>
                    </a:lnT>
                    <a:lnB w="12700">
                      <a:solidFill>
                        <a:srgbClr val="D7DC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500">
                          <a:solidFill>
                            <a:srgbClr val="111111"/>
                          </a:solidFill>
                        </a:rPr>
                        <a:t>8.91e-04</a:t>
                      </a:r>
                    </a:p>
                  </a:txBody>
                  <a:tcPr marL="54864" marR="54864" marT="54864" marB="54864" anchor="t" anchorCtr="0" horzOverflow="overflow">
                    <a:lnL w="12700">
                      <a:solidFill>
                        <a:srgbClr val="D7DCE2"/>
                      </a:solidFill>
                    </a:lnL>
                    <a:lnR w="12700">
                      <a:solidFill>
                        <a:srgbClr val="D7DCE2"/>
                      </a:solidFill>
                    </a:lnR>
                    <a:lnT w="12700">
                      <a:solidFill>
                        <a:srgbClr val="D7DCE2"/>
                      </a:solidFill>
                    </a:lnT>
                    <a:lnB w="12700">
                      <a:solidFill>
                        <a:srgbClr val="D7DC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500">
                          <a:solidFill>
                            <a:srgbClr val="111111"/>
                          </a:solidFill>
                        </a:rPr>
                        <a:t>5.27e-03</a:t>
                      </a:r>
                    </a:p>
                  </a:txBody>
                  <a:tcPr marL="54864" marR="54864" marT="54864" marB="54864" anchor="t" anchorCtr="0" horzOverflow="overflow">
                    <a:lnL w="12700">
                      <a:solidFill>
                        <a:srgbClr val="D7DCE2"/>
                      </a:solidFill>
                    </a:lnL>
                    <a:lnR w="12700">
                      <a:solidFill>
                        <a:srgbClr val="D7DCE2"/>
                      </a:solidFill>
                    </a:lnR>
                    <a:lnT w="12700">
                      <a:solidFill>
                        <a:srgbClr val="D7DCE2"/>
                      </a:solidFill>
                    </a:lnT>
                    <a:lnB w="12700">
                      <a:solidFill>
                        <a:srgbClr val="D7DC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500">
                          <a:solidFill>
                            <a:srgbClr val="111111"/>
                          </a:solidFill>
                        </a:rPr>
                        <a:t>1.67e-04</a:t>
                      </a:r>
                    </a:p>
                  </a:txBody>
                  <a:tcPr marL="54864" marR="54864" marT="54864" marB="54864" anchor="t" anchorCtr="0" horzOverflow="overflow">
                    <a:lnL w="12700">
                      <a:solidFill>
                        <a:srgbClr val="D7DCE2"/>
                      </a:solidFill>
                    </a:lnL>
                    <a:lnR w="12700">
                      <a:solidFill>
                        <a:srgbClr val="D7DCE2"/>
                      </a:solidFill>
                    </a:lnR>
                    <a:lnT w="12700">
                      <a:solidFill>
                        <a:srgbClr val="D7DCE2"/>
                      </a:solidFill>
                    </a:lnT>
                    <a:lnB w="12700">
                      <a:solidFill>
                        <a:srgbClr val="D7DCE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500">
                          <a:solidFill>
                            <a:srgbClr val="111111"/>
                          </a:solidFill>
                        </a:rPr>
                        <a:t>21³</a:t>
                      </a:r>
                    </a:p>
                  </a:txBody>
                  <a:tcPr marL="54864" marR="54864" marT="54864" marB="54864" anchor="t" anchorCtr="0" horzOverflow="overflow">
                    <a:lnL w="12700">
                      <a:solidFill>
                        <a:srgbClr val="D7DCE2"/>
                      </a:solidFill>
                    </a:lnL>
                    <a:lnR w="12700">
                      <a:solidFill>
                        <a:srgbClr val="D7DCE2"/>
                      </a:solidFill>
                    </a:lnR>
                    <a:lnT w="12700">
                      <a:solidFill>
                        <a:srgbClr val="D7DCE2"/>
                      </a:solidFill>
                    </a:lnT>
                    <a:lnB w="12700">
                      <a:solidFill>
                        <a:srgbClr val="D7DC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500">
                          <a:solidFill>
                            <a:srgbClr val="111111"/>
                          </a:solidFill>
                        </a:rPr>
                        <a:t>7.27e-05</a:t>
                      </a:r>
                    </a:p>
                  </a:txBody>
                  <a:tcPr marL="54864" marR="54864" marT="54864" marB="54864" anchor="t" anchorCtr="0" horzOverflow="overflow">
                    <a:lnL w="12700">
                      <a:solidFill>
                        <a:srgbClr val="D7DCE2"/>
                      </a:solidFill>
                    </a:lnL>
                    <a:lnR w="12700">
                      <a:solidFill>
                        <a:srgbClr val="D7DCE2"/>
                      </a:solidFill>
                    </a:lnR>
                    <a:lnT w="12700">
                      <a:solidFill>
                        <a:srgbClr val="D7DCE2"/>
                      </a:solidFill>
                    </a:lnT>
                    <a:lnB w="12700">
                      <a:solidFill>
                        <a:srgbClr val="D7DC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500">
                          <a:solidFill>
                            <a:srgbClr val="111111"/>
                          </a:solidFill>
                        </a:rPr>
                        <a:t>2.21e-04</a:t>
                      </a:r>
                    </a:p>
                  </a:txBody>
                  <a:tcPr marL="54864" marR="54864" marT="54864" marB="54864" anchor="t" anchorCtr="0" horzOverflow="overflow">
                    <a:lnL w="12700">
                      <a:solidFill>
                        <a:srgbClr val="D7DCE2"/>
                      </a:solidFill>
                    </a:lnL>
                    <a:lnR w="12700">
                      <a:solidFill>
                        <a:srgbClr val="D7DCE2"/>
                      </a:solidFill>
                    </a:lnR>
                    <a:lnT w="12700">
                      <a:solidFill>
                        <a:srgbClr val="D7DCE2"/>
                      </a:solidFill>
                    </a:lnT>
                    <a:lnB w="12700">
                      <a:solidFill>
                        <a:srgbClr val="D7DC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500">
                          <a:solidFill>
                            <a:srgbClr val="111111"/>
                          </a:solidFill>
                        </a:rPr>
                        <a:t>1.40e-03</a:t>
                      </a:r>
                    </a:p>
                  </a:txBody>
                  <a:tcPr marL="54864" marR="54864" marT="54864" marB="54864" anchor="t" anchorCtr="0" horzOverflow="overflow">
                    <a:lnL w="12700">
                      <a:solidFill>
                        <a:srgbClr val="D7DCE2"/>
                      </a:solidFill>
                    </a:lnL>
                    <a:lnR w="12700">
                      <a:solidFill>
                        <a:srgbClr val="D7DCE2"/>
                      </a:solidFill>
                    </a:lnR>
                    <a:lnT w="12700">
                      <a:solidFill>
                        <a:srgbClr val="D7DCE2"/>
                      </a:solidFill>
                    </a:lnT>
                    <a:lnB w="12700">
                      <a:solidFill>
                        <a:srgbClr val="D7DC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500">
                          <a:solidFill>
                            <a:srgbClr val="111111"/>
                          </a:solidFill>
                        </a:rPr>
                        <a:t>4.17e-05</a:t>
                      </a:r>
                    </a:p>
                  </a:txBody>
                  <a:tcPr marL="54864" marR="54864" marT="54864" marB="54864" anchor="t" anchorCtr="0" horzOverflow="overflow">
                    <a:lnL w="12700">
                      <a:solidFill>
                        <a:srgbClr val="D7DCE2"/>
                      </a:solidFill>
                    </a:lnL>
                    <a:lnR w="12700">
                      <a:solidFill>
                        <a:srgbClr val="D7DCE2"/>
                      </a:solidFill>
                    </a:lnR>
                    <a:lnT w="12700">
                      <a:solidFill>
                        <a:srgbClr val="D7DCE2"/>
                      </a:solidFill>
                    </a:lnT>
                    <a:lnB w="12700">
                      <a:solidFill>
                        <a:srgbClr val="D7DCE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500">
                          <a:solidFill>
                            <a:srgbClr val="111111"/>
                          </a:solidFill>
                        </a:rPr>
                        <a:t>31³</a:t>
                      </a:r>
                    </a:p>
                  </a:txBody>
                  <a:tcPr marL="54864" marR="54864" marT="54864" marB="54864" anchor="t" anchorCtr="0" horzOverflow="overflow">
                    <a:lnL w="12700">
                      <a:solidFill>
                        <a:srgbClr val="D7DCE2"/>
                      </a:solidFill>
                    </a:lnL>
                    <a:lnR w="12700">
                      <a:solidFill>
                        <a:srgbClr val="D7DCE2"/>
                      </a:solidFill>
                    </a:lnR>
                    <a:lnT w="12700">
                      <a:solidFill>
                        <a:srgbClr val="D7DCE2"/>
                      </a:solidFill>
                    </a:lnT>
                    <a:lnB w="12700">
                      <a:solidFill>
                        <a:srgbClr val="D7DC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500">
                          <a:solidFill>
                            <a:srgbClr val="111111"/>
                          </a:solidFill>
                        </a:rPr>
                        <a:t>3.30e-05</a:t>
                      </a:r>
                    </a:p>
                  </a:txBody>
                  <a:tcPr marL="54864" marR="54864" marT="54864" marB="54864" anchor="t" anchorCtr="0" horzOverflow="overflow">
                    <a:lnL w="12700">
                      <a:solidFill>
                        <a:srgbClr val="D7DCE2"/>
                      </a:solidFill>
                    </a:lnL>
                    <a:lnR w="12700">
                      <a:solidFill>
                        <a:srgbClr val="D7DCE2"/>
                      </a:solidFill>
                    </a:lnR>
                    <a:lnT w="12700">
                      <a:solidFill>
                        <a:srgbClr val="D7DCE2"/>
                      </a:solidFill>
                    </a:lnT>
                    <a:lnB w="12700">
                      <a:solidFill>
                        <a:srgbClr val="D7DC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500">
                          <a:solidFill>
                            <a:srgbClr val="111111"/>
                          </a:solidFill>
                        </a:rPr>
                        <a:t>9.82e-05</a:t>
                      </a:r>
                    </a:p>
                  </a:txBody>
                  <a:tcPr marL="54864" marR="54864" marT="54864" marB="54864" anchor="t" anchorCtr="0" horzOverflow="overflow">
                    <a:lnL w="12700">
                      <a:solidFill>
                        <a:srgbClr val="D7DCE2"/>
                      </a:solidFill>
                    </a:lnL>
                    <a:lnR w="12700">
                      <a:solidFill>
                        <a:srgbClr val="D7DCE2"/>
                      </a:solidFill>
                    </a:lnR>
                    <a:lnT w="12700">
                      <a:solidFill>
                        <a:srgbClr val="D7DCE2"/>
                      </a:solidFill>
                    </a:lnT>
                    <a:lnB w="12700">
                      <a:solidFill>
                        <a:srgbClr val="D7DC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500">
                          <a:solidFill>
                            <a:srgbClr val="111111"/>
                          </a:solidFill>
                        </a:rPr>
                        <a:t>6.38e-04</a:t>
                      </a:r>
                    </a:p>
                  </a:txBody>
                  <a:tcPr marL="54864" marR="54864" marT="54864" marB="54864" anchor="t" anchorCtr="0" horzOverflow="overflow">
                    <a:lnL w="12700">
                      <a:solidFill>
                        <a:srgbClr val="D7DCE2"/>
                      </a:solidFill>
                    </a:lnL>
                    <a:lnR w="12700">
                      <a:solidFill>
                        <a:srgbClr val="D7DCE2"/>
                      </a:solidFill>
                    </a:lnR>
                    <a:lnT w="12700">
                      <a:solidFill>
                        <a:srgbClr val="D7DCE2"/>
                      </a:solidFill>
                    </a:lnT>
                    <a:lnB w="12700">
                      <a:solidFill>
                        <a:srgbClr val="D7DC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500">
                          <a:solidFill>
                            <a:srgbClr val="111111"/>
                          </a:solidFill>
                        </a:rPr>
                        <a:t>1.85e-05</a:t>
                      </a:r>
                    </a:p>
                  </a:txBody>
                  <a:tcPr marL="54864" marR="54864" marT="54864" marB="54864" anchor="t" anchorCtr="0" horzOverflow="overflow">
                    <a:lnL w="12700">
                      <a:solidFill>
                        <a:srgbClr val="D7DCE2"/>
                      </a:solidFill>
                    </a:lnL>
                    <a:lnR w="12700">
                      <a:solidFill>
                        <a:srgbClr val="D7DCE2"/>
                      </a:solidFill>
                    </a:lnR>
                    <a:lnT w="12700">
                      <a:solidFill>
                        <a:srgbClr val="D7DCE2"/>
                      </a:solidFill>
                    </a:lnT>
                    <a:lnB w="12700">
                      <a:solidFill>
                        <a:srgbClr val="D7DCE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500">
                          <a:solidFill>
                            <a:srgbClr val="111111"/>
                          </a:solidFill>
                        </a:rPr>
                        <a:t>41³</a:t>
                      </a:r>
                    </a:p>
                  </a:txBody>
                  <a:tcPr marL="54864" marR="54864" marT="54864" marB="54864" anchor="t" anchorCtr="0" horzOverflow="overflow">
                    <a:lnL w="12700">
                      <a:solidFill>
                        <a:srgbClr val="D7DCE2"/>
                      </a:solidFill>
                    </a:lnL>
                    <a:lnR w="12700">
                      <a:solidFill>
                        <a:srgbClr val="D7DCE2"/>
                      </a:solidFill>
                    </a:lnR>
                    <a:lnT w="12700">
                      <a:solidFill>
                        <a:srgbClr val="D7DCE2"/>
                      </a:solidFill>
                    </a:lnT>
                    <a:lnB w="12700">
                      <a:solidFill>
                        <a:srgbClr val="D7DC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500">
                          <a:solidFill>
                            <a:srgbClr val="111111"/>
                          </a:solidFill>
                        </a:rPr>
                        <a:t>1.88e-05</a:t>
                      </a:r>
                    </a:p>
                  </a:txBody>
                  <a:tcPr marL="54864" marR="54864" marT="54864" marB="54864" anchor="t" anchorCtr="0" horzOverflow="overflow">
                    <a:lnL w="12700">
                      <a:solidFill>
                        <a:srgbClr val="D7DCE2"/>
                      </a:solidFill>
                    </a:lnL>
                    <a:lnR w="12700">
                      <a:solidFill>
                        <a:srgbClr val="D7DCE2"/>
                      </a:solidFill>
                    </a:lnR>
                    <a:lnT w="12700">
                      <a:solidFill>
                        <a:srgbClr val="D7DCE2"/>
                      </a:solidFill>
                    </a:lnT>
                    <a:lnB w="12700">
                      <a:solidFill>
                        <a:srgbClr val="D7DC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500">
                          <a:solidFill>
                            <a:srgbClr val="111111"/>
                          </a:solidFill>
                        </a:rPr>
                        <a:t>5.52e-05</a:t>
                      </a:r>
                    </a:p>
                  </a:txBody>
                  <a:tcPr marL="54864" marR="54864" marT="54864" marB="54864" anchor="t" anchorCtr="0" horzOverflow="overflow">
                    <a:lnL w="12700">
                      <a:solidFill>
                        <a:srgbClr val="D7DCE2"/>
                      </a:solidFill>
                    </a:lnL>
                    <a:lnR w="12700">
                      <a:solidFill>
                        <a:srgbClr val="D7DCE2"/>
                      </a:solidFill>
                    </a:lnR>
                    <a:lnT w="12700">
                      <a:solidFill>
                        <a:srgbClr val="D7DCE2"/>
                      </a:solidFill>
                    </a:lnT>
                    <a:lnB w="12700">
                      <a:solidFill>
                        <a:srgbClr val="D7DC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500">
                          <a:solidFill>
                            <a:srgbClr val="111111"/>
                          </a:solidFill>
                        </a:rPr>
                        <a:t>3.63e-04</a:t>
                      </a:r>
                    </a:p>
                  </a:txBody>
                  <a:tcPr marL="54864" marR="54864" marT="54864" marB="54864" anchor="t" anchorCtr="0" horzOverflow="overflow">
                    <a:lnL w="12700">
                      <a:solidFill>
                        <a:srgbClr val="D7DCE2"/>
                      </a:solidFill>
                    </a:lnL>
                    <a:lnR w="12700">
                      <a:solidFill>
                        <a:srgbClr val="D7DCE2"/>
                      </a:solidFill>
                    </a:lnR>
                    <a:lnT w="12700">
                      <a:solidFill>
                        <a:srgbClr val="D7DCE2"/>
                      </a:solidFill>
                    </a:lnT>
                    <a:lnB w="12700">
                      <a:solidFill>
                        <a:srgbClr val="D7DC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500">
                          <a:solidFill>
                            <a:srgbClr val="111111"/>
                          </a:solidFill>
                        </a:rPr>
                        <a:t>1.04e-05</a:t>
                      </a:r>
                    </a:p>
                  </a:txBody>
                  <a:tcPr marL="54864" marR="54864" marT="54864" marB="54864" anchor="t" anchorCtr="0" horzOverflow="overflow">
                    <a:lnL w="12700">
                      <a:solidFill>
                        <a:srgbClr val="D7DCE2"/>
                      </a:solidFill>
                    </a:lnL>
                    <a:lnR w="12700">
                      <a:solidFill>
                        <a:srgbClr val="D7DCE2"/>
                      </a:solidFill>
                    </a:lnR>
                    <a:lnT w="12700">
                      <a:solidFill>
                        <a:srgbClr val="D7DCE2"/>
                      </a:solidFill>
                    </a:lnT>
                    <a:lnB w="12700">
                      <a:solidFill>
                        <a:srgbClr val="D7DCE2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1" name="Shape 3"/>
          <p:cNvSpPr/>
          <p:nvPr/>
        </p:nvSpPr>
        <p:spPr>
          <a:xfrm>
            <a:off x="1005839" y="4892040"/>
            <a:ext cx="10149842" cy="640081"/>
          </a:xfrm>
          <a:prstGeom prst="roundRect">
            <a:avLst>
              <a:gd name="adj" fmla="val 16667"/>
            </a:avLst>
          </a:prstGeom>
          <a:solidFill>
            <a:srgbClr val="EAF5F1"/>
          </a:solidFill>
          <a:ln w="12700">
            <a:solidFill>
              <a:srgbClr val="CFE5D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2" name="Text 4"/>
          <p:cNvSpPr txBox="1"/>
          <p:nvPr/>
        </p:nvSpPr>
        <p:spPr>
          <a:xfrm>
            <a:off x="1234440" y="5065776"/>
            <a:ext cx="9738360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 algn="ctr" defTabSz="704087">
              <a:lnSpc>
                <a:spcPct val="104999"/>
              </a:lnSpc>
              <a:defRPr sz="1154">
                <a:solidFill>
                  <a:srgbClr val="111111"/>
                </a:solidFill>
              </a:defRPr>
            </a:pPr>
            <a:r>
              <a:t>Наблюдение: при измельчении сетки ошибки уменьшаются монотонно, что согласуется</a:t>
            </a:r>
          </a:p>
          <a:p>
            <a:pPr algn="ctr" defTabSz="704087">
              <a:lnSpc>
                <a:spcPct val="104999"/>
              </a:lnSpc>
              <a:defRPr sz="1154">
                <a:solidFill>
                  <a:srgbClr val="111111"/>
                </a:solidFill>
              </a:defRPr>
            </a:pPr>
            <a:r>
              <a:t>с корректной реализацией схемы.</a:t>
            </a:r>
          </a:p>
        </p:txBody>
      </p:sp>
      <p:sp>
        <p:nvSpPr>
          <p:cNvPr id="173" name="Shape 5"/>
          <p:cNvSpPr/>
          <p:nvPr/>
        </p:nvSpPr>
        <p:spPr>
          <a:xfrm>
            <a:off x="594359" y="6473952"/>
            <a:ext cx="10972801" cy="1"/>
          </a:xfrm>
          <a:prstGeom prst="line">
            <a:avLst/>
          </a:prstGeom>
          <a:ln w="12700">
            <a:solidFill>
              <a:srgbClr val="D7DCE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4" name="Text 6"/>
          <p:cNvSpPr txBox="1"/>
          <p:nvPr/>
        </p:nvSpPr>
        <p:spPr>
          <a:xfrm>
            <a:off x="621791" y="6529323"/>
            <a:ext cx="10972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/>
            <a:r>
              <a:t>17.04.2026</a:t>
            </a:r>
          </a:p>
        </p:txBody>
      </p:sp>
      <p:sp>
        <p:nvSpPr>
          <p:cNvPr id="175" name="Text 7"/>
          <p:cNvSpPr txBox="1"/>
          <p:nvPr/>
        </p:nvSpPr>
        <p:spPr>
          <a:xfrm>
            <a:off x="11155680" y="6529323"/>
            <a:ext cx="3200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6B7280"/>
                </a:solidFill>
              </a:defRPr>
            </a:lvl1pPr>
          </a:lstStyle>
          <a:p>
            <a:pPr/>
            <a:r>
              <a:t>13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Text 0"/>
          <p:cNvSpPr txBox="1"/>
          <p:nvPr/>
        </p:nvSpPr>
        <p:spPr>
          <a:xfrm>
            <a:off x="658368" y="370168"/>
            <a:ext cx="10881360" cy="2837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000">
                <a:solidFill>
                  <a:srgbClr val="111111"/>
                </a:solidFill>
              </a:defRPr>
            </a:lvl1pPr>
          </a:lstStyle>
          <a:p>
            <a:pPr/>
            <a:r>
              <a:t>FDM: визуальное сравнение с точным решением</a:t>
            </a:r>
          </a:p>
        </p:txBody>
      </p:sp>
      <p:sp>
        <p:nvSpPr>
          <p:cNvPr id="178" name="Text 1"/>
          <p:cNvSpPr txBox="1"/>
          <p:nvPr/>
        </p:nvSpPr>
        <p:spPr>
          <a:xfrm>
            <a:off x="749807" y="914400"/>
            <a:ext cx="10149842" cy="11887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ct val="104999"/>
              </a:lnSpc>
              <a:defRPr sz="1600">
                <a:solidFill>
                  <a:srgbClr val="111111"/>
                </a:solidFill>
              </a:defRPr>
            </a:pPr>
            <a:r>
              <a:t>• Сравниваются точное решение, численное решение FDM и карта абсолютной ошибки для t = 0.1</a:t>
            </a:r>
          </a:p>
          <a:p>
            <a:pPr>
              <a:lnSpc>
                <a:spcPct val="104999"/>
              </a:lnSpc>
              <a:defRPr sz="1600">
                <a:solidFill>
                  <a:srgbClr val="111111"/>
                </a:solidFill>
              </a:defRPr>
            </a:pPr>
            <a:r>
              <a:t>• Форма численного решения практически совпадает с аналитическим эталоном</a:t>
            </a:r>
          </a:p>
          <a:p>
            <a:pPr>
              <a:lnSpc>
                <a:spcPct val="104999"/>
              </a:lnSpc>
              <a:defRPr sz="1600">
                <a:solidFill>
                  <a:srgbClr val="111111"/>
                </a:solidFill>
              </a:defRPr>
            </a:pPr>
            <a:r>
              <a:t>• Ошибка мала на всей области и не искажает структуру решения</a:t>
            </a:r>
          </a:p>
        </p:txBody>
      </p:sp>
      <p:sp>
        <p:nvSpPr>
          <p:cNvPr id="179" name="Shape 7"/>
          <p:cNvSpPr/>
          <p:nvPr/>
        </p:nvSpPr>
        <p:spPr>
          <a:xfrm>
            <a:off x="594359" y="6473952"/>
            <a:ext cx="10972801" cy="1"/>
          </a:xfrm>
          <a:prstGeom prst="line">
            <a:avLst/>
          </a:prstGeom>
          <a:ln w="12700">
            <a:solidFill>
              <a:srgbClr val="D7DCE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0" name="Text 8"/>
          <p:cNvSpPr txBox="1"/>
          <p:nvPr/>
        </p:nvSpPr>
        <p:spPr>
          <a:xfrm>
            <a:off x="621791" y="6529323"/>
            <a:ext cx="10972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/>
            <a:r>
              <a:t>17.04.2026</a:t>
            </a:r>
          </a:p>
        </p:txBody>
      </p:sp>
      <p:sp>
        <p:nvSpPr>
          <p:cNvPr id="181" name="Text 9"/>
          <p:cNvSpPr txBox="1"/>
          <p:nvPr/>
        </p:nvSpPr>
        <p:spPr>
          <a:xfrm>
            <a:off x="11155680" y="6529323"/>
            <a:ext cx="3200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6B7280"/>
                </a:solidFill>
              </a:defRPr>
            </a:lvl1pPr>
          </a:lstStyle>
          <a:p>
            <a:pPr/>
            <a:r>
              <a:t>14</a:t>
            </a:r>
          </a:p>
        </p:txBody>
      </p:sp>
      <p:pic>
        <p:nvPicPr>
          <p:cNvPr id="182" name="fdm_slice_t_0_1.png" descr="fdm_slice_t_0_1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12679" y="2453981"/>
            <a:ext cx="10972800" cy="366258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Text 0"/>
          <p:cNvSpPr txBox="1"/>
          <p:nvPr/>
        </p:nvSpPr>
        <p:spPr>
          <a:xfrm>
            <a:off x="658368" y="370168"/>
            <a:ext cx="10881360" cy="2837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000">
                <a:solidFill>
                  <a:srgbClr val="111111"/>
                </a:solidFill>
              </a:defRPr>
            </a:lvl1pPr>
          </a:lstStyle>
          <a:p>
            <a:pPr/>
            <a:r>
              <a:t>FDM: исследование сходимости</a:t>
            </a:r>
          </a:p>
        </p:txBody>
      </p:sp>
      <p:sp>
        <p:nvSpPr>
          <p:cNvPr id="185" name="Text 1"/>
          <p:cNvSpPr txBox="1"/>
          <p:nvPr/>
        </p:nvSpPr>
        <p:spPr>
          <a:xfrm>
            <a:off x="749808" y="914400"/>
            <a:ext cx="5154186" cy="11887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 defTabSz="786384">
              <a:lnSpc>
                <a:spcPct val="104999"/>
              </a:lnSpc>
              <a:defRPr sz="1376">
                <a:solidFill>
                  <a:srgbClr val="111111"/>
                </a:solidFill>
              </a:defRPr>
            </a:pPr>
            <a:r>
              <a:t>• На логарифмическом графике показано уменьшение ошибки FDM при уменьшении шага сетки</a:t>
            </a:r>
          </a:p>
          <a:p>
            <a:pPr defTabSz="786384">
              <a:lnSpc>
                <a:spcPct val="104999"/>
              </a:lnSpc>
              <a:defRPr sz="1376">
                <a:solidFill>
                  <a:srgbClr val="111111"/>
                </a:solidFill>
              </a:defRPr>
            </a:pPr>
            <a:r>
              <a:t>• Полученные оценки практически совпадают с теоретическим вторым порядком</a:t>
            </a:r>
          </a:p>
          <a:p>
            <a:pPr defTabSz="786384">
              <a:lnSpc>
                <a:spcPct val="104999"/>
              </a:lnSpc>
              <a:defRPr sz="1376">
                <a:solidFill>
                  <a:srgbClr val="111111"/>
                </a:solidFill>
              </a:defRPr>
            </a:pPr>
            <a:r>
              <a:t>• Это подтверждает корректную реализацию центральных разностей второго порядка</a:t>
            </a:r>
          </a:p>
        </p:txBody>
      </p:sp>
      <p:sp>
        <p:nvSpPr>
          <p:cNvPr id="186" name="Shape 2"/>
          <p:cNvSpPr/>
          <p:nvPr/>
        </p:nvSpPr>
        <p:spPr>
          <a:xfrm>
            <a:off x="6489895" y="1120139"/>
            <a:ext cx="5074921" cy="777241"/>
          </a:xfrm>
          <a:prstGeom prst="roundRect">
            <a:avLst>
              <a:gd name="adj" fmla="val 16667"/>
            </a:avLst>
          </a:prstGeom>
          <a:solidFill>
            <a:srgbClr val="F6F8FA"/>
          </a:solidFill>
          <a:ln w="12700">
            <a:solidFill>
              <a:srgbClr val="D7DCE2"/>
            </a:solidFill>
          </a:ln>
        </p:spPr>
        <p:txBody>
          <a:bodyPr lIns="45719" rIns="45719"/>
          <a:lstStyle/>
          <a:p>
            <a:pPr/>
          </a:p>
        </p:txBody>
      </p:sp>
      <p:pic>
        <p:nvPicPr>
          <p:cNvPr id="187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666425" y="1197700"/>
            <a:ext cx="4721861" cy="615547"/>
          </a:xfrm>
          <a:prstGeom prst="rect">
            <a:avLst/>
          </a:prstGeom>
          <a:ln w="12700">
            <a:miter lim="400000"/>
          </a:ln>
        </p:spPr>
      </p:pic>
      <p:pic>
        <p:nvPicPr>
          <p:cNvPr id="188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234439" y="3131013"/>
            <a:ext cx="3899165" cy="508300"/>
          </a:xfrm>
          <a:prstGeom prst="rect">
            <a:avLst/>
          </a:prstGeom>
          <a:ln w="12700">
            <a:miter lim="400000"/>
          </a:ln>
        </p:spPr>
      </p:pic>
      <p:sp>
        <p:nvSpPr>
          <p:cNvPr id="189" name="Shape 8"/>
          <p:cNvSpPr/>
          <p:nvPr/>
        </p:nvSpPr>
        <p:spPr>
          <a:xfrm>
            <a:off x="594359" y="6473952"/>
            <a:ext cx="10972801" cy="1"/>
          </a:xfrm>
          <a:prstGeom prst="line">
            <a:avLst/>
          </a:prstGeom>
          <a:ln w="12700">
            <a:solidFill>
              <a:srgbClr val="D7DCE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0" name="Text 9"/>
          <p:cNvSpPr txBox="1"/>
          <p:nvPr/>
        </p:nvSpPr>
        <p:spPr>
          <a:xfrm>
            <a:off x="621791" y="6529323"/>
            <a:ext cx="10972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/>
            <a:r>
              <a:t>17.04.2026</a:t>
            </a:r>
          </a:p>
        </p:txBody>
      </p:sp>
      <p:sp>
        <p:nvSpPr>
          <p:cNvPr id="191" name="Text 10"/>
          <p:cNvSpPr txBox="1"/>
          <p:nvPr/>
        </p:nvSpPr>
        <p:spPr>
          <a:xfrm>
            <a:off x="11155680" y="6529323"/>
            <a:ext cx="3200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6B7280"/>
                </a:solidFill>
              </a:defRPr>
            </a:lvl1pPr>
          </a:lstStyle>
          <a:p>
            <a:pPr/>
            <a:r>
              <a:t>15</a:t>
            </a:r>
          </a:p>
        </p:txBody>
      </p:sp>
      <p:pic>
        <p:nvPicPr>
          <p:cNvPr id="192" name="fdm_convergence.png" descr="fdm_convergence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073484" y="2658382"/>
            <a:ext cx="10032332" cy="325395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Text 0"/>
          <p:cNvSpPr txBox="1"/>
          <p:nvPr/>
        </p:nvSpPr>
        <p:spPr>
          <a:xfrm>
            <a:off x="658368" y="370168"/>
            <a:ext cx="10881360" cy="2837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000">
                <a:solidFill>
                  <a:srgbClr val="111111"/>
                </a:solidFill>
              </a:defRPr>
            </a:lvl1pPr>
          </a:lstStyle>
          <a:p>
            <a:pPr/>
            <a:r>
              <a:t>Математическая идея PINN</a:t>
            </a:r>
          </a:p>
        </p:txBody>
      </p:sp>
      <p:sp>
        <p:nvSpPr>
          <p:cNvPr id="195" name="Text 1"/>
          <p:cNvSpPr txBox="1"/>
          <p:nvPr/>
        </p:nvSpPr>
        <p:spPr>
          <a:xfrm>
            <a:off x="749808" y="914400"/>
            <a:ext cx="5212080" cy="2560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defTabSz="768095">
              <a:lnSpc>
                <a:spcPct val="104999"/>
              </a:lnSpc>
              <a:defRPr sz="1344">
                <a:solidFill>
                  <a:srgbClr val="111111"/>
                </a:solidFill>
              </a:defRPr>
            </a:lvl1pPr>
          </a:lstStyle>
          <a:p>
            <a:pPr/>
            <a:r>
              <a:t>В PINN решение представляется нейросетевой аппроксимацией.</a:t>
            </a:r>
          </a:p>
        </p:txBody>
      </p:sp>
      <p:pic>
        <p:nvPicPr>
          <p:cNvPr id="196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43157" y="1201519"/>
            <a:ext cx="4720293" cy="615343"/>
          </a:xfrm>
          <a:prstGeom prst="rect">
            <a:avLst/>
          </a:prstGeom>
          <a:ln w="12700">
            <a:miter lim="400000"/>
          </a:ln>
        </p:spPr>
      </p:pic>
      <p:sp>
        <p:nvSpPr>
          <p:cNvPr id="197" name="Text 2"/>
          <p:cNvSpPr txBox="1"/>
          <p:nvPr/>
        </p:nvSpPr>
        <p:spPr>
          <a:xfrm>
            <a:off x="749807" y="1847088"/>
            <a:ext cx="402336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defTabSz="877823">
              <a:lnSpc>
                <a:spcPct val="104999"/>
              </a:lnSpc>
              <a:defRPr sz="1536">
                <a:solidFill>
                  <a:srgbClr val="2C8C69"/>
                </a:solidFill>
              </a:defRPr>
            </a:lvl1pPr>
          </a:lstStyle>
          <a:p>
            <a:pPr/>
            <a:r>
              <a:t>На вход сети подаются координаты и время</a:t>
            </a:r>
          </a:p>
        </p:txBody>
      </p:sp>
      <p:pic>
        <p:nvPicPr>
          <p:cNvPr id="198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96111" y="2139695"/>
            <a:ext cx="4275357" cy="557341"/>
          </a:xfrm>
          <a:prstGeom prst="rect">
            <a:avLst/>
          </a:prstGeom>
          <a:ln w="12700">
            <a:miter lim="400000"/>
          </a:ln>
        </p:spPr>
      </p:pic>
      <p:sp>
        <p:nvSpPr>
          <p:cNvPr id="199" name="Text 3"/>
          <p:cNvSpPr txBox="1"/>
          <p:nvPr/>
        </p:nvSpPr>
        <p:spPr>
          <a:xfrm>
            <a:off x="749807" y="2743200"/>
            <a:ext cx="5166362" cy="21031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ct val="104999"/>
              </a:lnSpc>
              <a:defRPr sz="1500">
                <a:solidFill>
                  <a:srgbClr val="111111"/>
                </a:solidFill>
              </a:defRPr>
            </a:pPr>
            <a:r>
              <a:t>• сеть обучается минимизировать невязку исходного уравнения</a:t>
            </a:r>
          </a:p>
          <a:p>
            <a:pPr>
              <a:lnSpc>
                <a:spcPct val="104999"/>
              </a:lnSpc>
              <a:defRPr sz="1500">
                <a:solidFill>
                  <a:srgbClr val="111111"/>
                </a:solidFill>
              </a:defRPr>
            </a:pPr>
            <a:r>
              <a:t>• одновременно учитываются начальные и граничные условия</a:t>
            </a:r>
          </a:p>
          <a:p>
            <a:pPr>
              <a:lnSpc>
                <a:spcPct val="104999"/>
              </a:lnSpc>
              <a:defRPr sz="1500">
                <a:solidFill>
                  <a:srgbClr val="111111"/>
                </a:solidFill>
              </a:defRPr>
            </a:pPr>
            <a:r>
              <a:t>• производные u_t, u_xx, u_yy, u_zz вычисляются через automatic differentiation JAX</a:t>
            </a:r>
          </a:p>
          <a:p>
            <a:pPr>
              <a:lnSpc>
                <a:spcPct val="104999"/>
              </a:lnSpc>
              <a:defRPr sz="1500">
                <a:solidFill>
                  <a:srgbClr val="111111"/>
                </a:solidFill>
              </a:defRPr>
            </a:pPr>
            <a:r>
              <a:t>• решение задаётся как непрерывная аппроксимация функции в пространстве (x,y,z,t)</a:t>
            </a:r>
          </a:p>
        </p:txBody>
      </p:sp>
      <p:sp>
        <p:nvSpPr>
          <p:cNvPr id="200" name="Shape 4"/>
          <p:cNvSpPr/>
          <p:nvPr/>
        </p:nvSpPr>
        <p:spPr>
          <a:xfrm>
            <a:off x="6363325" y="3040379"/>
            <a:ext cx="1691641" cy="777241"/>
          </a:xfrm>
          <a:prstGeom prst="roundRect">
            <a:avLst>
              <a:gd name="adj" fmla="val 16667"/>
            </a:avLst>
          </a:prstGeom>
          <a:solidFill>
            <a:srgbClr val="EAF1FF"/>
          </a:solidFill>
          <a:ln w="12700">
            <a:solidFill>
              <a:srgbClr val="D7DCE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1" name="Text 5"/>
          <p:cNvSpPr txBox="1"/>
          <p:nvPr/>
        </p:nvSpPr>
        <p:spPr>
          <a:xfrm>
            <a:off x="6436477" y="3113531"/>
            <a:ext cx="1545337" cy="6309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/>
          <a:p>
            <a:pPr algn="ctr">
              <a:defRPr sz="1300">
                <a:solidFill>
                  <a:srgbClr val="111111"/>
                </a:solidFill>
              </a:defRPr>
            </a:pPr>
            <a:r>
              <a:t>Координаты</a:t>
            </a:r>
          </a:p>
          <a:p>
            <a:pPr algn="ctr">
              <a:defRPr sz="1300">
                <a:solidFill>
                  <a:srgbClr val="111111"/>
                </a:solidFill>
              </a:defRPr>
            </a:pPr>
            <a:r>
              <a:t>(x,y,z,t)</a:t>
            </a:r>
          </a:p>
        </p:txBody>
      </p:sp>
      <p:sp>
        <p:nvSpPr>
          <p:cNvPr id="202" name="Shape 6"/>
          <p:cNvSpPr/>
          <p:nvPr/>
        </p:nvSpPr>
        <p:spPr>
          <a:xfrm>
            <a:off x="8146405" y="3287267"/>
            <a:ext cx="201169" cy="256033"/>
          </a:xfrm>
          <a:prstGeom prst="chevron">
            <a:avLst>
              <a:gd name="adj" fmla="val 50000"/>
            </a:avLst>
          </a:prstGeom>
          <a:solidFill>
            <a:srgbClr val="2C8C69"/>
          </a:solidFill>
          <a:ln w="12700">
            <a:solidFill>
              <a:srgbClr val="2C8C6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3" name="Shape 7"/>
          <p:cNvSpPr/>
          <p:nvPr/>
        </p:nvSpPr>
        <p:spPr>
          <a:xfrm>
            <a:off x="8557885" y="2720339"/>
            <a:ext cx="1554481" cy="1417321"/>
          </a:xfrm>
          <a:prstGeom prst="roundRect">
            <a:avLst>
              <a:gd name="adj" fmla="val 16667"/>
            </a:avLst>
          </a:prstGeom>
          <a:solidFill>
            <a:srgbClr val="F0FDF4"/>
          </a:solidFill>
          <a:ln w="12700">
            <a:solidFill>
              <a:srgbClr val="D7DCE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4" name="Text 8"/>
          <p:cNvSpPr txBox="1"/>
          <p:nvPr/>
        </p:nvSpPr>
        <p:spPr>
          <a:xfrm>
            <a:off x="8631037" y="2793491"/>
            <a:ext cx="1408177" cy="1271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/>
          <a:p>
            <a:pPr algn="ctr">
              <a:defRPr sz="1300">
                <a:solidFill>
                  <a:srgbClr val="111111"/>
                </a:solidFill>
              </a:defRPr>
            </a:pPr>
            <a:r>
              <a:t>MLP</a:t>
            </a:r>
          </a:p>
          <a:p>
            <a:pPr algn="ctr">
              <a:defRPr sz="1300">
                <a:solidFill>
                  <a:srgbClr val="111111"/>
                </a:solidFill>
              </a:defRPr>
            </a:pPr>
            <a:r>
              <a:t>Physics-Informed</a:t>
            </a:r>
          </a:p>
          <a:p>
            <a:pPr algn="ctr">
              <a:defRPr sz="1300">
                <a:solidFill>
                  <a:srgbClr val="111111"/>
                </a:solidFill>
              </a:defRPr>
            </a:pPr>
            <a:r>
              <a:t>Neural Network</a:t>
            </a:r>
          </a:p>
        </p:txBody>
      </p:sp>
      <p:sp>
        <p:nvSpPr>
          <p:cNvPr id="205" name="Shape 9"/>
          <p:cNvSpPr/>
          <p:nvPr/>
        </p:nvSpPr>
        <p:spPr>
          <a:xfrm>
            <a:off x="10203805" y="3287267"/>
            <a:ext cx="201169" cy="256033"/>
          </a:xfrm>
          <a:prstGeom prst="chevron">
            <a:avLst>
              <a:gd name="adj" fmla="val 50000"/>
            </a:avLst>
          </a:prstGeom>
          <a:solidFill>
            <a:srgbClr val="2C8C69"/>
          </a:solidFill>
          <a:ln w="12700">
            <a:solidFill>
              <a:srgbClr val="2C8C6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6" name="Shape 10"/>
          <p:cNvSpPr/>
          <p:nvPr/>
        </p:nvSpPr>
        <p:spPr>
          <a:xfrm>
            <a:off x="10615285" y="3040379"/>
            <a:ext cx="1005841" cy="777241"/>
          </a:xfrm>
          <a:prstGeom prst="roundRect">
            <a:avLst>
              <a:gd name="adj" fmla="val 16667"/>
            </a:avLst>
          </a:prstGeom>
          <a:solidFill>
            <a:srgbClr val="FFF7ED"/>
          </a:solidFill>
          <a:ln w="12700">
            <a:solidFill>
              <a:srgbClr val="D7DCE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7" name="Text 11"/>
          <p:cNvSpPr txBox="1"/>
          <p:nvPr/>
        </p:nvSpPr>
        <p:spPr>
          <a:xfrm>
            <a:off x="10688437" y="3113531"/>
            <a:ext cx="859537" cy="6309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300">
                <a:solidFill>
                  <a:srgbClr val="111111"/>
                </a:solidFill>
              </a:defRPr>
            </a:lvl1pPr>
          </a:lstStyle>
          <a:p>
            <a:pPr/>
            <a:r>
              <a:t>û</a:t>
            </a:r>
          </a:p>
        </p:txBody>
      </p:sp>
      <p:sp>
        <p:nvSpPr>
          <p:cNvPr id="208" name="Shape 17"/>
          <p:cNvSpPr/>
          <p:nvPr/>
        </p:nvSpPr>
        <p:spPr>
          <a:xfrm>
            <a:off x="594359" y="6473952"/>
            <a:ext cx="10972801" cy="1"/>
          </a:xfrm>
          <a:prstGeom prst="line">
            <a:avLst/>
          </a:prstGeom>
          <a:ln w="12700">
            <a:solidFill>
              <a:srgbClr val="D7DCE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9" name="Text 18"/>
          <p:cNvSpPr txBox="1"/>
          <p:nvPr/>
        </p:nvSpPr>
        <p:spPr>
          <a:xfrm>
            <a:off x="621791" y="6529323"/>
            <a:ext cx="10972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/>
            <a:r>
              <a:t>17.04.2026</a:t>
            </a:r>
          </a:p>
        </p:txBody>
      </p:sp>
      <p:sp>
        <p:nvSpPr>
          <p:cNvPr id="210" name="Text 19"/>
          <p:cNvSpPr txBox="1"/>
          <p:nvPr/>
        </p:nvSpPr>
        <p:spPr>
          <a:xfrm>
            <a:off x="11155680" y="6529323"/>
            <a:ext cx="3200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6B7280"/>
                </a:solidFill>
              </a:defRPr>
            </a:lvl1pPr>
          </a:lstStyle>
          <a:p>
            <a:pPr/>
            <a:r>
              <a:t>16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Text 0"/>
          <p:cNvSpPr txBox="1"/>
          <p:nvPr/>
        </p:nvSpPr>
        <p:spPr>
          <a:xfrm>
            <a:off x="658368" y="370168"/>
            <a:ext cx="10881360" cy="2837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000">
                <a:solidFill>
                  <a:srgbClr val="111111"/>
                </a:solidFill>
              </a:defRPr>
            </a:lvl1pPr>
          </a:lstStyle>
          <a:p>
            <a:pPr/>
            <a:r>
              <a:t>PINN: архитектура сети и гиперпараметры</a:t>
            </a:r>
          </a:p>
        </p:txBody>
      </p:sp>
      <p:sp>
        <p:nvSpPr>
          <p:cNvPr id="213" name="Shape 1"/>
          <p:cNvSpPr/>
          <p:nvPr/>
        </p:nvSpPr>
        <p:spPr>
          <a:xfrm>
            <a:off x="777240" y="1005839"/>
            <a:ext cx="3840480" cy="5212081"/>
          </a:xfrm>
          <a:prstGeom prst="roundRect">
            <a:avLst>
              <a:gd name="adj" fmla="val 16667"/>
            </a:avLst>
          </a:prstGeom>
          <a:solidFill>
            <a:srgbClr val="FBFCFD"/>
          </a:solidFill>
          <a:ln w="12700">
            <a:solidFill>
              <a:srgbClr val="D7DCE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4" name="Text 2"/>
          <p:cNvSpPr txBox="1"/>
          <p:nvPr/>
        </p:nvSpPr>
        <p:spPr>
          <a:xfrm>
            <a:off x="2023756" y="1187596"/>
            <a:ext cx="1347448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04999"/>
              </a:lnSpc>
              <a:defRPr b="1" sz="1600">
                <a:solidFill>
                  <a:srgbClr val="2C8C69"/>
                </a:solidFill>
              </a:defRPr>
            </a:lvl1pPr>
          </a:lstStyle>
          <a:p>
            <a:pPr/>
            <a:r>
              <a:t>Архитектура</a:t>
            </a:r>
          </a:p>
        </p:txBody>
      </p:sp>
      <p:sp>
        <p:nvSpPr>
          <p:cNvPr id="215" name="Text 3"/>
          <p:cNvSpPr txBox="1"/>
          <p:nvPr/>
        </p:nvSpPr>
        <p:spPr>
          <a:xfrm>
            <a:off x="1074419" y="1564298"/>
            <a:ext cx="3246122" cy="182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ct val="104999"/>
              </a:lnSpc>
              <a:defRPr sz="1500">
                <a:solidFill>
                  <a:srgbClr val="111111"/>
                </a:solidFill>
              </a:defRPr>
            </a:pPr>
            <a:r>
              <a:t>• вход: 4 переменные (x,y,z,t)</a:t>
            </a:r>
          </a:p>
          <a:p>
            <a:pPr>
              <a:lnSpc>
                <a:spcPct val="104999"/>
              </a:lnSpc>
              <a:defRPr sz="1500">
                <a:solidFill>
                  <a:srgbClr val="111111"/>
                </a:solidFill>
              </a:defRPr>
            </a:pPr>
            <a:r>
              <a:t>• скрытых слоёв: 5</a:t>
            </a:r>
          </a:p>
          <a:p>
            <a:pPr>
              <a:lnSpc>
                <a:spcPct val="104999"/>
              </a:lnSpc>
              <a:defRPr sz="1500">
                <a:solidFill>
                  <a:srgbClr val="111111"/>
                </a:solidFill>
              </a:defRPr>
            </a:pPr>
            <a:r>
              <a:t>• ширина слоя: 96</a:t>
            </a:r>
          </a:p>
          <a:p>
            <a:pPr>
              <a:lnSpc>
                <a:spcPct val="104999"/>
              </a:lnSpc>
              <a:defRPr sz="1500">
                <a:solidFill>
                  <a:srgbClr val="111111"/>
                </a:solidFill>
              </a:defRPr>
            </a:pPr>
            <a:r>
              <a:t>• выход: 1 значение u(x,y,z,t)</a:t>
            </a:r>
          </a:p>
          <a:p>
            <a:pPr>
              <a:lnSpc>
                <a:spcPct val="104999"/>
              </a:lnSpc>
              <a:defRPr sz="1500">
                <a:solidFill>
                  <a:srgbClr val="111111"/>
                </a:solidFill>
              </a:defRPr>
            </a:pPr>
            <a:r>
              <a:t>• эквивалентная схема: [4,96,96,96,96,96,1]</a:t>
            </a:r>
          </a:p>
        </p:txBody>
      </p:sp>
      <p:sp>
        <p:nvSpPr>
          <p:cNvPr id="216" name="Shape 4"/>
          <p:cNvSpPr/>
          <p:nvPr/>
        </p:nvSpPr>
        <p:spPr>
          <a:xfrm>
            <a:off x="1143000" y="4069079"/>
            <a:ext cx="2971800" cy="868681"/>
          </a:xfrm>
          <a:prstGeom prst="roundRect">
            <a:avLst>
              <a:gd name="adj" fmla="val 16667"/>
            </a:avLst>
          </a:prstGeom>
          <a:solidFill>
            <a:srgbClr val="EAF1FF"/>
          </a:solidFill>
          <a:ln w="12700">
            <a:solidFill>
              <a:srgbClr val="D7DCE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7" name="Text 5"/>
          <p:cNvSpPr txBox="1"/>
          <p:nvPr/>
        </p:nvSpPr>
        <p:spPr>
          <a:xfrm>
            <a:off x="1216152" y="4142232"/>
            <a:ext cx="2825496" cy="722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300">
                <a:solidFill>
                  <a:srgbClr val="111111"/>
                </a:solidFill>
              </a:defRPr>
            </a:lvl1pPr>
          </a:lstStyle>
          <a:p>
            <a:pPr/>
            <a:r>
              <a:t>[4, 96, 96, 96, 96, 96, 1]</a:t>
            </a:r>
          </a:p>
        </p:txBody>
      </p:sp>
      <p:sp>
        <p:nvSpPr>
          <p:cNvPr id="218" name="Text 6"/>
          <p:cNvSpPr txBox="1"/>
          <p:nvPr/>
        </p:nvSpPr>
        <p:spPr>
          <a:xfrm>
            <a:off x="1143000" y="5074920"/>
            <a:ext cx="2971800" cy="502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 algn="ctr">
              <a:lnSpc>
                <a:spcPct val="104999"/>
              </a:lnSpc>
              <a:defRPr sz="1500">
                <a:solidFill>
                  <a:srgbClr val="6B7280"/>
                </a:solidFill>
              </a:defRPr>
            </a:pPr>
            <a:r>
              <a:t>tanh на скрытых слоях,</a:t>
            </a:r>
          </a:p>
          <a:p>
            <a:pPr algn="ctr">
              <a:lnSpc>
                <a:spcPct val="104999"/>
              </a:lnSpc>
              <a:defRPr sz="1500">
                <a:solidFill>
                  <a:srgbClr val="6B7280"/>
                </a:solidFill>
              </a:defRPr>
            </a:pPr>
            <a:r>
              <a:t>линейный выход</a:t>
            </a:r>
          </a:p>
        </p:txBody>
      </p:sp>
      <p:graphicFrame>
        <p:nvGraphicFramePr>
          <p:cNvPr id="219" name="Table 0"/>
          <p:cNvGraphicFramePr/>
          <p:nvPr/>
        </p:nvGraphicFramePr>
        <p:xfrm>
          <a:off x="4937759" y="1097280"/>
          <a:ext cx="5897881" cy="370332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3611880"/>
                <a:gridCol w="2286000"/>
              </a:tblGrid>
              <a:tr h="41148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400">
                          <a:solidFill>
                            <a:srgbClr val="111111"/>
                          </a:solidFill>
                        </a:rPr>
                        <a:t>Параметр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D7DCE2"/>
                      </a:solidFill>
                    </a:lnL>
                    <a:lnR w="12700">
                      <a:solidFill>
                        <a:srgbClr val="D7DCE2"/>
                      </a:solidFill>
                    </a:lnR>
                    <a:lnT w="12700">
                      <a:solidFill>
                        <a:srgbClr val="D7DCE2"/>
                      </a:solidFill>
                    </a:lnT>
                    <a:lnB w="12700">
                      <a:solidFill>
                        <a:srgbClr val="D7DC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400">
                          <a:solidFill>
                            <a:srgbClr val="111111"/>
                          </a:solidFill>
                        </a:rPr>
                        <a:t>Значение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D7DCE2"/>
                      </a:solidFill>
                    </a:lnL>
                    <a:lnR w="12700">
                      <a:solidFill>
                        <a:srgbClr val="D7DCE2"/>
                      </a:solidFill>
                    </a:lnR>
                    <a:lnT w="12700">
                      <a:solidFill>
                        <a:srgbClr val="D7DCE2"/>
                      </a:solidFill>
                    </a:lnT>
                    <a:lnB w="12700">
                      <a:solidFill>
                        <a:srgbClr val="D7DCE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solidFill>
                            <a:srgbClr val="111111"/>
                          </a:solidFill>
                        </a:rPr>
                        <a:t>epochs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D7DCE2"/>
                      </a:solidFill>
                    </a:lnL>
                    <a:lnR w="12700">
                      <a:solidFill>
                        <a:srgbClr val="D7DCE2"/>
                      </a:solidFill>
                    </a:lnR>
                    <a:lnT w="12700">
                      <a:solidFill>
                        <a:srgbClr val="D7DCE2"/>
                      </a:solidFill>
                    </a:lnT>
                    <a:lnB w="12700">
                      <a:solidFill>
                        <a:srgbClr val="D7DC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solidFill>
                            <a:srgbClr val="111111"/>
                          </a:solidFill>
                        </a:rPr>
                        <a:t>8000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D7DCE2"/>
                      </a:solidFill>
                    </a:lnL>
                    <a:lnR w="12700">
                      <a:solidFill>
                        <a:srgbClr val="D7DCE2"/>
                      </a:solidFill>
                    </a:lnR>
                    <a:lnT w="12700">
                      <a:solidFill>
                        <a:srgbClr val="D7DCE2"/>
                      </a:solidFill>
                    </a:lnT>
                    <a:lnB w="12700">
                      <a:solidFill>
                        <a:srgbClr val="D7DCE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solidFill>
                            <a:srgbClr val="111111"/>
                          </a:solidFill>
                        </a:rPr>
                        <a:t>learning_rate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D7DCE2"/>
                      </a:solidFill>
                    </a:lnL>
                    <a:lnR w="12700">
                      <a:solidFill>
                        <a:srgbClr val="D7DCE2"/>
                      </a:solidFill>
                    </a:lnR>
                    <a:lnT w="12700">
                      <a:solidFill>
                        <a:srgbClr val="D7DCE2"/>
                      </a:solidFill>
                    </a:lnT>
                    <a:lnB w="12700">
                      <a:solidFill>
                        <a:srgbClr val="D7DC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solidFill>
                            <a:srgbClr val="111111"/>
                          </a:solidFill>
                        </a:rPr>
                        <a:t>0.001 → 0.0001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D7DCE2"/>
                      </a:solidFill>
                    </a:lnL>
                    <a:lnR w="12700">
                      <a:solidFill>
                        <a:srgbClr val="D7DCE2"/>
                      </a:solidFill>
                    </a:lnR>
                    <a:lnT w="12700">
                      <a:solidFill>
                        <a:srgbClr val="D7DCE2"/>
                      </a:solidFill>
                    </a:lnT>
                    <a:lnB w="12700">
                      <a:solidFill>
                        <a:srgbClr val="D7DCE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solidFill>
                            <a:srgbClr val="111111"/>
                          </a:solidFill>
                        </a:rPr>
                        <a:t>n_residual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D7DCE2"/>
                      </a:solidFill>
                    </a:lnL>
                    <a:lnR w="12700">
                      <a:solidFill>
                        <a:srgbClr val="D7DCE2"/>
                      </a:solidFill>
                    </a:lnR>
                    <a:lnT w="12700">
                      <a:solidFill>
                        <a:srgbClr val="D7DCE2"/>
                      </a:solidFill>
                    </a:lnT>
                    <a:lnB w="12700">
                      <a:solidFill>
                        <a:srgbClr val="D7DC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solidFill>
                            <a:srgbClr val="111111"/>
                          </a:solidFill>
                        </a:rPr>
                        <a:t>12000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D7DCE2"/>
                      </a:solidFill>
                    </a:lnL>
                    <a:lnR w="12700">
                      <a:solidFill>
                        <a:srgbClr val="D7DCE2"/>
                      </a:solidFill>
                    </a:lnR>
                    <a:lnT w="12700">
                      <a:solidFill>
                        <a:srgbClr val="D7DCE2"/>
                      </a:solidFill>
                    </a:lnT>
                    <a:lnB w="12700">
                      <a:solidFill>
                        <a:srgbClr val="D7DCE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solidFill>
                            <a:srgbClr val="111111"/>
                          </a:solidFill>
                        </a:rPr>
                        <a:t>n_boundary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D7DCE2"/>
                      </a:solidFill>
                    </a:lnL>
                    <a:lnR w="12700">
                      <a:solidFill>
                        <a:srgbClr val="D7DCE2"/>
                      </a:solidFill>
                    </a:lnR>
                    <a:lnT w="12700">
                      <a:solidFill>
                        <a:srgbClr val="D7DCE2"/>
                      </a:solidFill>
                    </a:lnT>
                    <a:lnB w="12700">
                      <a:solidFill>
                        <a:srgbClr val="D7DC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solidFill>
                            <a:srgbClr val="111111"/>
                          </a:solidFill>
                        </a:rPr>
                        <a:t>2000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D7DCE2"/>
                      </a:solidFill>
                    </a:lnL>
                    <a:lnR w="12700">
                      <a:solidFill>
                        <a:srgbClr val="D7DCE2"/>
                      </a:solidFill>
                    </a:lnR>
                    <a:lnT w="12700">
                      <a:solidFill>
                        <a:srgbClr val="D7DCE2"/>
                      </a:solidFill>
                    </a:lnT>
                    <a:lnB w="12700">
                      <a:solidFill>
                        <a:srgbClr val="D7DCE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solidFill>
                            <a:srgbClr val="111111"/>
                          </a:solidFill>
                        </a:rPr>
                        <a:t>n_initial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D7DCE2"/>
                      </a:solidFill>
                    </a:lnL>
                    <a:lnR w="12700">
                      <a:solidFill>
                        <a:srgbClr val="D7DCE2"/>
                      </a:solidFill>
                    </a:lnR>
                    <a:lnT w="12700">
                      <a:solidFill>
                        <a:srgbClr val="D7DCE2"/>
                      </a:solidFill>
                    </a:lnT>
                    <a:lnB w="12700">
                      <a:solidFill>
                        <a:srgbClr val="D7DC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solidFill>
                            <a:srgbClr val="111111"/>
                          </a:solidFill>
                        </a:rPr>
                        <a:t>2000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D7DCE2"/>
                      </a:solidFill>
                    </a:lnL>
                    <a:lnR w="12700">
                      <a:solidFill>
                        <a:srgbClr val="D7DCE2"/>
                      </a:solidFill>
                    </a:lnR>
                    <a:lnT w="12700">
                      <a:solidFill>
                        <a:srgbClr val="D7DCE2"/>
                      </a:solidFill>
                    </a:lnT>
                    <a:lnB w="12700">
                      <a:solidFill>
                        <a:srgbClr val="D7DCE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solidFill>
                            <a:srgbClr val="111111"/>
                          </a:solidFill>
                        </a:rPr>
                        <a:t>λ_pde / λ_bc / λ_ic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D7DCE2"/>
                      </a:solidFill>
                    </a:lnL>
                    <a:lnR w="12700">
                      <a:solidFill>
                        <a:srgbClr val="D7DCE2"/>
                      </a:solidFill>
                    </a:lnR>
                    <a:lnT w="12700">
                      <a:solidFill>
                        <a:srgbClr val="D7DCE2"/>
                      </a:solidFill>
                    </a:lnT>
                    <a:lnB w="12700">
                      <a:solidFill>
                        <a:srgbClr val="D7DC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solidFill>
                            <a:srgbClr val="111111"/>
                          </a:solidFill>
                        </a:rPr>
                        <a:t>1 / 10 / 10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D7DCE2"/>
                      </a:solidFill>
                    </a:lnL>
                    <a:lnR w="12700">
                      <a:solidFill>
                        <a:srgbClr val="D7DCE2"/>
                      </a:solidFill>
                    </a:lnR>
                    <a:lnT w="12700">
                      <a:solidFill>
                        <a:srgbClr val="D7DCE2"/>
                      </a:solidFill>
                    </a:lnT>
                    <a:lnB w="12700">
                      <a:solidFill>
                        <a:srgbClr val="D7DCE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solidFill>
                            <a:srgbClr val="111111"/>
                          </a:solidFill>
                        </a:rPr>
                        <a:t>hard constraints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D7DCE2"/>
                      </a:solidFill>
                    </a:lnL>
                    <a:lnR w="12700">
                      <a:solidFill>
                        <a:srgbClr val="D7DCE2"/>
                      </a:solidFill>
                    </a:lnR>
                    <a:lnT w="12700">
                      <a:solidFill>
                        <a:srgbClr val="D7DCE2"/>
                      </a:solidFill>
                    </a:lnT>
                    <a:lnB w="12700">
                      <a:solidFill>
                        <a:srgbClr val="D7DC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solidFill>
                            <a:srgbClr val="111111"/>
                          </a:solidFill>
                        </a:rPr>
                        <a:t>true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D7DCE2"/>
                      </a:solidFill>
                    </a:lnL>
                    <a:lnR w="12700">
                      <a:solidFill>
                        <a:srgbClr val="D7DCE2"/>
                      </a:solidFill>
                    </a:lnR>
                    <a:lnT w="12700">
                      <a:solidFill>
                        <a:srgbClr val="D7DCE2"/>
                      </a:solidFill>
                    </a:lnT>
                    <a:lnB w="12700">
                      <a:solidFill>
                        <a:srgbClr val="D7DCE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solidFill>
                            <a:srgbClr val="111111"/>
                          </a:solidFill>
                        </a:rPr>
                        <a:t>eval_grid_size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D7DCE2"/>
                      </a:solidFill>
                    </a:lnL>
                    <a:lnR w="12700">
                      <a:solidFill>
                        <a:srgbClr val="D7DCE2"/>
                      </a:solidFill>
                    </a:lnR>
                    <a:lnT w="12700">
                      <a:solidFill>
                        <a:srgbClr val="D7DCE2"/>
                      </a:solidFill>
                    </a:lnT>
                    <a:lnB w="12700">
                      <a:solidFill>
                        <a:srgbClr val="D7DC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solidFill>
                            <a:srgbClr val="111111"/>
                          </a:solidFill>
                        </a:rPr>
                        <a:t>21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D7DCE2"/>
                      </a:solidFill>
                    </a:lnL>
                    <a:lnR w="12700">
                      <a:solidFill>
                        <a:srgbClr val="D7DCE2"/>
                      </a:solidFill>
                    </a:lnR>
                    <a:lnT w="12700">
                      <a:solidFill>
                        <a:srgbClr val="D7DCE2"/>
                      </a:solidFill>
                    </a:lnT>
                    <a:lnB w="12700">
                      <a:solidFill>
                        <a:srgbClr val="D7DCE2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0" name="Shape 7"/>
          <p:cNvSpPr/>
          <p:nvPr/>
        </p:nvSpPr>
        <p:spPr>
          <a:xfrm>
            <a:off x="594359" y="6473952"/>
            <a:ext cx="10972801" cy="1"/>
          </a:xfrm>
          <a:prstGeom prst="line">
            <a:avLst/>
          </a:prstGeom>
          <a:ln w="12700">
            <a:solidFill>
              <a:srgbClr val="D7DCE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1" name="Text 8"/>
          <p:cNvSpPr txBox="1"/>
          <p:nvPr/>
        </p:nvSpPr>
        <p:spPr>
          <a:xfrm>
            <a:off x="621791" y="6529323"/>
            <a:ext cx="10972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/>
            <a:r>
              <a:t>17.04.2026</a:t>
            </a:r>
          </a:p>
        </p:txBody>
      </p:sp>
      <p:sp>
        <p:nvSpPr>
          <p:cNvPr id="222" name="Text 9"/>
          <p:cNvSpPr txBox="1"/>
          <p:nvPr/>
        </p:nvSpPr>
        <p:spPr>
          <a:xfrm>
            <a:off x="11155680" y="6529323"/>
            <a:ext cx="3200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6B7280"/>
                </a:solidFill>
              </a:defRPr>
            </a:lvl1pPr>
          </a:lstStyle>
          <a:p>
            <a:pPr/>
            <a:r>
              <a:t>17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Text 0"/>
          <p:cNvSpPr txBox="1"/>
          <p:nvPr/>
        </p:nvSpPr>
        <p:spPr>
          <a:xfrm>
            <a:off x="658368" y="370168"/>
            <a:ext cx="10881360" cy="2837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000">
                <a:solidFill>
                  <a:srgbClr val="111111"/>
                </a:solidFill>
              </a:defRPr>
            </a:lvl1pPr>
          </a:lstStyle>
          <a:p>
            <a:pPr/>
            <a:r>
              <a:t>PINN: код архитектуры MLP</a:t>
            </a:r>
          </a:p>
        </p:txBody>
      </p:sp>
      <p:sp>
        <p:nvSpPr>
          <p:cNvPr id="225" name="Text 1"/>
          <p:cNvSpPr txBox="1"/>
          <p:nvPr/>
        </p:nvSpPr>
        <p:spPr>
          <a:xfrm>
            <a:off x="749807" y="896111"/>
            <a:ext cx="10241282" cy="502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ct val="104999"/>
              </a:lnSpc>
              <a:defRPr sz="1600">
                <a:solidFill>
                  <a:srgbClr val="111111"/>
                </a:solidFill>
              </a:defRPr>
            </a:pPr>
            <a:r>
              <a:t>Показаны инициализация параметров MLP и прямой проход сети.</a:t>
            </a:r>
          </a:p>
          <a:p>
            <a:pPr>
              <a:lnSpc>
                <a:spcPct val="104999"/>
              </a:lnSpc>
              <a:defRPr sz="1600">
                <a:solidFill>
                  <a:srgbClr val="111111"/>
                </a:solidFill>
              </a:defRPr>
            </a:pPr>
            <a:r>
              <a:t>Скрытые слои используют tanh, выходной слой - линейный.</a:t>
            </a:r>
          </a:p>
        </p:txBody>
      </p:sp>
      <p:sp>
        <p:nvSpPr>
          <p:cNvPr id="226" name="Shape 2"/>
          <p:cNvSpPr/>
          <p:nvPr/>
        </p:nvSpPr>
        <p:spPr>
          <a:xfrm>
            <a:off x="841247" y="1572767"/>
            <a:ext cx="10479025" cy="4526281"/>
          </a:xfrm>
          <a:prstGeom prst="roundRect">
            <a:avLst>
              <a:gd name="adj" fmla="val 0"/>
            </a:avLst>
          </a:prstGeom>
          <a:solidFill>
            <a:srgbClr val="151A22"/>
          </a:solidFill>
          <a:ln w="12700">
            <a:solidFill>
              <a:srgbClr val="2D3440"/>
            </a:solidFill>
          </a:ln>
          <a:effectLst>
            <a:outerShdw sx="100000" sy="100000" kx="0" ky="0" algn="b" rotWithShape="0" blurRad="12700" dist="12700" dir="2700000">
              <a:srgbClr val="000000">
                <a:alpha val="1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7" name="Text 3"/>
          <p:cNvSpPr txBox="1"/>
          <p:nvPr/>
        </p:nvSpPr>
        <p:spPr>
          <a:xfrm>
            <a:off x="1005839" y="1664716"/>
            <a:ext cx="707745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900">
                <a:solidFill>
                  <a:srgbClr val="96A0AD"/>
                </a:solidFill>
              </a:defRPr>
            </a:lvl1pPr>
          </a:lstStyle>
          <a:p>
            <a:pPr/>
            <a:r>
              <a:t>src/pinn_solver.py</a:t>
            </a:r>
          </a:p>
        </p:txBody>
      </p:sp>
      <p:sp>
        <p:nvSpPr>
          <p:cNvPr id="228" name="Text 4"/>
          <p:cNvSpPr txBox="1"/>
          <p:nvPr/>
        </p:nvSpPr>
        <p:spPr>
          <a:xfrm>
            <a:off x="987552" y="1792223"/>
            <a:ext cx="10186416" cy="42519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1 </a:t>
            </a:r>
            <a:r>
              <a:rPr>
                <a:solidFill>
                  <a:srgbClr val="66D9EF"/>
                </a:solidFill>
              </a:rPr>
              <a:t>def</a:t>
            </a:r>
            <a:r>
              <a:rPr>
                <a:solidFill>
                  <a:srgbClr val="FFFFFF"/>
                </a:solidFill>
              </a:rPr>
              <a:t> init_mlp_params</a:t>
            </a:r>
            <a:r>
              <a:rPr>
                <a:solidFill>
                  <a:srgbClr val="F8F8F2"/>
                </a:solidFill>
              </a:rPr>
              <a:t>(</a:t>
            </a:r>
            <a:r>
              <a:rPr>
                <a:solidFill>
                  <a:srgbClr val="FFFFFF"/>
                </a:solidFill>
              </a:rPr>
              <a:t>layer_sizes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key</a:t>
            </a:r>
            <a:r>
              <a:rPr>
                <a:solidFill>
                  <a:srgbClr val="F8F8F2"/>
                </a:solidFill>
              </a:rPr>
              <a:t>)</a:t>
            </a:r>
            <a:r>
              <a:rPr>
                <a:solidFill>
                  <a:srgbClr val="FFFFFF"/>
                </a:solidFill>
              </a:rPr>
              <a:t> </a:t>
            </a:r>
            <a:r>
              <a:rPr>
                <a:solidFill>
                  <a:srgbClr val="F8F8F2"/>
                </a:solidFill>
              </a:rPr>
              <a:t>-&gt;</a:t>
            </a:r>
            <a:r>
              <a:rPr>
                <a:solidFill>
                  <a:srgbClr val="FFFFFF"/>
                </a:solidFill>
              </a:rPr>
              <a:t> list</a:t>
            </a:r>
            <a:r>
              <a:rPr>
                <a:solidFill>
                  <a:srgbClr val="F8F8F2"/>
                </a:solidFill>
              </a:rPr>
              <a:t>[</a:t>
            </a:r>
            <a:r>
              <a:rPr>
                <a:solidFill>
                  <a:srgbClr val="FFFFFF"/>
                </a:solidFill>
              </a:rPr>
              <a:t>dict</a:t>
            </a:r>
            <a:r>
              <a:rPr>
                <a:solidFill>
                  <a:srgbClr val="F8F8F2"/>
                </a:solidFill>
              </a:rPr>
              <a:t>[</a:t>
            </a:r>
            <a:r>
              <a:rPr>
                <a:solidFill>
                  <a:srgbClr val="FFFFFF"/>
                </a:solidFill>
              </a:rPr>
              <a:t>str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Array</a:t>
            </a:r>
            <a:r>
              <a:rPr>
                <a:solidFill>
                  <a:srgbClr val="F8F8F2"/>
                </a:solidFill>
              </a:rPr>
              <a:t>]]:</a:t>
            </a:r>
            <a:endParaRPr>
              <a:solidFill>
                <a:srgbClr val="FFFFFF"/>
              </a:solidFill>
            </a:endParaRPr>
          </a:p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2 </a:t>
            </a:r>
            <a:r>
              <a:rPr>
                <a:solidFill>
                  <a:srgbClr val="FFFFFF"/>
                </a:solidFill>
              </a:rPr>
              <a:t>    keys </a:t>
            </a:r>
            <a:r>
              <a:rPr>
                <a:solidFill>
                  <a:srgbClr val="F8F8F2"/>
                </a:solidFill>
              </a:rPr>
              <a:t>=</a:t>
            </a:r>
            <a:r>
              <a:rPr>
                <a:solidFill>
                  <a:srgbClr val="FFFFFF"/>
                </a:solidFill>
              </a:rPr>
              <a:t> jax</a:t>
            </a:r>
            <a:r>
              <a:rPr>
                <a:solidFill>
                  <a:srgbClr val="F8F8F2"/>
                </a:solidFill>
              </a:rPr>
              <a:t>.</a:t>
            </a:r>
            <a:r>
              <a:rPr>
                <a:solidFill>
                  <a:srgbClr val="FFFFFF"/>
                </a:solidFill>
              </a:rPr>
              <a:t>random</a:t>
            </a:r>
            <a:r>
              <a:rPr>
                <a:solidFill>
                  <a:srgbClr val="F8F8F2"/>
                </a:solidFill>
              </a:rPr>
              <a:t>.</a:t>
            </a:r>
            <a:r>
              <a:rPr>
                <a:solidFill>
                  <a:srgbClr val="FFFFFF"/>
                </a:solidFill>
              </a:rPr>
              <a:t>split</a:t>
            </a:r>
            <a:r>
              <a:rPr>
                <a:solidFill>
                  <a:srgbClr val="F8F8F2"/>
                </a:solidFill>
              </a:rPr>
              <a:t>(</a:t>
            </a:r>
            <a:r>
              <a:rPr>
                <a:solidFill>
                  <a:srgbClr val="FFFFFF"/>
                </a:solidFill>
              </a:rPr>
              <a:t>key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len</a:t>
            </a:r>
            <a:r>
              <a:rPr>
                <a:solidFill>
                  <a:srgbClr val="F8F8F2"/>
                </a:solidFill>
              </a:rPr>
              <a:t>(</a:t>
            </a:r>
            <a:r>
              <a:rPr>
                <a:solidFill>
                  <a:srgbClr val="FFFFFF"/>
                </a:solidFill>
              </a:rPr>
              <a:t>layer_sizes</a:t>
            </a:r>
            <a:r>
              <a:rPr>
                <a:solidFill>
                  <a:srgbClr val="F8F8F2"/>
                </a:solidFill>
              </a:rPr>
              <a:t>)</a:t>
            </a:r>
            <a:r>
              <a:rPr>
                <a:solidFill>
                  <a:srgbClr val="FFFFFF"/>
                </a:solidFill>
              </a:rPr>
              <a:t> </a:t>
            </a:r>
            <a:r>
              <a:rPr>
                <a:solidFill>
                  <a:srgbClr val="F8F8F2"/>
                </a:solidFill>
              </a:rPr>
              <a:t>-</a:t>
            </a:r>
            <a:r>
              <a:rPr>
                <a:solidFill>
                  <a:srgbClr val="FFFFFF"/>
                </a:solidFill>
              </a:rPr>
              <a:t> 1</a:t>
            </a:r>
            <a:r>
              <a:rPr>
                <a:solidFill>
                  <a:srgbClr val="F8F8F2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3 </a:t>
            </a:r>
            <a:r>
              <a:rPr>
                <a:solidFill>
                  <a:srgbClr val="FFFFFF"/>
                </a:solidFill>
              </a:rPr>
              <a:t>    params </a:t>
            </a:r>
            <a:r>
              <a:rPr>
                <a:solidFill>
                  <a:srgbClr val="F8F8F2"/>
                </a:solidFill>
              </a:rPr>
              <a:t>=</a:t>
            </a:r>
            <a:r>
              <a:rPr>
                <a:solidFill>
                  <a:srgbClr val="FFFFFF"/>
                </a:solidFill>
              </a:rPr>
              <a:t> </a:t>
            </a:r>
            <a:r>
              <a:rPr>
                <a:solidFill>
                  <a:srgbClr val="F8F8F2"/>
                </a:solidFill>
              </a:rPr>
              <a:t>[]</a:t>
            </a:r>
            <a:endParaRPr>
              <a:solidFill>
                <a:srgbClr val="FFFFFF"/>
              </a:solidFill>
            </a:endParaRPr>
          </a:p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4 </a:t>
            </a:r>
            <a:r>
              <a:rPr>
                <a:solidFill>
                  <a:srgbClr val="FFFFFF"/>
                </a:solidFill>
              </a:rPr>
              <a:t>    </a:t>
            </a:r>
            <a:r>
              <a:rPr>
                <a:solidFill>
                  <a:srgbClr val="66D9EF"/>
                </a:solidFill>
              </a:rPr>
              <a:t>for</a:t>
            </a:r>
            <a:r>
              <a:rPr>
                <a:solidFill>
                  <a:srgbClr val="FFFFFF"/>
                </a:solidFill>
              </a:rPr>
              <a:t> k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</a:t>
            </a:r>
            <a:r>
              <a:rPr>
                <a:solidFill>
                  <a:srgbClr val="F8F8F2"/>
                </a:solidFill>
              </a:rPr>
              <a:t>(</a:t>
            </a:r>
            <a:r>
              <a:rPr>
                <a:solidFill>
                  <a:srgbClr val="FFFFFF"/>
                </a:solidFill>
              </a:rPr>
              <a:t>in_dim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out_dim</a:t>
            </a:r>
            <a:r>
              <a:rPr>
                <a:solidFill>
                  <a:srgbClr val="F8F8F2"/>
                </a:solidFill>
              </a:rPr>
              <a:t>)</a:t>
            </a:r>
            <a:r>
              <a:rPr>
                <a:solidFill>
                  <a:srgbClr val="FFFFFF"/>
                </a:solidFill>
              </a:rPr>
              <a:t> </a:t>
            </a:r>
            <a:r>
              <a:rPr>
                <a:solidFill>
                  <a:srgbClr val="66D9EF"/>
                </a:solidFill>
              </a:rPr>
              <a:t>in</a:t>
            </a:r>
            <a:r>
              <a:rPr>
                <a:solidFill>
                  <a:srgbClr val="FFFFFF"/>
                </a:solidFill>
              </a:rPr>
              <a:t> zip</a:t>
            </a:r>
            <a:r>
              <a:rPr>
                <a:solidFill>
                  <a:srgbClr val="F8F8F2"/>
                </a:solidFill>
              </a:rPr>
              <a:t>(</a:t>
            </a:r>
            <a:r>
              <a:rPr>
                <a:solidFill>
                  <a:srgbClr val="FFFFFF"/>
                </a:solidFill>
              </a:rPr>
              <a:t>keys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zip</a:t>
            </a:r>
            <a:r>
              <a:rPr>
                <a:solidFill>
                  <a:srgbClr val="F8F8F2"/>
                </a:solidFill>
              </a:rPr>
              <a:t>(</a:t>
            </a:r>
            <a:r>
              <a:rPr>
                <a:solidFill>
                  <a:srgbClr val="FFFFFF"/>
                </a:solidFill>
              </a:rPr>
              <a:t>layer_sizes</a:t>
            </a:r>
            <a:r>
              <a:rPr>
                <a:solidFill>
                  <a:srgbClr val="F8F8F2"/>
                </a:solidFill>
              </a:rPr>
              <a:t>[:-</a:t>
            </a:r>
            <a:r>
              <a:rPr>
                <a:solidFill>
                  <a:srgbClr val="FFFFFF"/>
                </a:solidFill>
              </a:rPr>
              <a:t>1</a:t>
            </a:r>
            <a:r>
              <a:rPr>
                <a:solidFill>
                  <a:srgbClr val="F8F8F2"/>
                </a:solidFill>
              </a:rPr>
              <a:t>],</a:t>
            </a:r>
            <a:r>
              <a:rPr>
                <a:solidFill>
                  <a:srgbClr val="FFFFFF"/>
                </a:solidFill>
              </a:rPr>
              <a:t> layer_sizes</a:t>
            </a:r>
            <a:r>
              <a:rPr>
                <a:solidFill>
                  <a:srgbClr val="F8F8F2"/>
                </a:solidFill>
              </a:rPr>
              <a:t>[</a:t>
            </a:r>
            <a:r>
              <a:rPr>
                <a:solidFill>
                  <a:srgbClr val="FFFFFF"/>
                </a:solidFill>
              </a:rPr>
              <a:t>1</a:t>
            </a:r>
            <a:r>
              <a:rPr>
                <a:solidFill>
                  <a:srgbClr val="F8F8F2"/>
                </a:solidFill>
              </a:rPr>
              <a:t>:])):</a:t>
            </a:r>
            <a:endParaRPr>
              <a:solidFill>
                <a:srgbClr val="FFFFFF"/>
              </a:solidFill>
            </a:endParaRPr>
          </a:p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5 </a:t>
            </a:r>
            <a:r>
              <a:rPr>
                <a:solidFill>
                  <a:srgbClr val="FFFFFF"/>
                </a:solidFill>
              </a:rPr>
              <a:t>        W </a:t>
            </a:r>
            <a:r>
              <a:rPr>
                <a:solidFill>
                  <a:srgbClr val="F8F8F2"/>
                </a:solidFill>
              </a:rPr>
              <a:t>=</a:t>
            </a:r>
            <a:r>
              <a:rPr>
                <a:solidFill>
                  <a:srgbClr val="FFFFFF"/>
                </a:solidFill>
              </a:rPr>
              <a:t> _glorot_std</a:t>
            </a:r>
            <a:r>
              <a:rPr>
                <a:solidFill>
                  <a:srgbClr val="F8F8F2"/>
                </a:solidFill>
              </a:rPr>
              <a:t>(</a:t>
            </a:r>
            <a:r>
              <a:rPr>
                <a:solidFill>
                  <a:srgbClr val="FFFFFF"/>
                </a:solidFill>
              </a:rPr>
              <a:t>in_dim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out_dim</a:t>
            </a:r>
            <a:r>
              <a:rPr>
                <a:solidFill>
                  <a:srgbClr val="F8F8F2"/>
                </a:solidFill>
              </a:rPr>
              <a:t>)</a:t>
            </a:r>
            <a:r>
              <a:rPr>
                <a:solidFill>
                  <a:srgbClr val="FFFFFF"/>
                </a:solidFill>
              </a:rPr>
              <a:t> </a:t>
            </a:r>
            <a:r>
              <a:rPr>
                <a:solidFill>
                  <a:srgbClr val="F8F8F2"/>
                </a:solidFill>
              </a:rPr>
              <a:t>*</a:t>
            </a:r>
            <a:r>
              <a:rPr>
                <a:solidFill>
                  <a:srgbClr val="FFFFFF"/>
                </a:solidFill>
              </a:rPr>
              <a:t> jax</a:t>
            </a:r>
            <a:r>
              <a:rPr>
                <a:solidFill>
                  <a:srgbClr val="F8F8F2"/>
                </a:solidFill>
              </a:rPr>
              <a:t>.</a:t>
            </a:r>
            <a:r>
              <a:rPr>
                <a:solidFill>
                  <a:srgbClr val="FFFFFF"/>
                </a:solidFill>
              </a:rPr>
              <a:t>random</a:t>
            </a:r>
            <a:r>
              <a:rPr>
                <a:solidFill>
                  <a:srgbClr val="F8F8F2"/>
                </a:solidFill>
              </a:rPr>
              <a:t>.</a:t>
            </a:r>
            <a:r>
              <a:rPr>
                <a:solidFill>
                  <a:srgbClr val="FFFFFF"/>
                </a:solidFill>
              </a:rPr>
              <a:t>normal</a:t>
            </a:r>
            <a:r>
              <a:rPr>
                <a:solidFill>
                  <a:srgbClr val="F8F8F2"/>
                </a:solidFill>
              </a:rPr>
              <a:t>(</a:t>
            </a:r>
            <a:r>
              <a:rPr>
                <a:solidFill>
                  <a:srgbClr val="FFFFFF"/>
                </a:solidFill>
              </a:rPr>
              <a:t>k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</a:t>
            </a:r>
            <a:r>
              <a:rPr>
                <a:solidFill>
                  <a:srgbClr val="F8F8F2"/>
                </a:solidFill>
              </a:rPr>
              <a:t>(</a:t>
            </a:r>
            <a:r>
              <a:rPr>
                <a:solidFill>
                  <a:srgbClr val="FFFFFF"/>
                </a:solidFill>
              </a:rPr>
              <a:t>in_dim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out_dim</a:t>
            </a:r>
            <a:r>
              <a:rPr>
                <a:solidFill>
                  <a:srgbClr val="F8F8F2"/>
                </a:solidFill>
              </a:rPr>
              <a:t>))</a:t>
            </a:r>
            <a:endParaRPr>
              <a:solidFill>
                <a:srgbClr val="FFFFFF"/>
              </a:solidFill>
            </a:endParaRPr>
          </a:p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6 </a:t>
            </a:r>
            <a:r>
              <a:rPr>
                <a:solidFill>
                  <a:srgbClr val="FFFFFF"/>
                </a:solidFill>
              </a:rPr>
              <a:t>        b </a:t>
            </a:r>
            <a:r>
              <a:rPr>
                <a:solidFill>
                  <a:srgbClr val="F8F8F2"/>
                </a:solidFill>
              </a:rPr>
              <a:t>=</a:t>
            </a:r>
            <a:r>
              <a:rPr>
                <a:solidFill>
                  <a:srgbClr val="FFFFFF"/>
                </a:solidFill>
              </a:rPr>
              <a:t> jnp</a:t>
            </a:r>
            <a:r>
              <a:rPr>
                <a:solidFill>
                  <a:srgbClr val="F8F8F2"/>
                </a:solidFill>
              </a:rPr>
              <a:t>.</a:t>
            </a:r>
            <a:r>
              <a:rPr>
                <a:solidFill>
                  <a:srgbClr val="FFFFFF"/>
                </a:solidFill>
              </a:rPr>
              <a:t>zeros</a:t>
            </a:r>
            <a:r>
              <a:rPr>
                <a:solidFill>
                  <a:srgbClr val="F8F8F2"/>
                </a:solidFill>
              </a:rPr>
              <a:t>((</a:t>
            </a:r>
            <a:r>
              <a:rPr>
                <a:solidFill>
                  <a:srgbClr val="FFFFFF"/>
                </a:solidFill>
              </a:rPr>
              <a:t>out_dim</a:t>
            </a:r>
            <a:r>
              <a:rPr>
                <a:solidFill>
                  <a:srgbClr val="F8F8F2"/>
                </a:solidFill>
              </a:rPr>
              <a:t>,))</a:t>
            </a:r>
            <a:endParaRPr>
              <a:solidFill>
                <a:srgbClr val="FFFFFF"/>
              </a:solidFill>
            </a:endParaRPr>
          </a:p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7 </a:t>
            </a:r>
            <a:r>
              <a:rPr>
                <a:solidFill>
                  <a:srgbClr val="FFFFFF"/>
                </a:solidFill>
              </a:rPr>
              <a:t>        params</a:t>
            </a:r>
            <a:r>
              <a:rPr>
                <a:solidFill>
                  <a:srgbClr val="F8F8F2"/>
                </a:solidFill>
              </a:rPr>
              <a:t>.</a:t>
            </a:r>
            <a:r>
              <a:rPr>
                <a:solidFill>
                  <a:srgbClr val="FFFFFF"/>
                </a:solidFill>
              </a:rPr>
              <a:t>append</a:t>
            </a:r>
            <a:r>
              <a:rPr>
                <a:solidFill>
                  <a:srgbClr val="F8F8F2"/>
                </a:solidFill>
              </a:rPr>
              <a:t>({</a:t>
            </a:r>
            <a:r>
              <a:rPr>
                <a:solidFill>
                  <a:srgbClr val="FFFFFF"/>
                </a:solidFill>
              </a:rPr>
              <a:t>"W"</a:t>
            </a:r>
            <a:r>
              <a:rPr>
                <a:solidFill>
                  <a:srgbClr val="F8F8F2"/>
                </a:solidFill>
              </a:rPr>
              <a:t>:</a:t>
            </a:r>
            <a:r>
              <a:rPr>
                <a:solidFill>
                  <a:srgbClr val="FFFFFF"/>
                </a:solidFill>
              </a:rPr>
              <a:t> W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"b"</a:t>
            </a:r>
            <a:r>
              <a:rPr>
                <a:solidFill>
                  <a:srgbClr val="F8F8F2"/>
                </a:solidFill>
              </a:rPr>
              <a:t>:</a:t>
            </a:r>
            <a:r>
              <a:rPr>
                <a:solidFill>
                  <a:srgbClr val="FFFFFF"/>
                </a:solidFill>
              </a:rPr>
              <a:t> b</a:t>
            </a:r>
            <a:r>
              <a:rPr>
                <a:solidFill>
                  <a:srgbClr val="F8F8F2"/>
                </a:solidFill>
              </a:rPr>
              <a:t>})</a:t>
            </a:r>
            <a:endParaRPr>
              <a:solidFill>
                <a:srgbClr val="FFFFFF"/>
              </a:solidFill>
            </a:endParaRPr>
          </a:p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8 </a:t>
            </a:r>
            <a:r>
              <a:rPr>
                <a:solidFill>
                  <a:srgbClr val="FFFFFF"/>
                </a:solidFill>
              </a:rPr>
              <a:t>    </a:t>
            </a:r>
            <a:r>
              <a:rPr>
                <a:solidFill>
                  <a:srgbClr val="66D9EF"/>
                </a:solidFill>
              </a:rPr>
              <a:t>return</a:t>
            </a:r>
            <a:r>
              <a:rPr>
                <a:solidFill>
                  <a:srgbClr val="FFFFFF"/>
                </a:solidFill>
              </a:rPr>
              <a:t> params</a:t>
            </a:r>
            <a:endParaRPr>
              <a:solidFill>
                <a:srgbClr val="FFFFFF"/>
              </a:solidFill>
            </a:endParaRPr>
          </a:p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9 </a:t>
            </a:r>
            <a:endParaRPr>
              <a:solidFill>
                <a:srgbClr val="FFFFFF"/>
              </a:solidFill>
            </a:endParaRPr>
          </a:p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10 </a:t>
            </a:r>
            <a:r>
              <a:rPr>
                <a:solidFill>
                  <a:srgbClr val="66D9EF"/>
                </a:solidFill>
              </a:rPr>
              <a:t>def</a:t>
            </a:r>
            <a:r>
              <a:rPr>
                <a:solidFill>
                  <a:srgbClr val="FFFFFF"/>
                </a:solidFill>
              </a:rPr>
              <a:t> forward_mlp</a:t>
            </a:r>
            <a:r>
              <a:rPr>
                <a:solidFill>
                  <a:srgbClr val="F8F8F2"/>
                </a:solidFill>
              </a:rPr>
              <a:t>(</a:t>
            </a:r>
            <a:r>
              <a:rPr>
                <a:solidFill>
                  <a:srgbClr val="FFFFFF"/>
                </a:solidFill>
              </a:rPr>
              <a:t>params</a:t>
            </a:r>
            <a:r>
              <a:rPr>
                <a:solidFill>
                  <a:srgbClr val="F8F8F2"/>
                </a:solidFill>
              </a:rPr>
              <a:t>:</a:t>
            </a:r>
            <a:r>
              <a:rPr>
                <a:solidFill>
                  <a:srgbClr val="FFFFFF"/>
                </a:solidFill>
              </a:rPr>
              <a:t> list</a:t>
            </a:r>
            <a:r>
              <a:rPr>
                <a:solidFill>
                  <a:srgbClr val="F8F8F2"/>
                </a:solidFill>
              </a:rPr>
              <a:t>[</a:t>
            </a:r>
            <a:r>
              <a:rPr>
                <a:solidFill>
                  <a:srgbClr val="FFFFFF"/>
                </a:solidFill>
              </a:rPr>
              <a:t>dict</a:t>
            </a:r>
            <a:r>
              <a:rPr>
                <a:solidFill>
                  <a:srgbClr val="F8F8F2"/>
                </a:solidFill>
              </a:rPr>
              <a:t>[</a:t>
            </a:r>
            <a:r>
              <a:rPr>
                <a:solidFill>
                  <a:srgbClr val="FFFFFF"/>
                </a:solidFill>
              </a:rPr>
              <a:t>str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Array</a:t>
            </a:r>
            <a:r>
              <a:rPr>
                <a:solidFill>
                  <a:srgbClr val="F8F8F2"/>
                </a:solidFill>
              </a:rPr>
              <a:t>]],</a:t>
            </a:r>
            <a:r>
              <a:rPr>
                <a:solidFill>
                  <a:srgbClr val="FFFFFF"/>
                </a:solidFill>
              </a:rPr>
              <a:t> x</a:t>
            </a:r>
            <a:r>
              <a:rPr>
                <a:solidFill>
                  <a:srgbClr val="F8F8F2"/>
                </a:solidFill>
              </a:rPr>
              <a:t>:</a:t>
            </a:r>
            <a:r>
              <a:rPr>
                <a:solidFill>
                  <a:srgbClr val="FFFFFF"/>
                </a:solidFill>
              </a:rPr>
              <a:t> Array</a:t>
            </a:r>
            <a:r>
              <a:rPr>
                <a:solidFill>
                  <a:srgbClr val="F8F8F2"/>
                </a:solidFill>
              </a:rPr>
              <a:t>)</a:t>
            </a:r>
            <a:r>
              <a:rPr>
                <a:solidFill>
                  <a:srgbClr val="FFFFFF"/>
                </a:solidFill>
              </a:rPr>
              <a:t> </a:t>
            </a:r>
            <a:r>
              <a:rPr>
                <a:solidFill>
                  <a:srgbClr val="F8F8F2"/>
                </a:solidFill>
              </a:rPr>
              <a:t>-&gt;</a:t>
            </a:r>
            <a:r>
              <a:rPr>
                <a:solidFill>
                  <a:srgbClr val="FFFFFF"/>
                </a:solidFill>
              </a:rPr>
              <a:t> Array</a:t>
            </a:r>
            <a:r>
              <a:rPr>
                <a:solidFill>
                  <a:srgbClr val="F8F8F2"/>
                </a:solidFill>
              </a:rPr>
              <a:t>:</a:t>
            </a:r>
            <a:endParaRPr>
              <a:solidFill>
                <a:srgbClr val="FFFFFF"/>
              </a:solidFill>
            </a:endParaRPr>
          </a:p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11 </a:t>
            </a:r>
            <a:r>
              <a:rPr>
                <a:solidFill>
                  <a:srgbClr val="FFFFFF"/>
                </a:solidFill>
              </a:rPr>
              <a:t>    h </a:t>
            </a:r>
            <a:r>
              <a:rPr>
                <a:solidFill>
                  <a:srgbClr val="F8F8F2"/>
                </a:solidFill>
              </a:rPr>
              <a:t>=</a:t>
            </a:r>
            <a:r>
              <a:rPr>
                <a:solidFill>
                  <a:srgbClr val="FFFFFF"/>
                </a:solidFill>
              </a:rPr>
              <a:t> x</a:t>
            </a:r>
            <a:endParaRPr>
              <a:solidFill>
                <a:srgbClr val="FFFFFF"/>
              </a:solidFill>
            </a:endParaRPr>
          </a:p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12 </a:t>
            </a:r>
            <a:r>
              <a:rPr>
                <a:solidFill>
                  <a:srgbClr val="FFFFFF"/>
                </a:solidFill>
              </a:rPr>
              <a:t>    </a:t>
            </a:r>
            <a:r>
              <a:rPr>
                <a:solidFill>
                  <a:srgbClr val="66D9EF"/>
                </a:solidFill>
              </a:rPr>
              <a:t>for</a:t>
            </a:r>
            <a:r>
              <a:rPr>
                <a:solidFill>
                  <a:srgbClr val="FFFFFF"/>
                </a:solidFill>
              </a:rPr>
              <a:t> layer </a:t>
            </a:r>
            <a:r>
              <a:rPr>
                <a:solidFill>
                  <a:srgbClr val="66D9EF"/>
                </a:solidFill>
              </a:rPr>
              <a:t>in</a:t>
            </a:r>
            <a:r>
              <a:rPr>
                <a:solidFill>
                  <a:srgbClr val="FFFFFF"/>
                </a:solidFill>
              </a:rPr>
              <a:t> params</a:t>
            </a:r>
            <a:r>
              <a:rPr>
                <a:solidFill>
                  <a:srgbClr val="F8F8F2"/>
                </a:solidFill>
              </a:rPr>
              <a:t>[:-</a:t>
            </a:r>
            <a:r>
              <a:rPr>
                <a:solidFill>
                  <a:srgbClr val="FFFFFF"/>
                </a:solidFill>
              </a:rPr>
              <a:t>1</a:t>
            </a:r>
            <a:r>
              <a:rPr>
                <a:solidFill>
                  <a:srgbClr val="F8F8F2"/>
                </a:solidFill>
              </a:rPr>
              <a:t>]:</a:t>
            </a:r>
            <a:endParaRPr>
              <a:solidFill>
                <a:srgbClr val="FFFFFF"/>
              </a:solidFill>
            </a:endParaRPr>
          </a:p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13 </a:t>
            </a:r>
            <a:r>
              <a:rPr>
                <a:solidFill>
                  <a:srgbClr val="FFFFFF"/>
                </a:solidFill>
              </a:rPr>
              <a:t>        h </a:t>
            </a:r>
            <a:r>
              <a:rPr>
                <a:solidFill>
                  <a:srgbClr val="F8F8F2"/>
                </a:solidFill>
              </a:rPr>
              <a:t>=</a:t>
            </a:r>
            <a:r>
              <a:rPr>
                <a:solidFill>
                  <a:srgbClr val="FFFFFF"/>
                </a:solidFill>
              </a:rPr>
              <a:t> jnp</a:t>
            </a:r>
            <a:r>
              <a:rPr>
                <a:solidFill>
                  <a:srgbClr val="F8F8F2"/>
                </a:solidFill>
              </a:rPr>
              <a:t>.</a:t>
            </a:r>
            <a:r>
              <a:rPr>
                <a:solidFill>
                  <a:srgbClr val="FFFFFF"/>
                </a:solidFill>
              </a:rPr>
              <a:t>tanh</a:t>
            </a:r>
            <a:r>
              <a:rPr>
                <a:solidFill>
                  <a:srgbClr val="F8F8F2"/>
                </a:solidFill>
              </a:rPr>
              <a:t>(</a:t>
            </a:r>
            <a:r>
              <a:rPr>
                <a:solidFill>
                  <a:srgbClr val="FFFFFF"/>
                </a:solidFill>
              </a:rPr>
              <a:t>h @ layer</a:t>
            </a:r>
            <a:r>
              <a:rPr>
                <a:solidFill>
                  <a:srgbClr val="F8F8F2"/>
                </a:solidFill>
              </a:rPr>
              <a:t>[</a:t>
            </a:r>
            <a:r>
              <a:rPr>
                <a:solidFill>
                  <a:srgbClr val="FFFFFF"/>
                </a:solidFill>
              </a:rPr>
              <a:t>"W"</a:t>
            </a:r>
            <a:r>
              <a:rPr>
                <a:solidFill>
                  <a:srgbClr val="F8F8F2"/>
                </a:solidFill>
              </a:rPr>
              <a:t>]</a:t>
            </a:r>
            <a:r>
              <a:rPr>
                <a:solidFill>
                  <a:srgbClr val="FFFFFF"/>
                </a:solidFill>
              </a:rPr>
              <a:t> </a:t>
            </a:r>
            <a:r>
              <a:rPr>
                <a:solidFill>
                  <a:srgbClr val="F8F8F2"/>
                </a:solidFill>
              </a:rPr>
              <a:t>+</a:t>
            </a:r>
            <a:r>
              <a:rPr>
                <a:solidFill>
                  <a:srgbClr val="FFFFFF"/>
                </a:solidFill>
              </a:rPr>
              <a:t> layer</a:t>
            </a:r>
            <a:r>
              <a:rPr>
                <a:solidFill>
                  <a:srgbClr val="F8F8F2"/>
                </a:solidFill>
              </a:rPr>
              <a:t>[</a:t>
            </a:r>
            <a:r>
              <a:rPr>
                <a:solidFill>
                  <a:srgbClr val="FFFFFF"/>
                </a:solidFill>
              </a:rPr>
              <a:t>"b"</a:t>
            </a:r>
            <a:r>
              <a:rPr>
                <a:solidFill>
                  <a:srgbClr val="F8F8F2"/>
                </a:solidFill>
              </a:rPr>
              <a:t>])</a:t>
            </a:r>
            <a:endParaRPr>
              <a:solidFill>
                <a:srgbClr val="FFFFFF"/>
              </a:solidFill>
            </a:endParaRPr>
          </a:p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14 </a:t>
            </a:r>
            <a:r>
              <a:rPr>
                <a:solidFill>
                  <a:srgbClr val="FFFFFF"/>
                </a:solidFill>
              </a:rPr>
              <a:t>    </a:t>
            </a:r>
            <a:r>
              <a:rPr>
                <a:solidFill>
                  <a:srgbClr val="66D9EF"/>
                </a:solidFill>
              </a:rPr>
              <a:t>return</a:t>
            </a:r>
            <a:r>
              <a:rPr>
                <a:solidFill>
                  <a:srgbClr val="FFFFFF"/>
                </a:solidFill>
              </a:rPr>
              <a:t> h @ params</a:t>
            </a:r>
            <a:r>
              <a:rPr>
                <a:solidFill>
                  <a:srgbClr val="F8F8F2"/>
                </a:solidFill>
              </a:rPr>
              <a:t>[-</a:t>
            </a:r>
            <a:r>
              <a:rPr>
                <a:solidFill>
                  <a:srgbClr val="FFFFFF"/>
                </a:solidFill>
              </a:rPr>
              <a:t>1</a:t>
            </a:r>
            <a:r>
              <a:rPr>
                <a:solidFill>
                  <a:srgbClr val="F8F8F2"/>
                </a:solidFill>
              </a:rPr>
              <a:t>][</a:t>
            </a:r>
            <a:r>
              <a:rPr>
                <a:solidFill>
                  <a:srgbClr val="FFFFFF"/>
                </a:solidFill>
              </a:rPr>
              <a:t>"W"</a:t>
            </a:r>
            <a:r>
              <a:rPr>
                <a:solidFill>
                  <a:srgbClr val="F8F8F2"/>
                </a:solidFill>
              </a:rPr>
              <a:t>]</a:t>
            </a:r>
            <a:r>
              <a:rPr>
                <a:solidFill>
                  <a:srgbClr val="FFFFFF"/>
                </a:solidFill>
              </a:rPr>
              <a:t> </a:t>
            </a:r>
            <a:r>
              <a:rPr>
                <a:solidFill>
                  <a:srgbClr val="F8F8F2"/>
                </a:solidFill>
              </a:rPr>
              <a:t>+</a:t>
            </a:r>
            <a:r>
              <a:rPr>
                <a:solidFill>
                  <a:srgbClr val="FFFFFF"/>
                </a:solidFill>
              </a:rPr>
              <a:t> params</a:t>
            </a:r>
            <a:r>
              <a:rPr>
                <a:solidFill>
                  <a:srgbClr val="F8F8F2"/>
                </a:solidFill>
              </a:rPr>
              <a:t>[-</a:t>
            </a:r>
            <a:r>
              <a:rPr>
                <a:solidFill>
                  <a:srgbClr val="FFFFFF"/>
                </a:solidFill>
              </a:rPr>
              <a:t>1</a:t>
            </a:r>
            <a:r>
              <a:rPr>
                <a:solidFill>
                  <a:srgbClr val="F8F8F2"/>
                </a:solidFill>
              </a:rPr>
              <a:t>][</a:t>
            </a:r>
            <a:r>
              <a:rPr>
                <a:solidFill>
                  <a:srgbClr val="FFFFFF"/>
                </a:solidFill>
              </a:rPr>
              <a:t>"b"</a:t>
            </a:r>
            <a:r>
              <a:rPr>
                <a:solidFill>
                  <a:srgbClr val="F8F8F2"/>
                </a:solidFill>
              </a:rPr>
              <a:t>]</a:t>
            </a:r>
          </a:p>
        </p:txBody>
      </p:sp>
      <p:sp>
        <p:nvSpPr>
          <p:cNvPr id="229" name="Shape 10"/>
          <p:cNvSpPr/>
          <p:nvPr/>
        </p:nvSpPr>
        <p:spPr>
          <a:xfrm>
            <a:off x="594359" y="6473952"/>
            <a:ext cx="10972801" cy="1"/>
          </a:xfrm>
          <a:prstGeom prst="line">
            <a:avLst/>
          </a:prstGeom>
          <a:ln w="12700">
            <a:solidFill>
              <a:srgbClr val="D7DCE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0" name="Text 11"/>
          <p:cNvSpPr txBox="1"/>
          <p:nvPr/>
        </p:nvSpPr>
        <p:spPr>
          <a:xfrm>
            <a:off x="621791" y="6529323"/>
            <a:ext cx="10972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/>
            <a:r>
              <a:t>17.04.2026</a:t>
            </a:r>
          </a:p>
        </p:txBody>
      </p:sp>
      <p:sp>
        <p:nvSpPr>
          <p:cNvPr id="231" name="Text 12"/>
          <p:cNvSpPr txBox="1"/>
          <p:nvPr/>
        </p:nvSpPr>
        <p:spPr>
          <a:xfrm>
            <a:off x="11155680" y="6529323"/>
            <a:ext cx="3200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6B7280"/>
                </a:solidFill>
              </a:defRPr>
            </a:lvl1pPr>
          </a:lstStyle>
          <a:p>
            <a:pPr/>
            <a:r>
              <a:t>18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Text 0"/>
          <p:cNvSpPr txBox="1"/>
          <p:nvPr/>
        </p:nvSpPr>
        <p:spPr>
          <a:xfrm>
            <a:off x="658368" y="370168"/>
            <a:ext cx="10881360" cy="2837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000">
                <a:solidFill>
                  <a:srgbClr val="111111"/>
                </a:solidFill>
              </a:defRPr>
            </a:lvl1pPr>
          </a:lstStyle>
          <a:p>
            <a:pPr/>
            <a:r>
              <a:t>PINN: жёсткое наложение условий и преобразование выхода</a:t>
            </a:r>
          </a:p>
        </p:txBody>
      </p:sp>
      <p:sp>
        <p:nvSpPr>
          <p:cNvPr id="234" name="Text 1"/>
          <p:cNvSpPr txBox="1"/>
          <p:nvPr/>
        </p:nvSpPr>
        <p:spPr>
          <a:xfrm>
            <a:off x="749807" y="896111"/>
            <a:ext cx="10149842" cy="502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ct val="104999"/>
              </a:lnSpc>
              <a:defRPr sz="1600">
                <a:solidFill>
                  <a:srgbClr val="111111"/>
                </a:solidFill>
              </a:defRPr>
            </a:pPr>
            <a:r>
              <a:t>В данной реализации начальные и граничные условия не только учитываются в </a:t>
            </a:r>
            <a:r>
              <a:rPr b="1"/>
              <a:t>функции потерь</a:t>
            </a:r>
            <a:r>
              <a:t>, но и встраиваются непосредственно в форму решения.</a:t>
            </a:r>
          </a:p>
        </p:txBody>
      </p:sp>
      <p:sp>
        <p:nvSpPr>
          <p:cNvPr id="235" name="Shape 2"/>
          <p:cNvSpPr/>
          <p:nvPr/>
        </p:nvSpPr>
        <p:spPr>
          <a:xfrm>
            <a:off x="3401567" y="2360187"/>
            <a:ext cx="4846322" cy="841249"/>
          </a:xfrm>
          <a:prstGeom prst="roundRect">
            <a:avLst>
              <a:gd name="adj" fmla="val 16667"/>
            </a:avLst>
          </a:prstGeom>
          <a:solidFill>
            <a:srgbClr val="F6F8FA"/>
          </a:solidFill>
          <a:ln w="12700">
            <a:solidFill>
              <a:srgbClr val="D7DCE2"/>
            </a:solidFill>
          </a:ln>
        </p:spPr>
        <p:txBody>
          <a:bodyPr lIns="45719" rIns="45719"/>
          <a:lstStyle/>
          <a:p>
            <a:pPr/>
          </a:p>
        </p:txBody>
      </p:sp>
      <p:pic>
        <p:nvPicPr>
          <p:cNvPr id="236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639311" y="2495918"/>
            <a:ext cx="4370834" cy="569787"/>
          </a:xfrm>
          <a:prstGeom prst="rect">
            <a:avLst/>
          </a:prstGeom>
          <a:ln w="12700">
            <a:miter lim="400000"/>
          </a:ln>
        </p:spPr>
      </p:pic>
      <p:sp>
        <p:nvSpPr>
          <p:cNvPr id="237" name="Text 3"/>
          <p:cNvSpPr txBox="1"/>
          <p:nvPr/>
        </p:nvSpPr>
        <p:spPr>
          <a:xfrm>
            <a:off x="740918" y="3578137"/>
            <a:ext cx="10679684" cy="23774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ct val="104999"/>
              </a:lnSpc>
              <a:defRPr sz="1500">
                <a:solidFill>
                  <a:srgbClr val="111111"/>
                </a:solidFill>
              </a:defRPr>
            </a:pPr>
            <a:r>
              <a:t>• u₀ - точное начальное условие</a:t>
            </a:r>
          </a:p>
          <a:p>
            <a:pPr>
              <a:lnSpc>
                <a:spcPct val="104999"/>
              </a:lnSpc>
              <a:defRPr sz="1500">
                <a:solidFill>
                  <a:srgbClr val="111111"/>
                </a:solidFill>
              </a:defRPr>
            </a:pPr>
            <a:r>
              <a:t>• τ - временной множитель, равный нулю при t = 0</a:t>
            </a:r>
          </a:p>
          <a:p>
            <a:pPr>
              <a:lnSpc>
                <a:spcPct val="104999"/>
              </a:lnSpc>
              <a:defRPr sz="1500">
                <a:solidFill>
                  <a:srgbClr val="111111"/>
                </a:solidFill>
              </a:defRPr>
            </a:pPr>
            <a:r>
              <a:t>• env - пространственная оболочка, обращающаяся в ноль на границе</a:t>
            </a:r>
          </a:p>
          <a:p>
            <a:pPr>
              <a:lnSpc>
                <a:spcPct val="104999"/>
              </a:lnSpc>
              <a:defRPr sz="1500">
                <a:solidFill>
                  <a:srgbClr val="111111"/>
                </a:solidFill>
              </a:defRPr>
            </a:pPr>
            <a:r>
              <a:t>• raw_out - необработанный выход нейросети</a:t>
            </a:r>
          </a:p>
          <a:p>
            <a:pPr>
              <a:lnSpc>
                <a:spcPct val="104999"/>
              </a:lnSpc>
              <a:defRPr sz="1500">
                <a:solidFill>
                  <a:srgbClr val="111111"/>
                </a:solidFill>
              </a:defRPr>
            </a:pPr>
            <a:r>
              <a:t>• следствие: при t = 0 выполняется u = u₀, а на границе - u = 0</a:t>
            </a:r>
          </a:p>
        </p:txBody>
      </p:sp>
      <p:sp>
        <p:nvSpPr>
          <p:cNvPr id="238" name="Shape 9"/>
          <p:cNvSpPr/>
          <p:nvPr/>
        </p:nvSpPr>
        <p:spPr>
          <a:xfrm>
            <a:off x="594359" y="6473952"/>
            <a:ext cx="10972801" cy="1"/>
          </a:xfrm>
          <a:prstGeom prst="line">
            <a:avLst/>
          </a:prstGeom>
          <a:ln w="12700">
            <a:solidFill>
              <a:srgbClr val="D7DCE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9" name="Text 10"/>
          <p:cNvSpPr txBox="1"/>
          <p:nvPr/>
        </p:nvSpPr>
        <p:spPr>
          <a:xfrm>
            <a:off x="621791" y="6529323"/>
            <a:ext cx="10972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/>
            <a:r>
              <a:t>17.04.2026</a:t>
            </a:r>
          </a:p>
        </p:txBody>
      </p:sp>
      <p:sp>
        <p:nvSpPr>
          <p:cNvPr id="240" name="Text 11"/>
          <p:cNvSpPr txBox="1"/>
          <p:nvPr/>
        </p:nvSpPr>
        <p:spPr>
          <a:xfrm>
            <a:off x="11155680" y="6529323"/>
            <a:ext cx="3200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6B7280"/>
                </a:solidFill>
              </a:defRPr>
            </a:lvl1pPr>
          </a:lstStyle>
          <a:p>
            <a:pPr/>
            <a:r>
              <a:t>19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Text 0"/>
          <p:cNvSpPr txBox="1"/>
          <p:nvPr/>
        </p:nvSpPr>
        <p:spPr>
          <a:xfrm>
            <a:off x="658368" y="370168"/>
            <a:ext cx="10881360" cy="2837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000">
                <a:solidFill>
                  <a:srgbClr val="111111"/>
                </a:solidFill>
              </a:defRPr>
            </a:lvl1pPr>
          </a:lstStyle>
          <a:p>
            <a:pPr/>
            <a:r>
              <a:t>PINN: код output transform</a:t>
            </a:r>
          </a:p>
        </p:txBody>
      </p:sp>
      <p:sp>
        <p:nvSpPr>
          <p:cNvPr id="243" name="Text 1"/>
          <p:cNvSpPr txBox="1"/>
          <p:nvPr/>
        </p:nvSpPr>
        <p:spPr>
          <a:xfrm>
            <a:off x="749808" y="896111"/>
            <a:ext cx="7772401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04999"/>
              </a:lnSpc>
              <a:defRPr sz="1600">
                <a:solidFill>
                  <a:srgbClr val="111111"/>
                </a:solidFill>
              </a:defRPr>
            </a:lvl1pPr>
          </a:lstStyle>
          <a:p>
            <a:pPr/>
            <a:r>
              <a:t>Hard constraints встроены непосредственно в вычисление предсказания сети.</a:t>
            </a:r>
          </a:p>
        </p:txBody>
      </p:sp>
      <p:sp>
        <p:nvSpPr>
          <p:cNvPr id="244" name="Shape 2"/>
          <p:cNvSpPr/>
          <p:nvPr/>
        </p:nvSpPr>
        <p:spPr>
          <a:xfrm>
            <a:off x="841247" y="1508760"/>
            <a:ext cx="10424161" cy="4617721"/>
          </a:xfrm>
          <a:prstGeom prst="roundRect">
            <a:avLst>
              <a:gd name="adj" fmla="val 0"/>
            </a:avLst>
          </a:prstGeom>
          <a:solidFill>
            <a:srgbClr val="151A22"/>
          </a:solidFill>
          <a:ln w="12700">
            <a:solidFill>
              <a:srgbClr val="2D3440"/>
            </a:solidFill>
          </a:ln>
          <a:effectLst>
            <a:outerShdw sx="100000" sy="100000" kx="0" ky="0" algn="b" rotWithShape="0" blurRad="12700" dist="12700" dir="2700000">
              <a:srgbClr val="000000">
                <a:alpha val="1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5" name="Text 3"/>
          <p:cNvSpPr txBox="1"/>
          <p:nvPr/>
        </p:nvSpPr>
        <p:spPr>
          <a:xfrm>
            <a:off x="1005839" y="1600707"/>
            <a:ext cx="1009497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900">
                <a:solidFill>
                  <a:srgbClr val="96A0AD"/>
                </a:solidFill>
              </a:defRPr>
            </a:lvl1pPr>
          </a:lstStyle>
          <a:p>
            <a:pPr/>
            <a:r>
              <a:t>src/pinn_solver.py</a:t>
            </a:r>
          </a:p>
        </p:txBody>
      </p:sp>
      <p:sp>
        <p:nvSpPr>
          <p:cNvPr id="246" name="Text 4"/>
          <p:cNvSpPr txBox="1"/>
          <p:nvPr/>
        </p:nvSpPr>
        <p:spPr>
          <a:xfrm>
            <a:off x="987551" y="1728216"/>
            <a:ext cx="10131554" cy="434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1 </a:t>
            </a:r>
            <a:r>
              <a:rPr>
                <a:solidFill>
                  <a:srgbClr val="66D9EF"/>
                </a:solidFill>
              </a:rPr>
              <a:t>def</a:t>
            </a:r>
            <a:r>
              <a:rPr>
                <a:solidFill>
                  <a:srgbClr val="FFFFFF"/>
                </a:solidFill>
              </a:rPr>
              <a:t> apply_output_transform</a:t>
            </a:r>
            <a:r>
              <a:rPr>
                <a:solidFill>
                  <a:srgbClr val="F8F8F2"/>
                </a:solidFill>
              </a:rPr>
              <a:t>(</a:t>
            </a:r>
            <a:r>
              <a:rPr>
                <a:solidFill>
                  <a:srgbClr val="FFFFFF"/>
                </a:solidFill>
              </a:rPr>
              <a:t>raw_out</a:t>
            </a:r>
            <a:r>
              <a:rPr>
                <a:solidFill>
                  <a:srgbClr val="F8F8F2"/>
                </a:solidFill>
              </a:rPr>
              <a:t>:</a:t>
            </a:r>
            <a:r>
              <a:rPr>
                <a:solidFill>
                  <a:srgbClr val="FFFFFF"/>
                </a:solidFill>
              </a:rPr>
              <a:t> Array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points</a:t>
            </a:r>
            <a:r>
              <a:rPr>
                <a:solidFill>
                  <a:srgbClr val="F8F8F2"/>
                </a:solidFill>
              </a:rPr>
              <a:t>:</a:t>
            </a:r>
            <a:r>
              <a:rPr>
                <a:solidFill>
                  <a:srgbClr val="FFFFFF"/>
                </a:solidFill>
              </a:rPr>
              <a:t> Array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cfg</a:t>
            </a:r>
            <a:r>
              <a:rPr>
                <a:solidFill>
                  <a:srgbClr val="F8F8F2"/>
                </a:solidFill>
              </a:rPr>
              <a:t>:</a:t>
            </a:r>
            <a:r>
              <a:rPr>
                <a:solidFill>
                  <a:srgbClr val="FFFFFF"/>
                </a:solidFill>
              </a:rPr>
              <a:t> PINNConfig</a:t>
            </a:r>
            <a:r>
              <a:rPr>
                <a:solidFill>
                  <a:srgbClr val="F8F8F2"/>
                </a:solidFill>
              </a:rPr>
              <a:t>)</a:t>
            </a:r>
            <a:r>
              <a:rPr>
                <a:solidFill>
                  <a:srgbClr val="FFFFFF"/>
                </a:solidFill>
              </a:rPr>
              <a:t> </a:t>
            </a:r>
            <a:r>
              <a:rPr>
                <a:solidFill>
                  <a:srgbClr val="F8F8F2"/>
                </a:solidFill>
              </a:rPr>
              <a:t>-&gt;</a:t>
            </a:r>
            <a:r>
              <a:rPr>
                <a:solidFill>
                  <a:srgbClr val="FFFFFF"/>
                </a:solidFill>
              </a:rPr>
              <a:t> Array</a:t>
            </a:r>
            <a:r>
              <a:rPr>
                <a:solidFill>
                  <a:srgbClr val="F8F8F2"/>
                </a:solidFill>
              </a:rPr>
              <a:t>:</a:t>
            </a:r>
            <a:endParaRPr>
              <a:solidFill>
                <a:srgbClr val="FFFFFF"/>
              </a:solidFill>
            </a:endParaRPr>
          </a:p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2 </a:t>
            </a:r>
            <a:r>
              <a:rPr>
                <a:solidFill>
                  <a:srgbClr val="FFFFFF"/>
                </a:solidFill>
              </a:rPr>
              <a:t>    u0 </a:t>
            </a:r>
            <a:r>
              <a:rPr>
                <a:solidFill>
                  <a:srgbClr val="F8F8F2"/>
                </a:solidFill>
              </a:rPr>
              <a:t>=</a:t>
            </a:r>
            <a:r>
              <a:rPr>
                <a:solidFill>
                  <a:srgbClr val="FFFFFF"/>
                </a:solidFill>
              </a:rPr>
              <a:t> initial_condition</a:t>
            </a:r>
            <a:r>
              <a:rPr>
                <a:solidFill>
                  <a:srgbClr val="F8F8F2"/>
                </a:solidFill>
              </a:rPr>
              <a:t>(</a:t>
            </a:r>
            <a:r>
              <a:rPr>
                <a:solidFill>
                  <a:srgbClr val="FFFFFF"/>
                </a:solidFill>
              </a:rPr>
              <a:t>points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cfg</a:t>
            </a:r>
            <a:r>
              <a:rPr>
                <a:solidFill>
                  <a:srgbClr val="F8F8F2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3 </a:t>
            </a:r>
            <a:r>
              <a:rPr>
                <a:solidFill>
                  <a:srgbClr val="FFFFFF"/>
                </a:solidFill>
              </a:rPr>
              <a:t>    tau </a:t>
            </a:r>
            <a:r>
              <a:rPr>
                <a:solidFill>
                  <a:srgbClr val="F8F8F2"/>
                </a:solidFill>
              </a:rPr>
              <a:t>=</a:t>
            </a:r>
            <a:r>
              <a:rPr>
                <a:solidFill>
                  <a:srgbClr val="FFFFFF"/>
                </a:solidFill>
              </a:rPr>
              <a:t> time_factor</a:t>
            </a:r>
            <a:r>
              <a:rPr>
                <a:solidFill>
                  <a:srgbClr val="F8F8F2"/>
                </a:solidFill>
              </a:rPr>
              <a:t>(</a:t>
            </a:r>
            <a:r>
              <a:rPr>
                <a:solidFill>
                  <a:srgbClr val="FFFFFF"/>
                </a:solidFill>
              </a:rPr>
              <a:t>points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cfg</a:t>
            </a:r>
            <a:r>
              <a:rPr>
                <a:solidFill>
                  <a:srgbClr val="F8F8F2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4 </a:t>
            </a:r>
            <a:r>
              <a:rPr>
                <a:solidFill>
                  <a:srgbClr val="FFFFFF"/>
                </a:solidFill>
              </a:rPr>
              <a:t>    env </a:t>
            </a:r>
            <a:r>
              <a:rPr>
                <a:solidFill>
                  <a:srgbClr val="F8F8F2"/>
                </a:solidFill>
              </a:rPr>
              <a:t>=</a:t>
            </a:r>
            <a:r>
              <a:rPr>
                <a:solidFill>
                  <a:srgbClr val="FFFFFF"/>
                </a:solidFill>
              </a:rPr>
              <a:t> boundary_envelope</a:t>
            </a:r>
            <a:r>
              <a:rPr>
                <a:solidFill>
                  <a:srgbClr val="F8F8F2"/>
                </a:solidFill>
              </a:rPr>
              <a:t>(</a:t>
            </a:r>
            <a:r>
              <a:rPr>
                <a:solidFill>
                  <a:srgbClr val="FFFFFF"/>
                </a:solidFill>
              </a:rPr>
              <a:t>points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cfg</a:t>
            </a:r>
            <a:r>
              <a:rPr>
                <a:solidFill>
                  <a:srgbClr val="F8F8F2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5 </a:t>
            </a:r>
            <a:r>
              <a:rPr>
                <a:solidFill>
                  <a:srgbClr val="FFFFFF"/>
                </a:solidFill>
              </a:rPr>
              <a:t>    </a:t>
            </a:r>
            <a:r>
              <a:rPr>
                <a:solidFill>
                  <a:srgbClr val="66D9EF"/>
                </a:solidFill>
              </a:rPr>
              <a:t>return</a:t>
            </a:r>
            <a:r>
              <a:rPr>
                <a:solidFill>
                  <a:srgbClr val="FFFFFF"/>
                </a:solidFill>
              </a:rPr>
              <a:t> </a:t>
            </a:r>
            <a:r>
              <a:rPr>
                <a:solidFill>
                  <a:srgbClr val="F8F8F2"/>
                </a:solidFill>
              </a:rPr>
              <a:t>(</a:t>
            </a:r>
            <a:r>
              <a:rPr>
                <a:solidFill>
                  <a:srgbClr val="FFFFFF"/>
                </a:solidFill>
              </a:rPr>
              <a:t>1.0 </a:t>
            </a:r>
            <a:r>
              <a:rPr>
                <a:solidFill>
                  <a:srgbClr val="F8F8F2"/>
                </a:solidFill>
              </a:rPr>
              <a:t>-</a:t>
            </a:r>
            <a:r>
              <a:rPr>
                <a:solidFill>
                  <a:srgbClr val="FFFFFF"/>
                </a:solidFill>
              </a:rPr>
              <a:t> tau</a:t>
            </a:r>
            <a:r>
              <a:rPr>
                <a:solidFill>
                  <a:srgbClr val="F8F8F2"/>
                </a:solidFill>
              </a:rPr>
              <a:t>)</a:t>
            </a:r>
            <a:r>
              <a:rPr>
                <a:solidFill>
                  <a:srgbClr val="FFFFFF"/>
                </a:solidFill>
              </a:rPr>
              <a:t> </a:t>
            </a:r>
            <a:r>
              <a:rPr>
                <a:solidFill>
                  <a:srgbClr val="F8F8F2"/>
                </a:solidFill>
              </a:rPr>
              <a:t>*</a:t>
            </a:r>
            <a:r>
              <a:rPr>
                <a:solidFill>
                  <a:srgbClr val="FFFFFF"/>
                </a:solidFill>
              </a:rPr>
              <a:t> u0 </a:t>
            </a:r>
            <a:r>
              <a:rPr>
                <a:solidFill>
                  <a:srgbClr val="F8F8F2"/>
                </a:solidFill>
              </a:rPr>
              <a:t>+</a:t>
            </a:r>
            <a:r>
              <a:rPr>
                <a:solidFill>
                  <a:srgbClr val="FFFFFF"/>
                </a:solidFill>
              </a:rPr>
              <a:t> tau </a:t>
            </a:r>
            <a:r>
              <a:rPr>
                <a:solidFill>
                  <a:srgbClr val="F8F8F2"/>
                </a:solidFill>
              </a:rPr>
              <a:t>*</a:t>
            </a:r>
            <a:r>
              <a:rPr>
                <a:solidFill>
                  <a:srgbClr val="FFFFFF"/>
                </a:solidFill>
              </a:rPr>
              <a:t> env </a:t>
            </a:r>
            <a:r>
              <a:rPr>
                <a:solidFill>
                  <a:srgbClr val="F8F8F2"/>
                </a:solidFill>
              </a:rPr>
              <a:t>*</a:t>
            </a:r>
            <a:r>
              <a:rPr>
                <a:solidFill>
                  <a:srgbClr val="FFFFFF"/>
                </a:solidFill>
              </a:rPr>
              <a:t> raw_out</a:t>
            </a:r>
            <a:endParaRPr>
              <a:solidFill>
                <a:srgbClr val="FFFFFF"/>
              </a:solidFill>
            </a:endParaRPr>
          </a:p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6 </a:t>
            </a:r>
            <a:endParaRPr>
              <a:solidFill>
                <a:srgbClr val="FFFFFF"/>
              </a:solidFill>
            </a:endParaRPr>
          </a:p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7 </a:t>
            </a:r>
            <a:r>
              <a:rPr>
                <a:solidFill>
                  <a:srgbClr val="66D9EF"/>
                </a:solidFill>
              </a:rPr>
              <a:t>def</a:t>
            </a:r>
            <a:r>
              <a:rPr>
                <a:solidFill>
                  <a:srgbClr val="FFFFFF"/>
                </a:solidFill>
              </a:rPr>
              <a:t> predict</a:t>
            </a:r>
            <a:r>
              <a:rPr>
                <a:solidFill>
                  <a:srgbClr val="F8F8F2"/>
                </a:solidFill>
              </a:rPr>
              <a:t>(</a:t>
            </a:r>
            <a:r>
              <a:rPr>
                <a:solidFill>
                  <a:srgbClr val="FFFFFF"/>
                </a:solidFill>
              </a:rPr>
              <a:t>params</a:t>
            </a:r>
            <a:r>
              <a:rPr>
                <a:solidFill>
                  <a:srgbClr val="F8F8F2"/>
                </a:solidFill>
              </a:rPr>
              <a:t>:</a:t>
            </a:r>
            <a:r>
              <a:rPr>
                <a:solidFill>
                  <a:srgbClr val="FFFFFF"/>
                </a:solidFill>
              </a:rPr>
              <a:t> list</a:t>
            </a:r>
            <a:r>
              <a:rPr>
                <a:solidFill>
                  <a:srgbClr val="F8F8F2"/>
                </a:solidFill>
              </a:rPr>
              <a:t>[</a:t>
            </a:r>
            <a:r>
              <a:rPr>
                <a:solidFill>
                  <a:srgbClr val="FFFFFF"/>
                </a:solidFill>
              </a:rPr>
              <a:t>dict</a:t>
            </a:r>
            <a:r>
              <a:rPr>
                <a:solidFill>
                  <a:srgbClr val="F8F8F2"/>
                </a:solidFill>
              </a:rPr>
              <a:t>[</a:t>
            </a:r>
            <a:r>
              <a:rPr>
                <a:solidFill>
                  <a:srgbClr val="FFFFFF"/>
                </a:solidFill>
              </a:rPr>
              <a:t>str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Array</a:t>
            </a:r>
            <a:r>
              <a:rPr>
                <a:solidFill>
                  <a:srgbClr val="F8F8F2"/>
                </a:solidFill>
              </a:rPr>
              <a:t>]],</a:t>
            </a:r>
            <a:r>
              <a:rPr>
                <a:solidFill>
                  <a:srgbClr val="FFFFFF"/>
                </a:solidFill>
              </a:rPr>
              <a:t> points</a:t>
            </a:r>
            <a:r>
              <a:rPr>
                <a:solidFill>
                  <a:srgbClr val="F8F8F2"/>
                </a:solidFill>
              </a:rPr>
              <a:t>:</a:t>
            </a:r>
            <a:r>
              <a:rPr>
                <a:solidFill>
                  <a:srgbClr val="FFFFFF"/>
                </a:solidFill>
              </a:rPr>
              <a:t> Array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cfg</a:t>
            </a:r>
            <a:r>
              <a:rPr>
                <a:solidFill>
                  <a:srgbClr val="F8F8F2"/>
                </a:solidFill>
              </a:rPr>
              <a:t>:</a:t>
            </a:r>
            <a:r>
              <a:rPr>
                <a:solidFill>
                  <a:srgbClr val="FFFFFF"/>
                </a:solidFill>
              </a:rPr>
              <a:t> PINNConfig</a:t>
            </a:r>
            <a:r>
              <a:rPr>
                <a:solidFill>
                  <a:srgbClr val="F8F8F2"/>
                </a:solidFill>
              </a:rPr>
              <a:t>)</a:t>
            </a:r>
            <a:r>
              <a:rPr>
                <a:solidFill>
                  <a:srgbClr val="FFFFFF"/>
                </a:solidFill>
              </a:rPr>
              <a:t> </a:t>
            </a:r>
            <a:r>
              <a:rPr>
                <a:solidFill>
                  <a:srgbClr val="F8F8F2"/>
                </a:solidFill>
              </a:rPr>
              <a:t>-&gt;</a:t>
            </a:r>
            <a:r>
              <a:rPr>
                <a:solidFill>
                  <a:srgbClr val="FFFFFF"/>
                </a:solidFill>
              </a:rPr>
              <a:t> Array</a:t>
            </a:r>
            <a:r>
              <a:rPr>
                <a:solidFill>
                  <a:srgbClr val="F8F8F2"/>
                </a:solidFill>
              </a:rPr>
              <a:t>:</a:t>
            </a:r>
            <a:endParaRPr>
              <a:solidFill>
                <a:srgbClr val="FFFFFF"/>
              </a:solidFill>
            </a:endParaRPr>
          </a:p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8 </a:t>
            </a:r>
            <a:r>
              <a:rPr>
                <a:solidFill>
                  <a:srgbClr val="FFFFFF"/>
                </a:solidFill>
              </a:rPr>
              <a:t>    raw </a:t>
            </a:r>
            <a:r>
              <a:rPr>
                <a:solidFill>
                  <a:srgbClr val="F8F8F2"/>
                </a:solidFill>
              </a:rPr>
              <a:t>=</a:t>
            </a:r>
            <a:r>
              <a:rPr>
                <a:solidFill>
                  <a:srgbClr val="FFFFFF"/>
                </a:solidFill>
              </a:rPr>
              <a:t> forward_mlp</a:t>
            </a:r>
            <a:r>
              <a:rPr>
                <a:solidFill>
                  <a:srgbClr val="F8F8F2"/>
                </a:solidFill>
              </a:rPr>
              <a:t>(</a:t>
            </a:r>
            <a:r>
              <a:rPr>
                <a:solidFill>
                  <a:srgbClr val="FFFFFF"/>
                </a:solidFill>
              </a:rPr>
              <a:t>params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normalize_inputs</a:t>
            </a:r>
            <a:r>
              <a:rPr>
                <a:solidFill>
                  <a:srgbClr val="F8F8F2"/>
                </a:solidFill>
              </a:rPr>
              <a:t>(</a:t>
            </a:r>
            <a:r>
              <a:rPr>
                <a:solidFill>
                  <a:srgbClr val="FFFFFF"/>
                </a:solidFill>
              </a:rPr>
              <a:t>points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cfg</a:t>
            </a:r>
            <a:r>
              <a:rPr>
                <a:solidFill>
                  <a:srgbClr val="F8F8F2"/>
                </a:solidFill>
              </a:rPr>
              <a:t>))</a:t>
            </a:r>
            <a:endParaRPr>
              <a:solidFill>
                <a:srgbClr val="FFFFFF"/>
              </a:solidFill>
            </a:endParaRPr>
          </a:p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9 </a:t>
            </a:r>
            <a:r>
              <a:rPr>
                <a:solidFill>
                  <a:srgbClr val="FFFFFF"/>
                </a:solidFill>
              </a:rPr>
              <a:t>    </a:t>
            </a:r>
            <a:r>
              <a:rPr>
                <a:solidFill>
                  <a:srgbClr val="66D9EF"/>
                </a:solidFill>
              </a:rPr>
              <a:t>if</a:t>
            </a:r>
            <a:r>
              <a:rPr>
                <a:solidFill>
                  <a:srgbClr val="FFFFFF"/>
                </a:solidFill>
              </a:rPr>
              <a:t> cfg</a:t>
            </a:r>
            <a:r>
              <a:rPr>
                <a:solidFill>
                  <a:srgbClr val="F8F8F2"/>
                </a:solidFill>
              </a:rPr>
              <a:t>.</a:t>
            </a:r>
            <a:r>
              <a:rPr>
                <a:solidFill>
                  <a:srgbClr val="FFFFFF"/>
                </a:solidFill>
              </a:rPr>
              <a:t>use_hard_constraints</a:t>
            </a:r>
            <a:r>
              <a:rPr>
                <a:solidFill>
                  <a:srgbClr val="F8F8F2"/>
                </a:solidFill>
              </a:rPr>
              <a:t>:</a:t>
            </a:r>
            <a:endParaRPr>
              <a:solidFill>
                <a:srgbClr val="FFFFFF"/>
              </a:solidFill>
            </a:endParaRPr>
          </a:p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10 </a:t>
            </a:r>
            <a:r>
              <a:rPr>
                <a:solidFill>
                  <a:srgbClr val="FFFFFF"/>
                </a:solidFill>
              </a:rPr>
              <a:t>        </a:t>
            </a:r>
            <a:r>
              <a:rPr>
                <a:solidFill>
                  <a:srgbClr val="66D9EF"/>
                </a:solidFill>
              </a:rPr>
              <a:t>return</a:t>
            </a:r>
            <a:r>
              <a:rPr>
                <a:solidFill>
                  <a:srgbClr val="FFFFFF"/>
                </a:solidFill>
              </a:rPr>
              <a:t> apply_output_transform</a:t>
            </a:r>
            <a:r>
              <a:rPr>
                <a:solidFill>
                  <a:srgbClr val="F8F8F2"/>
                </a:solidFill>
              </a:rPr>
              <a:t>(</a:t>
            </a:r>
            <a:r>
              <a:rPr>
                <a:solidFill>
                  <a:srgbClr val="FFFFFF"/>
                </a:solidFill>
              </a:rPr>
              <a:t>raw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points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cfg</a:t>
            </a:r>
            <a:r>
              <a:rPr>
                <a:solidFill>
                  <a:srgbClr val="F8F8F2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11 </a:t>
            </a:r>
            <a:r>
              <a:rPr>
                <a:solidFill>
                  <a:srgbClr val="FFFFFF"/>
                </a:solidFill>
              </a:rPr>
              <a:t>    </a:t>
            </a:r>
            <a:r>
              <a:rPr>
                <a:solidFill>
                  <a:srgbClr val="66D9EF"/>
                </a:solidFill>
              </a:rPr>
              <a:t>return</a:t>
            </a:r>
            <a:r>
              <a:rPr>
                <a:solidFill>
                  <a:srgbClr val="FFFFFF"/>
                </a:solidFill>
              </a:rPr>
              <a:t> raw</a:t>
            </a:r>
          </a:p>
        </p:txBody>
      </p:sp>
      <p:sp>
        <p:nvSpPr>
          <p:cNvPr id="247" name="Shape 5"/>
          <p:cNvSpPr/>
          <p:nvPr/>
        </p:nvSpPr>
        <p:spPr>
          <a:xfrm>
            <a:off x="594359" y="6473952"/>
            <a:ext cx="10972801" cy="1"/>
          </a:xfrm>
          <a:prstGeom prst="line">
            <a:avLst/>
          </a:prstGeom>
          <a:ln w="12700">
            <a:solidFill>
              <a:srgbClr val="D7DCE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8" name="Text 6"/>
          <p:cNvSpPr txBox="1"/>
          <p:nvPr/>
        </p:nvSpPr>
        <p:spPr>
          <a:xfrm>
            <a:off x="621791" y="6529323"/>
            <a:ext cx="10972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/>
            <a:r>
              <a:t>17.04.2026</a:t>
            </a:r>
          </a:p>
        </p:txBody>
      </p:sp>
      <p:sp>
        <p:nvSpPr>
          <p:cNvPr id="249" name="Text 7"/>
          <p:cNvSpPr txBox="1"/>
          <p:nvPr/>
        </p:nvSpPr>
        <p:spPr>
          <a:xfrm>
            <a:off x="11155680" y="6529323"/>
            <a:ext cx="3200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6B7280"/>
                </a:solidFill>
              </a:defRPr>
            </a:lvl1pPr>
          </a:lstStyle>
          <a:p>
            <a:pPr/>
            <a:r>
              <a:t>20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Text 0"/>
          <p:cNvSpPr txBox="1"/>
          <p:nvPr/>
        </p:nvSpPr>
        <p:spPr>
          <a:xfrm>
            <a:off x="658368" y="370168"/>
            <a:ext cx="10881360" cy="2837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000">
                <a:solidFill>
                  <a:srgbClr val="111111"/>
                </a:solidFill>
              </a:defRPr>
            </a:lvl1pPr>
          </a:lstStyle>
          <a:p>
            <a:pPr/>
            <a:r>
              <a:t>PINN: PDE residual через автоматическое дифференцирование</a:t>
            </a:r>
          </a:p>
        </p:txBody>
      </p:sp>
      <p:sp>
        <p:nvSpPr>
          <p:cNvPr id="252" name="Text 1"/>
          <p:cNvSpPr txBox="1"/>
          <p:nvPr/>
        </p:nvSpPr>
        <p:spPr>
          <a:xfrm>
            <a:off x="749808" y="914400"/>
            <a:ext cx="5943601" cy="228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defTabSz="832104">
              <a:lnSpc>
                <a:spcPct val="104999"/>
              </a:lnSpc>
              <a:defRPr sz="1456">
                <a:solidFill>
                  <a:srgbClr val="111111"/>
                </a:solidFill>
              </a:defRPr>
            </a:lvl1pPr>
          </a:lstStyle>
          <a:p>
            <a:pPr/>
            <a:r>
              <a:t>PINN обучается по невязке исходного уравнения теплопроводности.</a:t>
            </a:r>
          </a:p>
        </p:txBody>
      </p:sp>
      <p:pic>
        <p:nvPicPr>
          <p:cNvPr id="253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96111" y="1280160"/>
            <a:ext cx="3156468" cy="411481"/>
          </a:xfrm>
          <a:prstGeom prst="rect">
            <a:avLst/>
          </a:prstGeom>
          <a:ln w="12700">
            <a:miter lim="400000"/>
          </a:ln>
        </p:spPr>
      </p:pic>
      <p:sp>
        <p:nvSpPr>
          <p:cNvPr id="254" name="Text 2"/>
          <p:cNvSpPr txBox="1"/>
          <p:nvPr/>
        </p:nvSpPr>
        <p:spPr>
          <a:xfrm>
            <a:off x="749807" y="2011679"/>
            <a:ext cx="5303522" cy="20116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ct val="104999"/>
              </a:lnSpc>
              <a:defRPr sz="1500">
                <a:solidFill>
                  <a:srgbClr val="111111"/>
                </a:solidFill>
              </a:defRPr>
            </a:pPr>
            <a:r>
              <a:t>• u_t вычисляется через jax.grad</a:t>
            </a:r>
          </a:p>
          <a:p>
            <a:pPr>
              <a:lnSpc>
                <a:spcPct val="104999"/>
              </a:lnSpc>
              <a:defRPr sz="1500">
                <a:solidFill>
                  <a:srgbClr val="111111"/>
                </a:solidFill>
              </a:defRPr>
            </a:pPr>
            <a:r>
              <a:t>• вторые производные по пространству получаются через вложенные вызовы jax.grad</a:t>
            </a:r>
          </a:p>
          <a:p>
            <a:pPr>
              <a:lnSpc>
                <a:spcPct val="104999"/>
              </a:lnSpc>
              <a:defRPr sz="1500">
                <a:solidFill>
                  <a:srgbClr val="111111"/>
                </a:solidFill>
              </a:defRPr>
            </a:pPr>
            <a:r>
              <a:t>• из производных формируется невязка PDE в каждой collocation-точке</a:t>
            </a:r>
          </a:p>
          <a:p>
            <a:pPr>
              <a:lnSpc>
                <a:spcPct val="104999"/>
              </a:lnSpc>
              <a:defRPr sz="1500">
                <a:solidFill>
                  <a:srgbClr val="111111"/>
                </a:solidFill>
              </a:defRPr>
            </a:pPr>
            <a:r>
              <a:t>• сеть обучается не только по значениям, а по выполнению физического уравнения</a:t>
            </a:r>
          </a:p>
        </p:txBody>
      </p:sp>
      <p:sp>
        <p:nvSpPr>
          <p:cNvPr id="255" name="Shape 3"/>
          <p:cNvSpPr/>
          <p:nvPr/>
        </p:nvSpPr>
        <p:spPr>
          <a:xfrm>
            <a:off x="6675119" y="1828800"/>
            <a:ext cx="1508761" cy="685800"/>
          </a:xfrm>
          <a:prstGeom prst="roundRect">
            <a:avLst>
              <a:gd name="adj" fmla="val 16667"/>
            </a:avLst>
          </a:prstGeom>
          <a:solidFill>
            <a:srgbClr val="EAF1FF"/>
          </a:solidFill>
          <a:ln w="12700">
            <a:solidFill>
              <a:srgbClr val="D7DCE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56" name="Text 4"/>
          <p:cNvSpPr txBox="1"/>
          <p:nvPr/>
        </p:nvSpPr>
        <p:spPr>
          <a:xfrm>
            <a:off x="6748271" y="1901951"/>
            <a:ext cx="1362457" cy="5394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300">
                <a:solidFill>
                  <a:srgbClr val="111111"/>
                </a:solidFill>
              </a:defRPr>
            </a:lvl1pPr>
          </a:lstStyle>
          <a:p>
            <a:pPr/>
            <a:r>
              <a:t>point</a:t>
            </a:r>
          </a:p>
        </p:txBody>
      </p:sp>
      <p:sp>
        <p:nvSpPr>
          <p:cNvPr id="257" name="Shape 5"/>
          <p:cNvSpPr/>
          <p:nvPr/>
        </p:nvSpPr>
        <p:spPr>
          <a:xfrm>
            <a:off x="8229600" y="2029967"/>
            <a:ext cx="182880" cy="256033"/>
          </a:xfrm>
          <a:prstGeom prst="chevron">
            <a:avLst>
              <a:gd name="adj" fmla="val 50000"/>
            </a:avLst>
          </a:prstGeom>
          <a:solidFill>
            <a:srgbClr val="2C8C69"/>
          </a:solidFill>
          <a:ln w="12700">
            <a:solidFill>
              <a:srgbClr val="2C8C6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58" name="Shape 6"/>
          <p:cNvSpPr/>
          <p:nvPr/>
        </p:nvSpPr>
        <p:spPr>
          <a:xfrm>
            <a:off x="8549640" y="1600200"/>
            <a:ext cx="1508761" cy="1143000"/>
          </a:xfrm>
          <a:prstGeom prst="roundRect">
            <a:avLst>
              <a:gd name="adj" fmla="val 16667"/>
            </a:avLst>
          </a:prstGeom>
          <a:solidFill>
            <a:srgbClr val="F0FDF4"/>
          </a:solidFill>
          <a:ln w="12700">
            <a:solidFill>
              <a:srgbClr val="D7DCE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59" name="Text 7"/>
          <p:cNvSpPr txBox="1"/>
          <p:nvPr/>
        </p:nvSpPr>
        <p:spPr>
          <a:xfrm>
            <a:off x="8622792" y="1673351"/>
            <a:ext cx="1362457" cy="9966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/>
          <a:p>
            <a:pPr algn="ctr">
              <a:defRPr sz="1300">
                <a:solidFill>
                  <a:srgbClr val="111111"/>
                </a:solidFill>
              </a:defRPr>
            </a:pPr>
            <a:r>
              <a:t>jax.grad</a:t>
            </a:r>
          </a:p>
          <a:p>
            <a:pPr algn="ctr">
              <a:defRPr sz="1300">
                <a:solidFill>
                  <a:srgbClr val="111111"/>
                </a:solidFill>
              </a:defRPr>
            </a:pPr>
            <a:r>
              <a:t>1-я и 2-я</a:t>
            </a:r>
          </a:p>
          <a:p>
            <a:pPr algn="ctr">
              <a:defRPr sz="1300">
                <a:solidFill>
                  <a:srgbClr val="111111"/>
                </a:solidFill>
              </a:defRPr>
            </a:pPr>
            <a:r>
              <a:t>производные</a:t>
            </a:r>
          </a:p>
        </p:txBody>
      </p:sp>
      <p:sp>
        <p:nvSpPr>
          <p:cNvPr id="260" name="Shape 8"/>
          <p:cNvSpPr/>
          <p:nvPr/>
        </p:nvSpPr>
        <p:spPr>
          <a:xfrm>
            <a:off x="10104119" y="2029967"/>
            <a:ext cx="182881" cy="256033"/>
          </a:xfrm>
          <a:prstGeom prst="chevron">
            <a:avLst>
              <a:gd name="adj" fmla="val 50000"/>
            </a:avLst>
          </a:prstGeom>
          <a:solidFill>
            <a:srgbClr val="2C8C69"/>
          </a:solidFill>
          <a:ln w="12700">
            <a:solidFill>
              <a:srgbClr val="2C8C6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61" name="Shape 9"/>
          <p:cNvSpPr/>
          <p:nvPr/>
        </p:nvSpPr>
        <p:spPr>
          <a:xfrm>
            <a:off x="10424159" y="1828800"/>
            <a:ext cx="960121" cy="685800"/>
          </a:xfrm>
          <a:prstGeom prst="roundRect">
            <a:avLst>
              <a:gd name="adj" fmla="val 16667"/>
            </a:avLst>
          </a:prstGeom>
          <a:solidFill>
            <a:srgbClr val="FFF7ED"/>
          </a:solidFill>
          <a:ln w="12700">
            <a:solidFill>
              <a:srgbClr val="D7DCE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62" name="Text 10"/>
          <p:cNvSpPr txBox="1"/>
          <p:nvPr/>
        </p:nvSpPr>
        <p:spPr>
          <a:xfrm>
            <a:off x="10497311" y="1901951"/>
            <a:ext cx="813817" cy="5394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300">
                <a:solidFill>
                  <a:srgbClr val="111111"/>
                </a:solidFill>
              </a:defRPr>
            </a:lvl1pPr>
          </a:lstStyle>
          <a:p>
            <a:pPr/>
            <a:r>
              <a:t>r</a:t>
            </a:r>
          </a:p>
        </p:txBody>
      </p:sp>
      <p:sp>
        <p:nvSpPr>
          <p:cNvPr id="263" name="Shape 16"/>
          <p:cNvSpPr/>
          <p:nvPr/>
        </p:nvSpPr>
        <p:spPr>
          <a:xfrm>
            <a:off x="594359" y="6473952"/>
            <a:ext cx="10972801" cy="1"/>
          </a:xfrm>
          <a:prstGeom prst="line">
            <a:avLst/>
          </a:prstGeom>
          <a:ln w="12700">
            <a:solidFill>
              <a:srgbClr val="D7DCE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64" name="Text 17"/>
          <p:cNvSpPr txBox="1"/>
          <p:nvPr/>
        </p:nvSpPr>
        <p:spPr>
          <a:xfrm>
            <a:off x="621791" y="6529323"/>
            <a:ext cx="10972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/>
            <a:r>
              <a:t>17.04.2026</a:t>
            </a:r>
          </a:p>
        </p:txBody>
      </p:sp>
      <p:sp>
        <p:nvSpPr>
          <p:cNvPr id="265" name="Text 18"/>
          <p:cNvSpPr txBox="1"/>
          <p:nvPr/>
        </p:nvSpPr>
        <p:spPr>
          <a:xfrm>
            <a:off x="11155680" y="6529323"/>
            <a:ext cx="3200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6B7280"/>
                </a:solidFill>
              </a:defRPr>
            </a:lvl1pPr>
          </a:lstStyle>
          <a:p>
            <a:pPr/>
            <a:r>
              <a:t>21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Text 0"/>
          <p:cNvSpPr txBox="1"/>
          <p:nvPr/>
        </p:nvSpPr>
        <p:spPr>
          <a:xfrm>
            <a:off x="658368" y="370168"/>
            <a:ext cx="10881360" cy="2837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000">
                <a:solidFill>
                  <a:srgbClr val="111111"/>
                </a:solidFill>
              </a:defRPr>
            </a:lvl1pPr>
          </a:lstStyle>
          <a:p>
            <a:pPr/>
            <a:r>
              <a:t>PINN: код вычисления PDE residual</a:t>
            </a:r>
          </a:p>
        </p:txBody>
      </p:sp>
      <p:sp>
        <p:nvSpPr>
          <p:cNvPr id="268" name="Text 1"/>
          <p:cNvSpPr txBox="1"/>
          <p:nvPr/>
        </p:nvSpPr>
        <p:spPr>
          <a:xfrm>
            <a:off x="749808" y="896111"/>
            <a:ext cx="8229601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04999"/>
              </a:lnSpc>
              <a:defRPr sz="1600">
                <a:solidFill>
                  <a:srgbClr val="111111"/>
                </a:solidFill>
              </a:defRPr>
            </a:lvl1pPr>
          </a:lstStyle>
          <a:p>
            <a:pPr/>
            <a:r>
              <a:t>Ниже показано вычисление производных и формирование невязки уравнения.</a:t>
            </a:r>
          </a:p>
        </p:txBody>
      </p:sp>
      <p:sp>
        <p:nvSpPr>
          <p:cNvPr id="269" name="Shape 2"/>
          <p:cNvSpPr/>
          <p:nvPr/>
        </p:nvSpPr>
        <p:spPr>
          <a:xfrm>
            <a:off x="410288" y="1509013"/>
            <a:ext cx="11358724" cy="4663442"/>
          </a:xfrm>
          <a:prstGeom prst="roundRect">
            <a:avLst>
              <a:gd name="adj" fmla="val 0"/>
            </a:avLst>
          </a:prstGeom>
          <a:solidFill>
            <a:srgbClr val="151A22"/>
          </a:solidFill>
          <a:ln w="12700">
            <a:solidFill>
              <a:srgbClr val="2D3440"/>
            </a:solidFill>
          </a:ln>
          <a:effectLst>
            <a:outerShdw sx="100000" sy="100000" kx="0" ky="0" algn="b" rotWithShape="0" blurRad="12700" dist="12700" dir="2700000">
              <a:srgbClr val="000000">
                <a:alpha val="1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70" name="Text 3"/>
          <p:cNvSpPr txBox="1"/>
          <p:nvPr/>
        </p:nvSpPr>
        <p:spPr>
          <a:xfrm>
            <a:off x="574879" y="1600961"/>
            <a:ext cx="753465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900">
                <a:solidFill>
                  <a:srgbClr val="96A0AD"/>
                </a:solidFill>
              </a:defRPr>
            </a:lvl1pPr>
          </a:lstStyle>
          <a:p>
            <a:pPr/>
            <a:r>
              <a:t>src/pinn_solver.py</a:t>
            </a:r>
          </a:p>
        </p:txBody>
      </p:sp>
      <p:sp>
        <p:nvSpPr>
          <p:cNvPr id="271" name="Text 4"/>
          <p:cNvSpPr txBox="1"/>
          <p:nvPr/>
        </p:nvSpPr>
        <p:spPr>
          <a:xfrm>
            <a:off x="556592" y="1728469"/>
            <a:ext cx="10972801" cy="43891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1 </a:t>
            </a:r>
            <a:r>
              <a:rPr>
                <a:solidFill>
                  <a:srgbClr val="66D9EF"/>
                </a:solidFill>
              </a:rPr>
              <a:t>def</a:t>
            </a:r>
            <a:r>
              <a:rPr>
                <a:solidFill>
                  <a:srgbClr val="FFFFFF"/>
                </a:solidFill>
              </a:rPr>
              <a:t> pde_residual_single</a:t>
            </a:r>
            <a:r>
              <a:rPr>
                <a:solidFill>
                  <a:srgbClr val="F8F8F2"/>
                </a:solidFill>
              </a:rPr>
              <a:t>(</a:t>
            </a:r>
            <a:r>
              <a:rPr>
                <a:solidFill>
                  <a:srgbClr val="FFFFFF"/>
                </a:solidFill>
              </a:rPr>
              <a:t>params</a:t>
            </a:r>
            <a:r>
              <a:rPr>
                <a:solidFill>
                  <a:srgbClr val="F8F8F2"/>
                </a:solidFill>
              </a:rPr>
              <a:t>:</a:t>
            </a:r>
            <a:r>
              <a:rPr>
                <a:solidFill>
                  <a:srgbClr val="FFFFFF"/>
                </a:solidFill>
              </a:rPr>
              <a:t> list</a:t>
            </a:r>
            <a:r>
              <a:rPr>
                <a:solidFill>
                  <a:srgbClr val="F8F8F2"/>
                </a:solidFill>
              </a:rPr>
              <a:t>[</a:t>
            </a:r>
            <a:r>
              <a:rPr>
                <a:solidFill>
                  <a:srgbClr val="FFFFFF"/>
                </a:solidFill>
              </a:rPr>
              <a:t>dict</a:t>
            </a:r>
            <a:r>
              <a:rPr>
                <a:solidFill>
                  <a:srgbClr val="F8F8F2"/>
                </a:solidFill>
              </a:rPr>
              <a:t>[</a:t>
            </a:r>
            <a:r>
              <a:rPr>
                <a:solidFill>
                  <a:srgbClr val="FFFFFF"/>
                </a:solidFill>
              </a:rPr>
              <a:t>str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Array</a:t>
            </a:r>
            <a:r>
              <a:rPr>
                <a:solidFill>
                  <a:srgbClr val="F8F8F2"/>
                </a:solidFill>
              </a:rPr>
              <a:t>]],</a:t>
            </a:r>
            <a:r>
              <a:rPr>
                <a:solidFill>
                  <a:srgbClr val="FFFFFF"/>
                </a:solidFill>
              </a:rPr>
              <a:t> point</a:t>
            </a:r>
            <a:r>
              <a:rPr>
                <a:solidFill>
                  <a:srgbClr val="F8F8F2"/>
                </a:solidFill>
              </a:rPr>
              <a:t>:</a:t>
            </a:r>
            <a:r>
              <a:rPr>
                <a:solidFill>
                  <a:srgbClr val="FFFFFF"/>
                </a:solidFill>
              </a:rPr>
              <a:t> Array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cfg</a:t>
            </a:r>
            <a:r>
              <a:rPr>
                <a:solidFill>
                  <a:srgbClr val="F8F8F2"/>
                </a:solidFill>
              </a:rPr>
              <a:t>:</a:t>
            </a:r>
            <a:r>
              <a:rPr>
                <a:solidFill>
                  <a:srgbClr val="FFFFFF"/>
                </a:solidFill>
              </a:rPr>
              <a:t> PINNConfig</a:t>
            </a:r>
            <a:r>
              <a:rPr>
                <a:solidFill>
                  <a:srgbClr val="F8F8F2"/>
                </a:solidFill>
              </a:rPr>
              <a:t>)</a:t>
            </a:r>
            <a:r>
              <a:rPr>
                <a:solidFill>
                  <a:srgbClr val="FFFFFF"/>
                </a:solidFill>
              </a:rPr>
              <a:t> </a:t>
            </a:r>
            <a:r>
              <a:rPr>
                <a:solidFill>
                  <a:srgbClr val="F8F8F2"/>
                </a:solidFill>
              </a:rPr>
              <a:t>-&gt;</a:t>
            </a:r>
            <a:r>
              <a:rPr>
                <a:solidFill>
                  <a:srgbClr val="FFFFFF"/>
                </a:solidFill>
              </a:rPr>
              <a:t> Array</a:t>
            </a:r>
            <a:r>
              <a:rPr>
                <a:solidFill>
                  <a:srgbClr val="F8F8F2"/>
                </a:solidFill>
              </a:rPr>
              <a:t>:</a:t>
            </a:r>
            <a:endParaRPr>
              <a:solidFill>
                <a:srgbClr val="FFFFFF"/>
              </a:solidFill>
            </a:endParaRPr>
          </a:p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2 </a:t>
            </a:r>
            <a:r>
              <a:rPr>
                <a:solidFill>
                  <a:srgbClr val="FFFFFF"/>
                </a:solidFill>
              </a:rPr>
              <a:t>    grad_u </a:t>
            </a:r>
            <a:r>
              <a:rPr>
                <a:solidFill>
                  <a:srgbClr val="F8F8F2"/>
                </a:solidFill>
              </a:rPr>
              <a:t>=</a:t>
            </a:r>
            <a:r>
              <a:rPr>
                <a:solidFill>
                  <a:srgbClr val="FFFFFF"/>
                </a:solidFill>
              </a:rPr>
              <a:t> jax</a:t>
            </a:r>
            <a:r>
              <a:rPr>
                <a:solidFill>
                  <a:srgbClr val="F8F8F2"/>
                </a:solidFill>
              </a:rPr>
              <a:t>.</a:t>
            </a:r>
            <a:r>
              <a:rPr>
                <a:solidFill>
                  <a:srgbClr val="FFFFFF"/>
                </a:solidFill>
              </a:rPr>
              <a:t>grad</a:t>
            </a:r>
            <a:r>
              <a:rPr>
                <a:solidFill>
                  <a:srgbClr val="F8F8F2"/>
                </a:solidFill>
              </a:rPr>
              <a:t>(</a:t>
            </a:r>
            <a:r>
              <a:rPr>
                <a:solidFill>
                  <a:srgbClr val="FFFFFF"/>
                </a:solidFill>
              </a:rPr>
              <a:t>_scalar_predict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argnums</a:t>
            </a:r>
            <a:r>
              <a:rPr>
                <a:solidFill>
                  <a:srgbClr val="F8F8F2"/>
                </a:solidFill>
              </a:rPr>
              <a:t>=</a:t>
            </a:r>
            <a:r>
              <a:rPr>
                <a:solidFill>
                  <a:srgbClr val="FFFFFF"/>
                </a:solidFill>
              </a:rPr>
              <a:t>1</a:t>
            </a:r>
            <a:r>
              <a:rPr>
                <a:solidFill>
                  <a:srgbClr val="F8F8F2"/>
                </a:solidFill>
              </a:rPr>
              <a:t>)(</a:t>
            </a:r>
            <a:r>
              <a:rPr>
                <a:solidFill>
                  <a:srgbClr val="FFFFFF"/>
                </a:solidFill>
              </a:rPr>
              <a:t>params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point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cfg</a:t>
            </a:r>
            <a:r>
              <a:rPr>
                <a:solidFill>
                  <a:srgbClr val="F8F8F2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3 </a:t>
            </a:r>
            <a:r>
              <a:rPr>
                <a:solidFill>
                  <a:srgbClr val="FFFFFF"/>
                </a:solidFill>
              </a:rPr>
              <a:t>    u_t </a:t>
            </a:r>
            <a:r>
              <a:rPr>
                <a:solidFill>
                  <a:srgbClr val="F8F8F2"/>
                </a:solidFill>
              </a:rPr>
              <a:t>=</a:t>
            </a:r>
            <a:r>
              <a:rPr>
                <a:solidFill>
                  <a:srgbClr val="FFFFFF"/>
                </a:solidFill>
              </a:rPr>
              <a:t> grad_u</a:t>
            </a:r>
            <a:r>
              <a:rPr>
                <a:solidFill>
                  <a:srgbClr val="F8F8F2"/>
                </a:solidFill>
              </a:rPr>
              <a:t>[</a:t>
            </a:r>
            <a:r>
              <a:rPr>
                <a:solidFill>
                  <a:srgbClr val="FFFFFF"/>
                </a:solidFill>
              </a:rPr>
              <a:t>3</a:t>
            </a:r>
            <a:r>
              <a:rPr>
                <a:solidFill>
                  <a:srgbClr val="F8F8F2"/>
                </a:solidFill>
              </a:rPr>
              <a:t>]</a:t>
            </a:r>
            <a:endParaRPr>
              <a:solidFill>
                <a:srgbClr val="FFFFFF"/>
              </a:solidFill>
            </a:endParaRPr>
          </a:p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4 </a:t>
            </a:r>
            <a:endParaRPr>
              <a:solidFill>
                <a:srgbClr val="FFFFFF"/>
              </a:solidFill>
            </a:endParaRPr>
          </a:p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5 </a:t>
            </a:r>
            <a:r>
              <a:rPr>
                <a:solidFill>
                  <a:srgbClr val="FFFFFF"/>
                </a:solidFill>
              </a:rPr>
              <a:t>    </a:t>
            </a:r>
            <a:r>
              <a:rPr>
                <a:solidFill>
                  <a:srgbClr val="66D9EF"/>
                </a:solidFill>
              </a:rPr>
              <a:t>def</a:t>
            </a:r>
            <a:r>
              <a:rPr>
                <a:solidFill>
                  <a:srgbClr val="FFFFFF"/>
                </a:solidFill>
              </a:rPr>
              <a:t> du_dx</a:t>
            </a:r>
            <a:r>
              <a:rPr>
                <a:solidFill>
                  <a:srgbClr val="F8F8F2"/>
                </a:solidFill>
              </a:rPr>
              <a:t>(</a:t>
            </a:r>
            <a:r>
              <a:rPr>
                <a:solidFill>
                  <a:srgbClr val="FFFFFF"/>
                </a:solidFill>
              </a:rPr>
              <a:t>_point</a:t>
            </a:r>
            <a:r>
              <a:rPr>
                <a:solidFill>
                  <a:srgbClr val="F8F8F2"/>
                </a:solidFill>
              </a:rPr>
              <a:t>):</a:t>
            </a:r>
            <a:endParaRPr>
              <a:solidFill>
                <a:srgbClr val="FFFFFF"/>
              </a:solidFill>
            </a:endParaRPr>
          </a:p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6 </a:t>
            </a:r>
            <a:r>
              <a:rPr>
                <a:solidFill>
                  <a:srgbClr val="FFFFFF"/>
                </a:solidFill>
              </a:rPr>
              <a:t>        </a:t>
            </a:r>
            <a:r>
              <a:rPr>
                <a:solidFill>
                  <a:srgbClr val="66D9EF"/>
                </a:solidFill>
              </a:rPr>
              <a:t>return</a:t>
            </a:r>
            <a:r>
              <a:rPr>
                <a:solidFill>
                  <a:srgbClr val="FFFFFF"/>
                </a:solidFill>
              </a:rPr>
              <a:t> jax</a:t>
            </a:r>
            <a:r>
              <a:rPr>
                <a:solidFill>
                  <a:srgbClr val="F8F8F2"/>
                </a:solidFill>
              </a:rPr>
              <a:t>.</a:t>
            </a:r>
            <a:r>
              <a:rPr>
                <a:solidFill>
                  <a:srgbClr val="FFFFFF"/>
                </a:solidFill>
              </a:rPr>
              <a:t>grad</a:t>
            </a:r>
            <a:r>
              <a:rPr>
                <a:solidFill>
                  <a:srgbClr val="F8F8F2"/>
                </a:solidFill>
              </a:rPr>
              <a:t>(</a:t>
            </a:r>
            <a:r>
              <a:rPr>
                <a:solidFill>
                  <a:srgbClr val="FFFFFF"/>
                </a:solidFill>
              </a:rPr>
              <a:t>_scalar_predict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argnums</a:t>
            </a:r>
            <a:r>
              <a:rPr>
                <a:solidFill>
                  <a:srgbClr val="F8F8F2"/>
                </a:solidFill>
              </a:rPr>
              <a:t>=</a:t>
            </a:r>
            <a:r>
              <a:rPr>
                <a:solidFill>
                  <a:srgbClr val="FFFFFF"/>
                </a:solidFill>
              </a:rPr>
              <a:t>1</a:t>
            </a:r>
            <a:r>
              <a:rPr>
                <a:solidFill>
                  <a:srgbClr val="F8F8F2"/>
                </a:solidFill>
              </a:rPr>
              <a:t>)(</a:t>
            </a:r>
            <a:r>
              <a:rPr>
                <a:solidFill>
                  <a:srgbClr val="FFFFFF"/>
                </a:solidFill>
              </a:rPr>
              <a:t>params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_point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cfg</a:t>
            </a:r>
            <a:r>
              <a:rPr>
                <a:solidFill>
                  <a:srgbClr val="F8F8F2"/>
                </a:solidFill>
              </a:rPr>
              <a:t>)[</a:t>
            </a:r>
            <a:r>
              <a:rPr>
                <a:solidFill>
                  <a:srgbClr val="FFFFFF"/>
                </a:solidFill>
              </a:rPr>
              <a:t>0</a:t>
            </a:r>
            <a:r>
              <a:rPr>
                <a:solidFill>
                  <a:srgbClr val="F8F8F2"/>
                </a:solidFill>
              </a:rPr>
              <a:t>]</a:t>
            </a:r>
            <a:endParaRPr>
              <a:solidFill>
                <a:srgbClr val="FFFFFF"/>
              </a:solidFill>
            </a:endParaRPr>
          </a:p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7 </a:t>
            </a:r>
            <a:endParaRPr>
              <a:solidFill>
                <a:srgbClr val="FFFFFF"/>
              </a:solidFill>
            </a:endParaRPr>
          </a:p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8 </a:t>
            </a:r>
            <a:r>
              <a:rPr>
                <a:solidFill>
                  <a:srgbClr val="FFFFFF"/>
                </a:solidFill>
              </a:rPr>
              <a:t>    </a:t>
            </a:r>
            <a:r>
              <a:rPr>
                <a:solidFill>
                  <a:srgbClr val="66D9EF"/>
                </a:solidFill>
              </a:rPr>
              <a:t>def</a:t>
            </a:r>
            <a:r>
              <a:rPr>
                <a:solidFill>
                  <a:srgbClr val="FFFFFF"/>
                </a:solidFill>
              </a:rPr>
              <a:t> du_dy</a:t>
            </a:r>
            <a:r>
              <a:rPr>
                <a:solidFill>
                  <a:srgbClr val="F8F8F2"/>
                </a:solidFill>
              </a:rPr>
              <a:t>(</a:t>
            </a:r>
            <a:r>
              <a:rPr>
                <a:solidFill>
                  <a:srgbClr val="FFFFFF"/>
                </a:solidFill>
              </a:rPr>
              <a:t>_point</a:t>
            </a:r>
            <a:r>
              <a:rPr>
                <a:solidFill>
                  <a:srgbClr val="F8F8F2"/>
                </a:solidFill>
              </a:rPr>
              <a:t>):</a:t>
            </a:r>
            <a:endParaRPr>
              <a:solidFill>
                <a:srgbClr val="FFFFFF"/>
              </a:solidFill>
            </a:endParaRPr>
          </a:p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9 </a:t>
            </a:r>
            <a:r>
              <a:rPr>
                <a:solidFill>
                  <a:srgbClr val="FFFFFF"/>
                </a:solidFill>
              </a:rPr>
              <a:t>        </a:t>
            </a:r>
            <a:r>
              <a:rPr>
                <a:solidFill>
                  <a:srgbClr val="66D9EF"/>
                </a:solidFill>
              </a:rPr>
              <a:t>return</a:t>
            </a:r>
            <a:r>
              <a:rPr>
                <a:solidFill>
                  <a:srgbClr val="FFFFFF"/>
                </a:solidFill>
              </a:rPr>
              <a:t> jax</a:t>
            </a:r>
            <a:r>
              <a:rPr>
                <a:solidFill>
                  <a:srgbClr val="F8F8F2"/>
                </a:solidFill>
              </a:rPr>
              <a:t>.</a:t>
            </a:r>
            <a:r>
              <a:rPr>
                <a:solidFill>
                  <a:srgbClr val="FFFFFF"/>
                </a:solidFill>
              </a:rPr>
              <a:t>grad</a:t>
            </a:r>
            <a:r>
              <a:rPr>
                <a:solidFill>
                  <a:srgbClr val="F8F8F2"/>
                </a:solidFill>
              </a:rPr>
              <a:t>(</a:t>
            </a:r>
            <a:r>
              <a:rPr>
                <a:solidFill>
                  <a:srgbClr val="FFFFFF"/>
                </a:solidFill>
              </a:rPr>
              <a:t>_scalar_predict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argnums</a:t>
            </a:r>
            <a:r>
              <a:rPr>
                <a:solidFill>
                  <a:srgbClr val="F8F8F2"/>
                </a:solidFill>
              </a:rPr>
              <a:t>=</a:t>
            </a:r>
            <a:r>
              <a:rPr>
                <a:solidFill>
                  <a:srgbClr val="FFFFFF"/>
                </a:solidFill>
              </a:rPr>
              <a:t>1</a:t>
            </a:r>
            <a:r>
              <a:rPr>
                <a:solidFill>
                  <a:srgbClr val="F8F8F2"/>
                </a:solidFill>
              </a:rPr>
              <a:t>)(</a:t>
            </a:r>
            <a:r>
              <a:rPr>
                <a:solidFill>
                  <a:srgbClr val="FFFFFF"/>
                </a:solidFill>
              </a:rPr>
              <a:t>params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_point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cfg</a:t>
            </a:r>
            <a:r>
              <a:rPr>
                <a:solidFill>
                  <a:srgbClr val="F8F8F2"/>
                </a:solidFill>
              </a:rPr>
              <a:t>)[</a:t>
            </a:r>
            <a:r>
              <a:rPr>
                <a:solidFill>
                  <a:srgbClr val="FFFFFF"/>
                </a:solidFill>
              </a:rPr>
              <a:t>1</a:t>
            </a:r>
            <a:r>
              <a:rPr>
                <a:solidFill>
                  <a:srgbClr val="F8F8F2"/>
                </a:solidFill>
              </a:rPr>
              <a:t>]</a:t>
            </a:r>
            <a:endParaRPr>
              <a:solidFill>
                <a:srgbClr val="FFFFFF"/>
              </a:solidFill>
            </a:endParaRPr>
          </a:p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10 </a:t>
            </a:r>
            <a:endParaRPr>
              <a:solidFill>
                <a:srgbClr val="FFFFFF"/>
              </a:solidFill>
            </a:endParaRPr>
          </a:p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11 </a:t>
            </a:r>
            <a:r>
              <a:rPr>
                <a:solidFill>
                  <a:srgbClr val="FFFFFF"/>
                </a:solidFill>
              </a:rPr>
              <a:t>    </a:t>
            </a:r>
            <a:r>
              <a:rPr>
                <a:solidFill>
                  <a:srgbClr val="66D9EF"/>
                </a:solidFill>
              </a:rPr>
              <a:t>def</a:t>
            </a:r>
            <a:r>
              <a:rPr>
                <a:solidFill>
                  <a:srgbClr val="FFFFFF"/>
                </a:solidFill>
              </a:rPr>
              <a:t> du_dz</a:t>
            </a:r>
            <a:r>
              <a:rPr>
                <a:solidFill>
                  <a:srgbClr val="F8F8F2"/>
                </a:solidFill>
              </a:rPr>
              <a:t>(</a:t>
            </a:r>
            <a:r>
              <a:rPr>
                <a:solidFill>
                  <a:srgbClr val="FFFFFF"/>
                </a:solidFill>
              </a:rPr>
              <a:t>_point</a:t>
            </a:r>
            <a:r>
              <a:rPr>
                <a:solidFill>
                  <a:srgbClr val="F8F8F2"/>
                </a:solidFill>
              </a:rPr>
              <a:t>):</a:t>
            </a:r>
            <a:endParaRPr>
              <a:solidFill>
                <a:srgbClr val="FFFFFF"/>
              </a:solidFill>
            </a:endParaRPr>
          </a:p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12 </a:t>
            </a:r>
            <a:r>
              <a:rPr>
                <a:solidFill>
                  <a:srgbClr val="FFFFFF"/>
                </a:solidFill>
              </a:rPr>
              <a:t>        </a:t>
            </a:r>
            <a:r>
              <a:rPr>
                <a:solidFill>
                  <a:srgbClr val="66D9EF"/>
                </a:solidFill>
              </a:rPr>
              <a:t>return</a:t>
            </a:r>
            <a:r>
              <a:rPr>
                <a:solidFill>
                  <a:srgbClr val="FFFFFF"/>
                </a:solidFill>
              </a:rPr>
              <a:t> jax</a:t>
            </a:r>
            <a:r>
              <a:rPr>
                <a:solidFill>
                  <a:srgbClr val="F8F8F2"/>
                </a:solidFill>
              </a:rPr>
              <a:t>.</a:t>
            </a:r>
            <a:r>
              <a:rPr>
                <a:solidFill>
                  <a:srgbClr val="FFFFFF"/>
                </a:solidFill>
              </a:rPr>
              <a:t>grad</a:t>
            </a:r>
            <a:r>
              <a:rPr>
                <a:solidFill>
                  <a:srgbClr val="F8F8F2"/>
                </a:solidFill>
              </a:rPr>
              <a:t>(</a:t>
            </a:r>
            <a:r>
              <a:rPr>
                <a:solidFill>
                  <a:srgbClr val="FFFFFF"/>
                </a:solidFill>
              </a:rPr>
              <a:t>_scalar_predict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argnums</a:t>
            </a:r>
            <a:r>
              <a:rPr>
                <a:solidFill>
                  <a:srgbClr val="F8F8F2"/>
                </a:solidFill>
              </a:rPr>
              <a:t>=</a:t>
            </a:r>
            <a:r>
              <a:rPr>
                <a:solidFill>
                  <a:srgbClr val="FFFFFF"/>
                </a:solidFill>
              </a:rPr>
              <a:t>1</a:t>
            </a:r>
            <a:r>
              <a:rPr>
                <a:solidFill>
                  <a:srgbClr val="F8F8F2"/>
                </a:solidFill>
              </a:rPr>
              <a:t>)(</a:t>
            </a:r>
            <a:r>
              <a:rPr>
                <a:solidFill>
                  <a:srgbClr val="FFFFFF"/>
                </a:solidFill>
              </a:rPr>
              <a:t>params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_point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cfg</a:t>
            </a:r>
            <a:r>
              <a:rPr>
                <a:solidFill>
                  <a:srgbClr val="F8F8F2"/>
                </a:solidFill>
              </a:rPr>
              <a:t>)[</a:t>
            </a:r>
            <a:r>
              <a:rPr>
                <a:solidFill>
                  <a:srgbClr val="FFFFFF"/>
                </a:solidFill>
              </a:rPr>
              <a:t>2</a:t>
            </a:r>
            <a:r>
              <a:rPr>
                <a:solidFill>
                  <a:srgbClr val="F8F8F2"/>
                </a:solidFill>
              </a:rPr>
              <a:t>]</a:t>
            </a:r>
            <a:endParaRPr>
              <a:solidFill>
                <a:srgbClr val="FFFFFF"/>
              </a:solidFill>
            </a:endParaRPr>
          </a:p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13 </a:t>
            </a:r>
            <a:endParaRPr>
              <a:solidFill>
                <a:srgbClr val="FFFFFF"/>
              </a:solidFill>
            </a:endParaRPr>
          </a:p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14 </a:t>
            </a:r>
            <a:r>
              <a:rPr>
                <a:solidFill>
                  <a:srgbClr val="FFFFFF"/>
                </a:solidFill>
              </a:rPr>
              <a:t>    u_xx </a:t>
            </a:r>
            <a:r>
              <a:rPr>
                <a:solidFill>
                  <a:srgbClr val="F8F8F2"/>
                </a:solidFill>
              </a:rPr>
              <a:t>=</a:t>
            </a:r>
            <a:r>
              <a:rPr>
                <a:solidFill>
                  <a:srgbClr val="FFFFFF"/>
                </a:solidFill>
              </a:rPr>
              <a:t> jax</a:t>
            </a:r>
            <a:r>
              <a:rPr>
                <a:solidFill>
                  <a:srgbClr val="F8F8F2"/>
                </a:solidFill>
              </a:rPr>
              <a:t>.</a:t>
            </a:r>
            <a:r>
              <a:rPr>
                <a:solidFill>
                  <a:srgbClr val="FFFFFF"/>
                </a:solidFill>
              </a:rPr>
              <a:t>grad</a:t>
            </a:r>
            <a:r>
              <a:rPr>
                <a:solidFill>
                  <a:srgbClr val="F8F8F2"/>
                </a:solidFill>
              </a:rPr>
              <a:t>(</a:t>
            </a:r>
            <a:r>
              <a:rPr>
                <a:solidFill>
                  <a:srgbClr val="FFFFFF"/>
                </a:solidFill>
              </a:rPr>
              <a:t>du_dx</a:t>
            </a:r>
            <a:r>
              <a:rPr>
                <a:solidFill>
                  <a:srgbClr val="F8F8F2"/>
                </a:solidFill>
              </a:rPr>
              <a:t>)(</a:t>
            </a:r>
            <a:r>
              <a:rPr>
                <a:solidFill>
                  <a:srgbClr val="FFFFFF"/>
                </a:solidFill>
              </a:rPr>
              <a:t>point</a:t>
            </a:r>
            <a:r>
              <a:rPr>
                <a:solidFill>
                  <a:srgbClr val="F8F8F2"/>
                </a:solidFill>
              </a:rPr>
              <a:t>)[</a:t>
            </a:r>
            <a:r>
              <a:rPr>
                <a:solidFill>
                  <a:srgbClr val="FFFFFF"/>
                </a:solidFill>
              </a:rPr>
              <a:t>0</a:t>
            </a:r>
            <a:r>
              <a:rPr>
                <a:solidFill>
                  <a:srgbClr val="F8F8F2"/>
                </a:solidFill>
              </a:rPr>
              <a:t>]</a:t>
            </a:r>
            <a:endParaRPr>
              <a:solidFill>
                <a:srgbClr val="FFFFFF"/>
              </a:solidFill>
            </a:endParaRPr>
          </a:p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15 </a:t>
            </a:r>
            <a:r>
              <a:rPr>
                <a:solidFill>
                  <a:srgbClr val="FFFFFF"/>
                </a:solidFill>
              </a:rPr>
              <a:t>    u_yy </a:t>
            </a:r>
            <a:r>
              <a:rPr>
                <a:solidFill>
                  <a:srgbClr val="F8F8F2"/>
                </a:solidFill>
              </a:rPr>
              <a:t>=</a:t>
            </a:r>
            <a:r>
              <a:rPr>
                <a:solidFill>
                  <a:srgbClr val="FFFFFF"/>
                </a:solidFill>
              </a:rPr>
              <a:t> jax</a:t>
            </a:r>
            <a:r>
              <a:rPr>
                <a:solidFill>
                  <a:srgbClr val="F8F8F2"/>
                </a:solidFill>
              </a:rPr>
              <a:t>.</a:t>
            </a:r>
            <a:r>
              <a:rPr>
                <a:solidFill>
                  <a:srgbClr val="FFFFFF"/>
                </a:solidFill>
              </a:rPr>
              <a:t>grad</a:t>
            </a:r>
            <a:r>
              <a:rPr>
                <a:solidFill>
                  <a:srgbClr val="F8F8F2"/>
                </a:solidFill>
              </a:rPr>
              <a:t>(</a:t>
            </a:r>
            <a:r>
              <a:rPr>
                <a:solidFill>
                  <a:srgbClr val="FFFFFF"/>
                </a:solidFill>
              </a:rPr>
              <a:t>du_dy</a:t>
            </a:r>
            <a:r>
              <a:rPr>
                <a:solidFill>
                  <a:srgbClr val="F8F8F2"/>
                </a:solidFill>
              </a:rPr>
              <a:t>)(</a:t>
            </a:r>
            <a:r>
              <a:rPr>
                <a:solidFill>
                  <a:srgbClr val="FFFFFF"/>
                </a:solidFill>
              </a:rPr>
              <a:t>point</a:t>
            </a:r>
            <a:r>
              <a:rPr>
                <a:solidFill>
                  <a:srgbClr val="F8F8F2"/>
                </a:solidFill>
              </a:rPr>
              <a:t>)[</a:t>
            </a:r>
            <a:r>
              <a:rPr>
                <a:solidFill>
                  <a:srgbClr val="FFFFFF"/>
                </a:solidFill>
              </a:rPr>
              <a:t>1</a:t>
            </a:r>
            <a:r>
              <a:rPr>
                <a:solidFill>
                  <a:srgbClr val="F8F8F2"/>
                </a:solidFill>
              </a:rPr>
              <a:t>]</a:t>
            </a:r>
            <a:endParaRPr>
              <a:solidFill>
                <a:srgbClr val="FFFFFF"/>
              </a:solidFill>
            </a:endParaRPr>
          </a:p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16 </a:t>
            </a:r>
            <a:r>
              <a:rPr>
                <a:solidFill>
                  <a:srgbClr val="FFFFFF"/>
                </a:solidFill>
              </a:rPr>
              <a:t>    u_zz </a:t>
            </a:r>
            <a:r>
              <a:rPr>
                <a:solidFill>
                  <a:srgbClr val="F8F8F2"/>
                </a:solidFill>
              </a:rPr>
              <a:t>=</a:t>
            </a:r>
            <a:r>
              <a:rPr>
                <a:solidFill>
                  <a:srgbClr val="FFFFFF"/>
                </a:solidFill>
              </a:rPr>
              <a:t> jax</a:t>
            </a:r>
            <a:r>
              <a:rPr>
                <a:solidFill>
                  <a:srgbClr val="F8F8F2"/>
                </a:solidFill>
              </a:rPr>
              <a:t>.</a:t>
            </a:r>
            <a:r>
              <a:rPr>
                <a:solidFill>
                  <a:srgbClr val="FFFFFF"/>
                </a:solidFill>
              </a:rPr>
              <a:t>grad</a:t>
            </a:r>
            <a:r>
              <a:rPr>
                <a:solidFill>
                  <a:srgbClr val="F8F8F2"/>
                </a:solidFill>
              </a:rPr>
              <a:t>(</a:t>
            </a:r>
            <a:r>
              <a:rPr>
                <a:solidFill>
                  <a:srgbClr val="FFFFFF"/>
                </a:solidFill>
              </a:rPr>
              <a:t>du_dz</a:t>
            </a:r>
            <a:r>
              <a:rPr>
                <a:solidFill>
                  <a:srgbClr val="F8F8F2"/>
                </a:solidFill>
              </a:rPr>
              <a:t>)(</a:t>
            </a:r>
            <a:r>
              <a:rPr>
                <a:solidFill>
                  <a:srgbClr val="FFFFFF"/>
                </a:solidFill>
              </a:rPr>
              <a:t>point</a:t>
            </a:r>
            <a:r>
              <a:rPr>
                <a:solidFill>
                  <a:srgbClr val="F8F8F2"/>
                </a:solidFill>
              </a:rPr>
              <a:t>)[</a:t>
            </a:r>
            <a:r>
              <a:rPr>
                <a:solidFill>
                  <a:srgbClr val="FFFFFF"/>
                </a:solidFill>
              </a:rPr>
              <a:t>2</a:t>
            </a:r>
            <a:r>
              <a:rPr>
                <a:solidFill>
                  <a:srgbClr val="F8F8F2"/>
                </a:solidFill>
              </a:rPr>
              <a:t>]</a:t>
            </a:r>
            <a:endParaRPr>
              <a:solidFill>
                <a:srgbClr val="FFFFFF"/>
              </a:solidFill>
            </a:endParaRPr>
          </a:p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17 </a:t>
            </a:r>
            <a:r>
              <a:rPr>
                <a:solidFill>
                  <a:srgbClr val="FFFFFF"/>
                </a:solidFill>
              </a:rPr>
              <a:t>    </a:t>
            </a:r>
            <a:r>
              <a:rPr>
                <a:solidFill>
                  <a:srgbClr val="66D9EF"/>
                </a:solidFill>
              </a:rPr>
              <a:t>return</a:t>
            </a:r>
            <a:r>
              <a:rPr>
                <a:solidFill>
                  <a:srgbClr val="FFFFFF"/>
                </a:solidFill>
              </a:rPr>
              <a:t> u_t </a:t>
            </a:r>
            <a:r>
              <a:rPr>
                <a:solidFill>
                  <a:srgbClr val="F8F8F2"/>
                </a:solidFill>
              </a:rPr>
              <a:t>-</a:t>
            </a:r>
            <a:r>
              <a:rPr>
                <a:solidFill>
                  <a:srgbClr val="FFFFFF"/>
                </a:solidFill>
              </a:rPr>
              <a:t> cfg</a:t>
            </a:r>
            <a:r>
              <a:rPr>
                <a:solidFill>
                  <a:srgbClr val="F8F8F2"/>
                </a:solidFill>
              </a:rPr>
              <a:t>.</a:t>
            </a:r>
            <a:r>
              <a:rPr>
                <a:solidFill>
                  <a:srgbClr val="FFFFFF"/>
                </a:solidFill>
              </a:rPr>
              <a:t>alpha </a:t>
            </a:r>
            <a:r>
              <a:rPr>
                <a:solidFill>
                  <a:srgbClr val="F8F8F2"/>
                </a:solidFill>
              </a:rPr>
              <a:t>*</a:t>
            </a:r>
            <a:r>
              <a:rPr>
                <a:solidFill>
                  <a:srgbClr val="FFFFFF"/>
                </a:solidFill>
              </a:rPr>
              <a:t> </a:t>
            </a:r>
            <a:r>
              <a:rPr>
                <a:solidFill>
                  <a:srgbClr val="F8F8F2"/>
                </a:solidFill>
              </a:rPr>
              <a:t>(</a:t>
            </a:r>
            <a:r>
              <a:rPr>
                <a:solidFill>
                  <a:srgbClr val="FFFFFF"/>
                </a:solidFill>
              </a:rPr>
              <a:t>u_xx </a:t>
            </a:r>
            <a:r>
              <a:rPr>
                <a:solidFill>
                  <a:srgbClr val="F8F8F2"/>
                </a:solidFill>
              </a:rPr>
              <a:t>+</a:t>
            </a:r>
            <a:r>
              <a:rPr>
                <a:solidFill>
                  <a:srgbClr val="FFFFFF"/>
                </a:solidFill>
              </a:rPr>
              <a:t> u_yy </a:t>
            </a:r>
            <a:r>
              <a:rPr>
                <a:solidFill>
                  <a:srgbClr val="F8F8F2"/>
                </a:solidFill>
              </a:rPr>
              <a:t>+</a:t>
            </a:r>
            <a:r>
              <a:rPr>
                <a:solidFill>
                  <a:srgbClr val="FFFFFF"/>
                </a:solidFill>
              </a:rPr>
              <a:t> u_zz</a:t>
            </a:r>
            <a:r>
              <a:rPr>
                <a:solidFill>
                  <a:srgbClr val="F8F8F2"/>
                </a:solidFill>
              </a:rPr>
              <a:t>)</a:t>
            </a:r>
          </a:p>
        </p:txBody>
      </p:sp>
      <p:sp>
        <p:nvSpPr>
          <p:cNvPr id="272" name="Shape 10"/>
          <p:cNvSpPr/>
          <p:nvPr/>
        </p:nvSpPr>
        <p:spPr>
          <a:xfrm>
            <a:off x="594359" y="6473952"/>
            <a:ext cx="10972801" cy="1"/>
          </a:xfrm>
          <a:prstGeom prst="line">
            <a:avLst/>
          </a:prstGeom>
          <a:ln w="12700">
            <a:solidFill>
              <a:srgbClr val="D7DCE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73" name="Text 11"/>
          <p:cNvSpPr txBox="1"/>
          <p:nvPr/>
        </p:nvSpPr>
        <p:spPr>
          <a:xfrm>
            <a:off x="621791" y="6529323"/>
            <a:ext cx="10972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/>
            <a:r>
              <a:t>17.04.2026</a:t>
            </a:r>
          </a:p>
        </p:txBody>
      </p:sp>
      <p:sp>
        <p:nvSpPr>
          <p:cNvPr id="274" name="Text 12"/>
          <p:cNvSpPr txBox="1"/>
          <p:nvPr/>
        </p:nvSpPr>
        <p:spPr>
          <a:xfrm>
            <a:off x="11155680" y="6529323"/>
            <a:ext cx="3200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6B7280"/>
                </a:solidFill>
              </a:defRPr>
            </a:lvl1pPr>
          </a:lstStyle>
          <a:p>
            <a:pPr/>
            <a:r>
              <a:t>22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Text 0"/>
          <p:cNvSpPr txBox="1"/>
          <p:nvPr/>
        </p:nvSpPr>
        <p:spPr>
          <a:xfrm>
            <a:off x="658368" y="370168"/>
            <a:ext cx="10881360" cy="2837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000">
                <a:solidFill>
                  <a:srgbClr val="111111"/>
                </a:solidFill>
              </a:defRPr>
            </a:lvl1pPr>
          </a:lstStyle>
          <a:p>
            <a:pPr/>
            <a:r>
              <a:t>PINN: функция потерь</a:t>
            </a:r>
          </a:p>
        </p:txBody>
      </p:sp>
      <p:sp>
        <p:nvSpPr>
          <p:cNvPr id="277" name="Text 1"/>
          <p:cNvSpPr txBox="1"/>
          <p:nvPr/>
        </p:nvSpPr>
        <p:spPr>
          <a:xfrm>
            <a:off x="749808" y="896111"/>
            <a:ext cx="10058401" cy="502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ct val="104999"/>
              </a:lnSpc>
              <a:defRPr sz="1600">
                <a:solidFill>
                  <a:srgbClr val="111111"/>
                </a:solidFill>
              </a:defRPr>
            </a:pPr>
            <a:r>
              <a:t>Общая функция потерь складывается из PDE-компоненты и компонентов,</a:t>
            </a:r>
          </a:p>
          <a:p>
            <a:pPr>
              <a:lnSpc>
                <a:spcPct val="104999"/>
              </a:lnSpc>
              <a:defRPr sz="1600">
                <a:solidFill>
                  <a:srgbClr val="111111"/>
                </a:solidFill>
              </a:defRPr>
            </a:pPr>
            <a:r>
              <a:t>связанных с граничными и начальными условиями.</a:t>
            </a:r>
          </a:p>
        </p:txBody>
      </p:sp>
      <p:sp>
        <p:nvSpPr>
          <p:cNvPr id="278" name="Shape 2"/>
          <p:cNvSpPr/>
          <p:nvPr/>
        </p:nvSpPr>
        <p:spPr>
          <a:xfrm>
            <a:off x="653874" y="1645919"/>
            <a:ext cx="4846321" cy="868681"/>
          </a:xfrm>
          <a:prstGeom prst="roundRect">
            <a:avLst>
              <a:gd name="adj" fmla="val 16667"/>
            </a:avLst>
          </a:prstGeom>
          <a:solidFill>
            <a:srgbClr val="F6F8FA"/>
          </a:solidFill>
          <a:ln w="12700">
            <a:solidFill>
              <a:srgbClr val="D7DCE2"/>
            </a:solidFill>
          </a:ln>
        </p:spPr>
        <p:txBody>
          <a:bodyPr lIns="45719" rIns="45719"/>
          <a:lstStyle/>
          <a:p>
            <a:pPr/>
          </a:p>
        </p:txBody>
      </p:sp>
      <p:pic>
        <p:nvPicPr>
          <p:cNvPr id="279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78943" y="1715497"/>
            <a:ext cx="5596182" cy="729525"/>
          </a:xfrm>
          <a:prstGeom prst="rect">
            <a:avLst/>
          </a:prstGeom>
          <a:ln w="12700">
            <a:miter lim="400000"/>
          </a:ln>
        </p:spPr>
      </p:pic>
      <p:sp>
        <p:nvSpPr>
          <p:cNvPr id="280" name="Text 3"/>
          <p:cNvSpPr txBox="1"/>
          <p:nvPr/>
        </p:nvSpPr>
        <p:spPr>
          <a:xfrm>
            <a:off x="749807" y="2761488"/>
            <a:ext cx="5303522" cy="19202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ct val="104999"/>
              </a:lnSpc>
              <a:defRPr sz="1500">
                <a:solidFill>
                  <a:srgbClr val="111111"/>
                </a:solidFill>
              </a:defRPr>
            </a:pPr>
            <a:r>
              <a:t>• loss_pde - квадрат невязки PDE</a:t>
            </a:r>
          </a:p>
          <a:p>
            <a:pPr>
              <a:lnSpc>
                <a:spcPct val="104999"/>
              </a:lnSpc>
              <a:defRPr sz="1500">
                <a:solidFill>
                  <a:srgbClr val="111111"/>
                </a:solidFill>
              </a:defRPr>
            </a:pPr>
            <a:r>
              <a:t>• loss_bc - ошибка выполнения граничных условий</a:t>
            </a:r>
          </a:p>
          <a:p>
            <a:pPr>
              <a:lnSpc>
                <a:spcPct val="104999"/>
              </a:lnSpc>
              <a:defRPr sz="1500">
                <a:solidFill>
                  <a:srgbClr val="111111"/>
                </a:solidFill>
              </a:defRPr>
            </a:pPr>
            <a:r>
              <a:t>• loss_ic - ошибка выполнения начального условия</a:t>
            </a:r>
          </a:p>
          <a:p>
            <a:pPr>
              <a:lnSpc>
                <a:spcPct val="104999"/>
              </a:lnSpc>
              <a:defRPr sz="1500">
                <a:solidFill>
                  <a:srgbClr val="111111"/>
                </a:solidFill>
              </a:defRPr>
            </a:pPr>
            <a:r>
              <a:t>• при use_hard_constraints = true компоненты BC и IC становятся несущественными</a:t>
            </a:r>
          </a:p>
        </p:txBody>
      </p:sp>
      <p:sp>
        <p:nvSpPr>
          <p:cNvPr id="281" name="Shape 4"/>
          <p:cNvSpPr/>
          <p:nvPr/>
        </p:nvSpPr>
        <p:spPr>
          <a:xfrm>
            <a:off x="6126479" y="1508760"/>
            <a:ext cx="4983481" cy="4526280"/>
          </a:xfrm>
          <a:prstGeom prst="roundRect">
            <a:avLst>
              <a:gd name="adj" fmla="val 0"/>
            </a:avLst>
          </a:prstGeom>
          <a:solidFill>
            <a:srgbClr val="151A22"/>
          </a:solidFill>
          <a:ln w="12700">
            <a:solidFill>
              <a:srgbClr val="2D3440"/>
            </a:solidFill>
          </a:ln>
          <a:effectLst>
            <a:outerShdw sx="100000" sy="100000" kx="0" ky="0" algn="b" rotWithShape="0" blurRad="12700" dist="12700" dir="2700000">
              <a:srgbClr val="000000">
                <a:alpha val="1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82" name="Text 5"/>
          <p:cNvSpPr txBox="1"/>
          <p:nvPr/>
        </p:nvSpPr>
        <p:spPr>
          <a:xfrm>
            <a:off x="6291071" y="1600707"/>
            <a:ext cx="465429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900">
                <a:solidFill>
                  <a:srgbClr val="96A0AD"/>
                </a:solidFill>
              </a:defRPr>
            </a:lvl1pPr>
          </a:lstStyle>
          <a:p>
            <a:pPr/>
            <a:r>
              <a:t>loss_terms</a:t>
            </a:r>
          </a:p>
        </p:txBody>
      </p:sp>
      <p:sp>
        <p:nvSpPr>
          <p:cNvPr id="283" name="Text 6"/>
          <p:cNvSpPr txBox="1"/>
          <p:nvPr/>
        </p:nvSpPr>
        <p:spPr>
          <a:xfrm>
            <a:off x="6272784" y="1728216"/>
            <a:ext cx="4690872" cy="42519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1 </a:t>
            </a:r>
            <a:r>
              <a:rPr>
                <a:solidFill>
                  <a:srgbClr val="66D9EF"/>
                </a:solidFill>
              </a:rPr>
              <a:t>def</a:t>
            </a:r>
            <a:r>
              <a:rPr>
                <a:solidFill>
                  <a:srgbClr val="FFFFFF"/>
                </a:solidFill>
              </a:rPr>
              <a:t> loss_terms</a:t>
            </a:r>
            <a:r>
              <a:rPr>
                <a:solidFill>
                  <a:srgbClr val="F8F8F2"/>
                </a:solidFill>
              </a:rPr>
              <a:t>(</a:t>
            </a:r>
            <a:r>
              <a:rPr>
                <a:solidFill>
                  <a:srgbClr val="FFFFFF"/>
                </a:solidFill>
              </a:rPr>
              <a:t>params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batch</a:t>
            </a:r>
            <a:r>
              <a:rPr>
                <a:solidFill>
                  <a:srgbClr val="F8F8F2"/>
                </a:solidFill>
              </a:rPr>
              <a:t>:</a:t>
            </a:r>
            <a:r>
              <a:rPr>
                <a:solidFill>
                  <a:srgbClr val="FFFFFF"/>
                </a:solidFill>
              </a:rPr>
              <a:t> Dict</a:t>
            </a:r>
            <a:r>
              <a:rPr>
                <a:solidFill>
                  <a:srgbClr val="F8F8F2"/>
                </a:solidFill>
              </a:rPr>
              <a:t>[</a:t>
            </a:r>
            <a:r>
              <a:rPr>
                <a:solidFill>
                  <a:srgbClr val="FFFFFF"/>
                </a:solidFill>
              </a:rPr>
              <a:t>str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Array</a:t>
            </a:r>
            <a:r>
              <a:rPr>
                <a:solidFill>
                  <a:srgbClr val="F8F8F2"/>
                </a:solidFill>
              </a:rPr>
              <a:t>],</a:t>
            </a:r>
            <a:r>
              <a:rPr>
                <a:solidFill>
                  <a:srgbClr val="FFFFFF"/>
                </a:solidFill>
              </a:rPr>
              <a:t> cfg</a:t>
            </a:r>
            <a:r>
              <a:rPr>
                <a:solidFill>
                  <a:srgbClr val="F8F8F2"/>
                </a:solidFill>
              </a:rPr>
              <a:t>:</a:t>
            </a:r>
            <a:r>
              <a:rPr>
                <a:solidFill>
                  <a:srgbClr val="FFFFFF"/>
                </a:solidFill>
              </a:rPr>
              <a:t> PINNConfig</a:t>
            </a:r>
            <a:r>
              <a:rPr>
                <a:solidFill>
                  <a:srgbClr val="F8F8F2"/>
                </a:solidFill>
              </a:rPr>
              <a:t>):</a:t>
            </a:r>
            <a:endParaRPr>
              <a:solidFill>
                <a:srgbClr val="FFFFFF"/>
              </a:solidFill>
            </a:endParaRPr>
          </a:p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2 </a:t>
            </a:r>
            <a:r>
              <a:rPr>
                <a:solidFill>
                  <a:srgbClr val="FFFFFF"/>
                </a:solidFill>
              </a:rPr>
              <a:t>    r </a:t>
            </a:r>
            <a:r>
              <a:rPr>
                <a:solidFill>
                  <a:srgbClr val="F8F8F2"/>
                </a:solidFill>
              </a:rPr>
              <a:t>=</a:t>
            </a:r>
            <a:r>
              <a:rPr>
                <a:solidFill>
                  <a:srgbClr val="FFFFFF"/>
                </a:solidFill>
              </a:rPr>
              <a:t> pde_residual_batch</a:t>
            </a:r>
            <a:r>
              <a:rPr>
                <a:solidFill>
                  <a:srgbClr val="F8F8F2"/>
                </a:solidFill>
              </a:rPr>
              <a:t>(</a:t>
            </a:r>
            <a:r>
              <a:rPr>
                <a:solidFill>
                  <a:srgbClr val="FFFFFF"/>
                </a:solidFill>
              </a:rPr>
              <a:t>params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batch</a:t>
            </a:r>
            <a:r>
              <a:rPr>
                <a:solidFill>
                  <a:srgbClr val="F8F8F2"/>
                </a:solidFill>
              </a:rPr>
              <a:t>[</a:t>
            </a:r>
            <a:r>
              <a:rPr>
                <a:solidFill>
                  <a:srgbClr val="FFFFFF"/>
                </a:solidFill>
              </a:rPr>
              <a:t>"x_r"</a:t>
            </a:r>
            <a:r>
              <a:rPr>
                <a:solidFill>
                  <a:srgbClr val="F8F8F2"/>
                </a:solidFill>
              </a:rPr>
              <a:t>],</a:t>
            </a:r>
            <a:r>
              <a:rPr>
                <a:solidFill>
                  <a:srgbClr val="FFFFFF"/>
                </a:solidFill>
              </a:rPr>
              <a:t> cfg</a:t>
            </a:r>
            <a:r>
              <a:rPr>
                <a:solidFill>
                  <a:srgbClr val="F8F8F2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3 </a:t>
            </a:r>
            <a:r>
              <a:rPr>
                <a:solidFill>
                  <a:srgbClr val="FFFFFF"/>
                </a:solidFill>
              </a:rPr>
              <a:t>    loss_pde </a:t>
            </a:r>
            <a:r>
              <a:rPr>
                <a:solidFill>
                  <a:srgbClr val="F8F8F2"/>
                </a:solidFill>
              </a:rPr>
              <a:t>=</a:t>
            </a:r>
            <a:r>
              <a:rPr>
                <a:solidFill>
                  <a:srgbClr val="FFFFFF"/>
                </a:solidFill>
              </a:rPr>
              <a:t> jnp</a:t>
            </a:r>
            <a:r>
              <a:rPr>
                <a:solidFill>
                  <a:srgbClr val="F8F8F2"/>
                </a:solidFill>
              </a:rPr>
              <a:t>.</a:t>
            </a:r>
            <a:r>
              <a:rPr>
                <a:solidFill>
                  <a:srgbClr val="FFFFFF"/>
                </a:solidFill>
              </a:rPr>
              <a:t>mean</a:t>
            </a:r>
            <a:r>
              <a:rPr>
                <a:solidFill>
                  <a:srgbClr val="F8F8F2"/>
                </a:solidFill>
              </a:rPr>
              <a:t>(</a:t>
            </a:r>
            <a:r>
              <a:rPr>
                <a:solidFill>
                  <a:srgbClr val="FFFFFF"/>
                </a:solidFill>
              </a:rPr>
              <a:t>r </a:t>
            </a:r>
            <a:r>
              <a:rPr>
                <a:solidFill>
                  <a:srgbClr val="F8F8F2"/>
                </a:solidFill>
              </a:rPr>
              <a:t>**</a:t>
            </a:r>
            <a:r>
              <a:rPr>
                <a:solidFill>
                  <a:srgbClr val="FFFFFF"/>
                </a:solidFill>
              </a:rPr>
              <a:t> 2</a:t>
            </a:r>
            <a:r>
              <a:rPr>
                <a:solidFill>
                  <a:srgbClr val="F8F8F2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4 </a:t>
            </a:r>
            <a:endParaRPr>
              <a:solidFill>
                <a:srgbClr val="FFFFFF"/>
              </a:solidFill>
            </a:endParaRPr>
          </a:p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5 </a:t>
            </a:r>
            <a:r>
              <a:rPr>
                <a:solidFill>
                  <a:srgbClr val="FFFFFF"/>
                </a:solidFill>
              </a:rPr>
              <a:t>    </a:t>
            </a:r>
            <a:r>
              <a:rPr>
                <a:solidFill>
                  <a:srgbClr val="66D9EF"/>
                </a:solidFill>
              </a:rPr>
              <a:t>if</a:t>
            </a:r>
            <a:r>
              <a:rPr>
                <a:solidFill>
                  <a:srgbClr val="FFFFFF"/>
                </a:solidFill>
              </a:rPr>
              <a:t> cfg</a:t>
            </a:r>
            <a:r>
              <a:rPr>
                <a:solidFill>
                  <a:srgbClr val="F8F8F2"/>
                </a:solidFill>
              </a:rPr>
              <a:t>.</a:t>
            </a:r>
            <a:r>
              <a:rPr>
                <a:solidFill>
                  <a:srgbClr val="FFFFFF"/>
                </a:solidFill>
              </a:rPr>
              <a:t>use_hard_constraints</a:t>
            </a:r>
            <a:r>
              <a:rPr>
                <a:solidFill>
                  <a:srgbClr val="F8F8F2"/>
                </a:solidFill>
              </a:rPr>
              <a:t>:</a:t>
            </a:r>
            <a:endParaRPr>
              <a:solidFill>
                <a:srgbClr val="FFFFFF"/>
              </a:solidFill>
            </a:endParaRPr>
          </a:p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6 </a:t>
            </a:r>
            <a:r>
              <a:rPr>
                <a:solidFill>
                  <a:srgbClr val="FFFFFF"/>
                </a:solidFill>
              </a:rPr>
              <a:t>        loss_bc </a:t>
            </a:r>
            <a:r>
              <a:rPr>
                <a:solidFill>
                  <a:srgbClr val="F8F8F2"/>
                </a:solidFill>
              </a:rPr>
              <a:t>=</a:t>
            </a:r>
            <a:r>
              <a:rPr>
                <a:solidFill>
                  <a:srgbClr val="FFFFFF"/>
                </a:solidFill>
              </a:rPr>
              <a:t> jnp</a:t>
            </a:r>
            <a:r>
              <a:rPr>
                <a:solidFill>
                  <a:srgbClr val="F8F8F2"/>
                </a:solidFill>
              </a:rPr>
              <a:t>.</a:t>
            </a:r>
            <a:r>
              <a:rPr>
                <a:solidFill>
                  <a:srgbClr val="FFFFFF"/>
                </a:solidFill>
              </a:rPr>
              <a:t>array</a:t>
            </a:r>
            <a:r>
              <a:rPr>
                <a:solidFill>
                  <a:srgbClr val="F8F8F2"/>
                </a:solidFill>
              </a:rPr>
              <a:t>(</a:t>
            </a:r>
            <a:r>
              <a:rPr>
                <a:solidFill>
                  <a:srgbClr val="FFFFFF"/>
                </a:solidFill>
              </a:rPr>
              <a:t>0.0</a:t>
            </a:r>
            <a:r>
              <a:rPr>
                <a:solidFill>
                  <a:srgbClr val="F8F8F2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7 </a:t>
            </a:r>
            <a:r>
              <a:rPr>
                <a:solidFill>
                  <a:srgbClr val="FFFFFF"/>
                </a:solidFill>
              </a:rPr>
              <a:t>        loss_ic </a:t>
            </a:r>
            <a:r>
              <a:rPr>
                <a:solidFill>
                  <a:srgbClr val="F8F8F2"/>
                </a:solidFill>
              </a:rPr>
              <a:t>=</a:t>
            </a:r>
            <a:r>
              <a:rPr>
                <a:solidFill>
                  <a:srgbClr val="FFFFFF"/>
                </a:solidFill>
              </a:rPr>
              <a:t> jnp</a:t>
            </a:r>
            <a:r>
              <a:rPr>
                <a:solidFill>
                  <a:srgbClr val="F8F8F2"/>
                </a:solidFill>
              </a:rPr>
              <a:t>.</a:t>
            </a:r>
            <a:r>
              <a:rPr>
                <a:solidFill>
                  <a:srgbClr val="FFFFFF"/>
                </a:solidFill>
              </a:rPr>
              <a:t>array</a:t>
            </a:r>
            <a:r>
              <a:rPr>
                <a:solidFill>
                  <a:srgbClr val="F8F8F2"/>
                </a:solidFill>
              </a:rPr>
              <a:t>(</a:t>
            </a:r>
            <a:r>
              <a:rPr>
                <a:solidFill>
                  <a:srgbClr val="FFFFFF"/>
                </a:solidFill>
              </a:rPr>
              <a:t>0.0</a:t>
            </a:r>
            <a:r>
              <a:rPr>
                <a:solidFill>
                  <a:srgbClr val="F8F8F2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8 </a:t>
            </a:r>
            <a:r>
              <a:rPr>
                <a:solidFill>
                  <a:srgbClr val="FFFFFF"/>
                </a:solidFill>
              </a:rPr>
              <a:t>    </a:t>
            </a:r>
            <a:r>
              <a:rPr>
                <a:solidFill>
                  <a:srgbClr val="66D9EF"/>
                </a:solidFill>
              </a:rPr>
              <a:t>else</a:t>
            </a:r>
            <a:r>
              <a:rPr>
                <a:solidFill>
                  <a:srgbClr val="F8F8F2"/>
                </a:solidFill>
              </a:rPr>
              <a:t>:</a:t>
            </a:r>
            <a:endParaRPr>
              <a:solidFill>
                <a:srgbClr val="FFFFFF"/>
              </a:solidFill>
            </a:endParaRPr>
          </a:p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9 </a:t>
            </a:r>
            <a:r>
              <a:rPr>
                <a:solidFill>
                  <a:srgbClr val="FFFFFF"/>
                </a:solidFill>
              </a:rPr>
              <a:t>        pred_b </a:t>
            </a:r>
            <a:r>
              <a:rPr>
                <a:solidFill>
                  <a:srgbClr val="F8F8F2"/>
                </a:solidFill>
              </a:rPr>
              <a:t>=</a:t>
            </a:r>
            <a:r>
              <a:rPr>
                <a:solidFill>
                  <a:srgbClr val="FFFFFF"/>
                </a:solidFill>
              </a:rPr>
              <a:t> predict</a:t>
            </a:r>
            <a:r>
              <a:rPr>
                <a:solidFill>
                  <a:srgbClr val="F8F8F2"/>
                </a:solidFill>
              </a:rPr>
              <a:t>(</a:t>
            </a:r>
            <a:r>
              <a:rPr>
                <a:solidFill>
                  <a:srgbClr val="FFFFFF"/>
                </a:solidFill>
              </a:rPr>
              <a:t>params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batch</a:t>
            </a:r>
            <a:r>
              <a:rPr>
                <a:solidFill>
                  <a:srgbClr val="F8F8F2"/>
                </a:solidFill>
              </a:rPr>
              <a:t>[</a:t>
            </a:r>
            <a:r>
              <a:rPr>
                <a:solidFill>
                  <a:srgbClr val="FFFFFF"/>
                </a:solidFill>
              </a:rPr>
              <a:t>"x_b"</a:t>
            </a:r>
            <a:r>
              <a:rPr>
                <a:solidFill>
                  <a:srgbClr val="F8F8F2"/>
                </a:solidFill>
              </a:rPr>
              <a:t>],</a:t>
            </a:r>
            <a:r>
              <a:rPr>
                <a:solidFill>
                  <a:srgbClr val="FFFFFF"/>
                </a:solidFill>
              </a:rPr>
              <a:t> cfg</a:t>
            </a:r>
            <a:r>
              <a:rPr>
                <a:solidFill>
                  <a:srgbClr val="F8F8F2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10 </a:t>
            </a:r>
            <a:r>
              <a:rPr>
                <a:solidFill>
                  <a:srgbClr val="FFFFFF"/>
                </a:solidFill>
              </a:rPr>
              <a:t>        loss_bc </a:t>
            </a:r>
            <a:r>
              <a:rPr>
                <a:solidFill>
                  <a:srgbClr val="F8F8F2"/>
                </a:solidFill>
              </a:rPr>
              <a:t>=</a:t>
            </a:r>
            <a:r>
              <a:rPr>
                <a:solidFill>
                  <a:srgbClr val="FFFFFF"/>
                </a:solidFill>
              </a:rPr>
              <a:t> jnp</a:t>
            </a:r>
            <a:r>
              <a:rPr>
                <a:solidFill>
                  <a:srgbClr val="F8F8F2"/>
                </a:solidFill>
              </a:rPr>
              <a:t>.</a:t>
            </a:r>
            <a:r>
              <a:rPr>
                <a:solidFill>
                  <a:srgbClr val="FFFFFF"/>
                </a:solidFill>
              </a:rPr>
              <a:t>mean</a:t>
            </a:r>
            <a:r>
              <a:rPr>
                <a:solidFill>
                  <a:srgbClr val="F8F8F2"/>
                </a:solidFill>
              </a:rPr>
              <a:t>((</a:t>
            </a:r>
            <a:r>
              <a:rPr>
                <a:solidFill>
                  <a:srgbClr val="FFFFFF"/>
                </a:solidFill>
              </a:rPr>
              <a:t>pred_b </a:t>
            </a:r>
            <a:r>
              <a:rPr>
                <a:solidFill>
                  <a:srgbClr val="F8F8F2"/>
                </a:solidFill>
              </a:rPr>
              <a:t>-</a:t>
            </a:r>
            <a:r>
              <a:rPr>
                <a:solidFill>
                  <a:srgbClr val="FFFFFF"/>
                </a:solidFill>
              </a:rPr>
              <a:t> batch</a:t>
            </a:r>
            <a:r>
              <a:rPr>
                <a:solidFill>
                  <a:srgbClr val="F8F8F2"/>
                </a:solidFill>
              </a:rPr>
              <a:t>[</a:t>
            </a:r>
            <a:r>
              <a:rPr>
                <a:solidFill>
                  <a:srgbClr val="FFFFFF"/>
                </a:solidFill>
              </a:rPr>
              <a:t>"y_b"</a:t>
            </a:r>
            <a:r>
              <a:rPr>
                <a:solidFill>
                  <a:srgbClr val="F8F8F2"/>
                </a:solidFill>
              </a:rPr>
              <a:t>])</a:t>
            </a:r>
            <a:r>
              <a:rPr>
                <a:solidFill>
                  <a:srgbClr val="FFFFFF"/>
                </a:solidFill>
              </a:rPr>
              <a:t> </a:t>
            </a:r>
            <a:r>
              <a:rPr>
                <a:solidFill>
                  <a:srgbClr val="F8F8F2"/>
                </a:solidFill>
              </a:rPr>
              <a:t>**</a:t>
            </a:r>
            <a:r>
              <a:rPr>
                <a:solidFill>
                  <a:srgbClr val="FFFFFF"/>
                </a:solidFill>
              </a:rPr>
              <a:t> 2</a:t>
            </a:r>
            <a:r>
              <a:rPr>
                <a:solidFill>
                  <a:srgbClr val="F8F8F2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11 </a:t>
            </a:r>
            <a:r>
              <a:rPr>
                <a:solidFill>
                  <a:srgbClr val="FFFFFF"/>
                </a:solidFill>
              </a:rPr>
              <a:t>        pred_i </a:t>
            </a:r>
            <a:r>
              <a:rPr>
                <a:solidFill>
                  <a:srgbClr val="F8F8F2"/>
                </a:solidFill>
              </a:rPr>
              <a:t>=</a:t>
            </a:r>
            <a:r>
              <a:rPr>
                <a:solidFill>
                  <a:srgbClr val="FFFFFF"/>
                </a:solidFill>
              </a:rPr>
              <a:t> predict</a:t>
            </a:r>
            <a:r>
              <a:rPr>
                <a:solidFill>
                  <a:srgbClr val="F8F8F2"/>
                </a:solidFill>
              </a:rPr>
              <a:t>(</a:t>
            </a:r>
            <a:r>
              <a:rPr>
                <a:solidFill>
                  <a:srgbClr val="FFFFFF"/>
                </a:solidFill>
              </a:rPr>
              <a:t>params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batch</a:t>
            </a:r>
            <a:r>
              <a:rPr>
                <a:solidFill>
                  <a:srgbClr val="F8F8F2"/>
                </a:solidFill>
              </a:rPr>
              <a:t>[</a:t>
            </a:r>
            <a:r>
              <a:rPr>
                <a:solidFill>
                  <a:srgbClr val="FFFFFF"/>
                </a:solidFill>
              </a:rPr>
              <a:t>"x_i"</a:t>
            </a:r>
            <a:r>
              <a:rPr>
                <a:solidFill>
                  <a:srgbClr val="F8F8F2"/>
                </a:solidFill>
              </a:rPr>
              <a:t>],</a:t>
            </a:r>
            <a:r>
              <a:rPr>
                <a:solidFill>
                  <a:srgbClr val="FFFFFF"/>
                </a:solidFill>
              </a:rPr>
              <a:t> cfg</a:t>
            </a:r>
            <a:r>
              <a:rPr>
                <a:solidFill>
                  <a:srgbClr val="F8F8F2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12 </a:t>
            </a:r>
            <a:r>
              <a:rPr>
                <a:solidFill>
                  <a:srgbClr val="FFFFFF"/>
                </a:solidFill>
              </a:rPr>
              <a:t>        loss_ic </a:t>
            </a:r>
            <a:r>
              <a:rPr>
                <a:solidFill>
                  <a:srgbClr val="F8F8F2"/>
                </a:solidFill>
              </a:rPr>
              <a:t>=</a:t>
            </a:r>
            <a:r>
              <a:rPr>
                <a:solidFill>
                  <a:srgbClr val="FFFFFF"/>
                </a:solidFill>
              </a:rPr>
              <a:t> jnp</a:t>
            </a:r>
            <a:r>
              <a:rPr>
                <a:solidFill>
                  <a:srgbClr val="F8F8F2"/>
                </a:solidFill>
              </a:rPr>
              <a:t>.</a:t>
            </a:r>
            <a:r>
              <a:rPr>
                <a:solidFill>
                  <a:srgbClr val="FFFFFF"/>
                </a:solidFill>
              </a:rPr>
              <a:t>mean</a:t>
            </a:r>
            <a:r>
              <a:rPr>
                <a:solidFill>
                  <a:srgbClr val="F8F8F2"/>
                </a:solidFill>
              </a:rPr>
              <a:t>((</a:t>
            </a:r>
            <a:r>
              <a:rPr>
                <a:solidFill>
                  <a:srgbClr val="FFFFFF"/>
                </a:solidFill>
              </a:rPr>
              <a:t>pred_i </a:t>
            </a:r>
            <a:r>
              <a:rPr>
                <a:solidFill>
                  <a:srgbClr val="F8F8F2"/>
                </a:solidFill>
              </a:rPr>
              <a:t>-</a:t>
            </a:r>
            <a:r>
              <a:rPr>
                <a:solidFill>
                  <a:srgbClr val="FFFFFF"/>
                </a:solidFill>
              </a:rPr>
              <a:t> batch</a:t>
            </a:r>
            <a:r>
              <a:rPr>
                <a:solidFill>
                  <a:srgbClr val="F8F8F2"/>
                </a:solidFill>
              </a:rPr>
              <a:t>[</a:t>
            </a:r>
            <a:r>
              <a:rPr>
                <a:solidFill>
                  <a:srgbClr val="FFFFFF"/>
                </a:solidFill>
              </a:rPr>
              <a:t>"y_i"</a:t>
            </a:r>
            <a:r>
              <a:rPr>
                <a:solidFill>
                  <a:srgbClr val="F8F8F2"/>
                </a:solidFill>
              </a:rPr>
              <a:t>])</a:t>
            </a:r>
            <a:r>
              <a:rPr>
                <a:solidFill>
                  <a:srgbClr val="FFFFFF"/>
                </a:solidFill>
              </a:rPr>
              <a:t> </a:t>
            </a:r>
            <a:r>
              <a:rPr>
                <a:solidFill>
                  <a:srgbClr val="F8F8F2"/>
                </a:solidFill>
              </a:rPr>
              <a:t>**</a:t>
            </a:r>
            <a:r>
              <a:rPr>
                <a:solidFill>
                  <a:srgbClr val="FFFFFF"/>
                </a:solidFill>
              </a:rPr>
              <a:t> 2</a:t>
            </a:r>
            <a:r>
              <a:rPr>
                <a:solidFill>
                  <a:srgbClr val="F8F8F2"/>
                </a:solidFill>
              </a:rPr>
              <a:t>)</a:t>
            </a:r>
          </a:p>
        </p:txBody>
      </p:sp>
      <p:sp>
        <p:nvSpPr>
          <p:cNvPr id="284" name="Shape 7"/>
          <p:cNvSpPr/>
          <p:nvPr/>
        </p:nvSpPr>
        <p:spPr>
          <a:xfrm>
            <a:off x="594359" y="6473952"/>
            <a:ext cx="10972801" cy="1"/>
          </a:xfrm>
          <a:prstGeom prst="line">
            <a:avLst/>
          </a:prstGeom>
          <a:ln w="12700">
            <a:solidFill>
              <a:srgbClr val="D7DCE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85" name="Text 8"/>
          <p:cNvSpPr txBox="1"/>
          <p:nvPr/>
        </p:nvSpPr>
        <p:spPr>
          <a:xfrm>
            <a:off x="621791" y="6529323"/>
            <a:ext cx="10972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/>
            <a:r>
              <a:t>17.04.2026</a:t>
            </a:r>
          </a:p>
        </p:txBody>
      </p:sp>
      <p:sp>
        <p:nvSpPr>
          <p:cNvPr id="286" name="Text 9"/>
          <p:cNvSpPr txBox="1"/>
          <p:nvPr/>
        </p:nvSpPr>
        <p:spPr>
          <a:xfrm>
            <a:off x="11155680" y="6529323"/>
            <a:ext cx="3200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6B7280"/>
                </a:solidFill>
              </a:defRPr>
            </a:lvl1pPr>
          </a:lstStyle>
          <a:p>
            <a:pPr/>
            <a:r>
              <a:t>23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Text 0"/>
          <p:cNvSpPr txBox="1"/>
          <p:nvPr/>
        </p:nvSpPr>
        <p:spPr>
          <a:xfrm>
            <a:off x="658368" y="370168"/>
            <a:ext cx="10881360" cy="2837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000">
                <a:solidFill>
                  <a:srgbClr val="111111"/>
                </a:solidFill>
              </a:defRPr>
            </a:lvl1pPr>
          </a:lstStyle>
          <a:p>
            <a:pPr/>
            <a:r>
              <a:t>PINN: цикл обучения</a:t>
            </a:r>
          </a:p>
        </p:txBody>
      </p:sp>
      <p:sp>
        <p:nvSpPr>
          <p:cNvPr id="289" name="Text 1"/>
          <p:cNvSpPr txBox="1"/>
          <p:nvPr/>
        </p:nvSpPr>
        <p:spPr>
          <a:xfrm>
            <a:off x="749807" y="914400"/>
            <a:ext cx="10241282" cy="1143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ct val="104999"/>
              </a:lnSpc>
              <a:defRPr sz="1500">
                <a:solidFill>
                  <a:srgbClr val="111111"/>
                </a:solidFill>
              </a:defRPr>
            </a:pPr>
            <a:r>
              <a:t>• Процедура обучения включает генерацию batch, шаг оптимизатора и логирование learning rate и loss-компонент</a:t>
            </a:r>
          </a:p>
          <a:p>
            <a:pPr>
              <a:lnSpc>
                <a:spcPct val="104999"/>
              </a:lnSpc>
              <a:defRPr sz="1500">
                <a:solidFill>
                  <a:srgbClr val="111111"/>
                </a:solidFill>
              </a:defRPr>
            </a:pPr>
            <a:r>
              <a:t>• После обучения вычисляются метрики на контрольных временах eval_times</a:t>
            </a:r>
          </a:p>
          <a:p>
            <a:pPr>
              <a:lnSpc>
                <a:spcPct val="104999"/>
              </a:lnSpc>
              <a:defRPr sz="1500">
                <a:solidFill>
                  <a:srgbClr val="111111"/>
                </a:solidFill>
              </a:defRPr>
            </a:pPr>
            <a:r>
              <a:t>• На каждой эпохе сохраняются: loss_total, loss_pde, loss_bc, loss_ic, learning_rate</a:t>
            </a:r>
          </a:p>
        </p:txBody>
      </p:sp>
      <p:sp>
        <p:nvSpPr>
          <p:cNvPr id="290" name="Shape 2"/>
          <p:cNvSpPr/>
          <p:nvPr/>
        </p:nvSpPr>
        <p:spPr>
          <a:xfrm>
            <a:off x="438394" y="2221542"/>
            <a:ext cx="11284732" cy="3931921"/>
          </a:xfrm>
          <a:prstGeom prst="roundRect">
            <a:avLst>
              <a:gd name="adj" fmla="val 0"/>
            </a:avLst>
          </a:prstGeom>
          <a:solidFill>
            <a:srgbClr val="151A22"/>
          </a:solidFill>
          <a:ln w="12700">
            <a:solidFill>
              <a:srgbClr val="2D3440"/>
            </a:solidFill>
          </a:ln>
          <a:effectLst>
            <a:outerShdw sx="100000" sy="100000" kx="0" ky="0" algn="b" rotWithShape="0" blurRad="12700" dist="12700" dir="2700000">
              <a:srgbClr val="000000">
                <a:alpha val="1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1" name="Text 3"/>
          <p:cNvSpPr txBox="1"/>
          <p:nvPr/>
        </p:nvSpPr>
        <p:spPr>
          <a:xfrm>
            <a:off x="602986" y="2313490"/>
            <a:ext cx="1009497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900">
                <a:solidFill>
                  <a:srgbClr val="96A0AD"/>
                </a:solidFill>
              </a:defRPr>
            </a:lvl1pPr>
          </a:lstStyle>
          <a:p>
            <a:pPr/>
            <a:r>
              <a:t>train_pinn</a:t>
            </a:r>
          </a:p>
        </p:txBody>
      </p:sp>
      <p:sp>
        <p:nvSpPr>
          <p:cNvPr id="292" name="Text 4"/>
          <p:cNvSpPr txBox="1"/>
          <p:nvPr/>
        </p:nvSpPr>
        <p:spPr>
          <a:xfrm>
            <a:off x="584698" y="2440998"/>
            <a:ext cx="11009905" cy="3657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 defTabSz="905255">
              <a:defRPr sz="1386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1 </a:t>
            </a:r>
            <a:r>
              <a:rPr>
                <a:solidFill>
                  <a:srgbClr val="66D9EF"/>
                </a:solidFill>
              </a:rPr>
              <a:t>def</a:t>
            </a:r>
            <a:r>
              <a:rPr>
                <a:solidFill>
                  <a:srgbClr val="FFFFFF"/>
                </a:solidFill>
              </a:rPr>
              <a:t> train_pinn</a:t>
            </a:r>
            <a:r>
              <a:rPr>
                <a:solidFill>
                  <a:srgbClr val="F8F8F2"/>
                </a:solidFill>
              </a:rPr>
              <a:t>(</a:t>
            </a:r>
            <a:r>
              <a:rPr>
                <a:solidFill>
                  <a:srgbClr val="FFFFFF"/>
                </a:solidFill>
              </a:rPr>
              <a:t>cfg</a:t>
            </a:r>
            <a:r>
              <a:rPr>
                <a:solidFill>
                  <a:srgbClr val="F8F8F2"/>
                </a:solidFill>
              </a:rPr>
              <a:t>:</a:t>
            </a:r>
            <a:r>
              <a:rPr>
                <a:solidFill>
                  <a:srgbClr val="FFFFFF"/>
                </a:solidFill>
              </a:rPr>
              <a:t> PINNConfig </a:t>
            </a:r>
            <a:r>
              <a:rPr>
                <a:solidFill>
                  <a:srgbClr val="F8F8F2"/>
                </a:solidFill>
              </a:rPr>
              <a:t>|</a:t>
            </a:r>
            <a:r>
              <a:rPr>
                <a:solidFill>
                  <a:srgbClr val="FFFFFF"/>
                </a:solidFill>
              </a:rPr>
              <a:t> </a:t>
            </a:r>
            <a:r>
              <a:rPr>
                <a:solidFill>
                  <a:srgbClr val="AE81FF"/>
                </a:solidFill>
              </a:rPr>
              <a:t>None</a:t>
            </a:r>
            <a:r>
              <a:rPr>
                <a:solidFill>
                  <a:srgbClr val="FFFFFF"/>
                </a:solidFill>
              </a:rPr>
              <a:t> </a:t>
            </a:r>
            <a:r>
              <a:rPr>
                <a:solidFill>
                  <a:srgbClr val="F8F8F2"/>
                </a:solidFill>
              </a:rPr>
              <a:t>=</a:t>
            </a:r>
            <a:r>
              <a:rPr>
                <a:solidFill>
                  <a:srgbClr val="FFFFFF"/>
                </a:solidFill>
              </a:rPr>
              <a:t> </a:t>
            </a:r>
            <a:r>
              <a:rPr>
                <a:solidFill>
                  <a:srgbClr val="AE81FF"/>
                </a:solidFill>
              </a:rPr>
              <a:t>None</a:t>
            </a:r>
            <a:r>
              <a:rPr>
                <a:solidFill>
                  <a:srgbClr val="F8F8F2"/>
                </a:solidFill>
              </a:rPr>
              <a:t>):</a:t>
            </a:r>
            <a:endParaRPr>
              <a:solidFill>
                <a:srgbClr val="FFFFFF"/>
              </a:solidFill>
            </a:endParaRPr>
          </a:p>
          <a:p>
            <a:pPr defTabSz="905255">
              <a:defRPr sz="1386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2 </a:t>
            </a:r>
            <a:r>
              <a:rPr>
                <a:solidFill>
                  <a:srgbClr val="FFFFFF"/>
                </a:solidFill>
              </a:rPr>
              <a:t>    cfg </a:t>
            </a:r>
            <a:r>
              <a:rPr>
                <a:solidFill>
                  <a:srgbClr val="F8F8F2"/>
                </a:solidFill>
              </a:rPr>
              <a:t>=</a:t>
            </a:r>
            <a:r>
              <a:rPr>
                <a:solidFill>
                  <a:srgbClr val="FFFFFF"/>
                </a:solidFill>
              </a:rPr>
              <a:t> cfg </a:t>
            </a:r>
            <a:r>
              <a:rPr>
                <a:solidFill>
                  <a:srgbClr val="66D9EF"/>
                </a:solidFill>
              </a:rPr>
              <a:t>or</a:t>
            </a:r>
            <a:r>
              <a:rPr>
                <a:solidFill>
                  <a:srgbClr val="FFFFFF"/>
                </a:solidFill>
              </a:rPr>
              <a:t> PINNConfig</a:t>
            </a:r>
            <a:r>
              <a:rPr>
                <a:solidFill>
                  <a:srgbClr val="F8F8F2"/>
                </a:solidFill>
              </a:rPr>
              <a:t>()</a:t>
            </a:r>
            <a:endParaRPr>
              <a:solidFill>
                <a:srgbClr val="FFFFFF"/>
              </a:solidFill>
            </a:endParaRPr>
          </a:p>
          <a:p>
            <a:pPr defTabSz="905255">
              <a:defRPr sz="1386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3 </a:t>
            </a:r>
            <a:r>
              <a:rPr>
                <a:solidFill>
                  <a:srgbClr val="FFFFFF"/>
                </a:solidFill>
              </a:rPr>
              <a:t>    params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optimizer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opt_state </a:t>
            </a:r>
            <a:r>
              <a:rPr>
                <a:solidFill>
                  <a:srgbClr val="F8F8F2"/>
                </a:solidFill>
              </a:rPr>
              <a:t>=</a:t>
            </a:r>
            <a:r>
              <a:rPr>
                <a:solidFill>
                  <a:srgbClr val="FFFFFF"/>
                </a:solidFill>
              </a:rPr>
              <a:t> create_train_state</a:t>
            </a:r>
            <a:r>
              <a:rPr>
                <a:solidFill>
                  <a:srgbClr val="F8F8F2"/>
                </a:solidFill>
              </a:rPr>
              <a:t>(</a:t>
            </a:r>
            <a:r>
              <a:rPr>
                <a:solidFill>
                  <a:srgbClr val="FFFFFF"/>
                </a:solidFill>
              </a:rPr>
              <a:t>cfg</a:t>
            </a:r>
            <a:r>
              <a:rPr>
                <a:solidFill>
                  <a:srgbClr val="F8F8F2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defTabSz="905255">
              <a:defRPr sz="1386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4 </a:t>
            </a:r>
            <a:r>
              <a:rPr>
                <a:solidFill>
                  <a:srgbClr val="FFFFFF"/>
                </a:solidFill>
              </a:rPr>
              <a:t>    key </a:t>
            </a:r>
            <a:r>
              <a:rPr>
                <a:solidFill>
                  <a:srgbClr val="F8F8F2"/>
                </a:solidFill>
              </a:rPr>
              <a:t>=</a:t>
            </a:r>
            <a:r>
              <a:rPr>
                <a:solidFill>
                  <a:srgbClr val="FFFFFF"/>
                </a:solidFill>
              </a:rPr>
              <a:t> jax</a:t>
            </a:r>
            <a:r>
              <a:rPr>
                <a:solidFill>
                  <a:srgbClr val="F8F8F2"/>
                </a:solidFill>
              </a:rPr>
              <a:t>.</a:t>
            </a:r>
            <a:r>
              <a:rPr>
                <a:solidFill>
                  <a:srgbClr val="FFFFFF"/>
                </a:solidFill>
              </a:rPr>
              <a:t>random</a:t>
            </a:r>
            <a:r>
              <a:rPr>
                <a:solidFill>
                  <a:srgbClr val="F8F8F2"/>
                </a:solidFill>
              </a:rPr>
              <a:t>.</a:t>
            </a:r>
            <a:r>
              <a:rPr>
                <a:solidFill>
                  <a:srgbClr val="FFFFFF"/>
                </a:solidFill>
              </a:rPr>
              <a:t>PRNGKey</a:t>
            </a:r>
            <a:r>
              <a:rPr>
                <a:solidFill>
                  <a:srgbClr val="F8F8F2"/>
                </a:solidFill>
              </a:rPr>
              <a:t>(</a:t>
            </a:r>
            <a:r>
              <a:rPr>
                <a:solidFill>
                  <a:srgbClr val="FFFFFF"/>
                </a:solidFill>
              </a:rPr>
              <a:t>cfg</a:t>
            </a:r>
            <a:r>
              <a:rPr>
                <a:solidFill>
                  <a:srgbClr val="F8F8F2"/>
                </a:solidFill>
              </a:rPr>
              <a:t>.</a:t>
            </a:r>
            <a:r>
              <a:rPr>
                <a:solidFill>
                  <a:srgbClr val="FFFFFF"/>
                </a:solidFill>
              </a:rPr>
              <a:t>seed </a:t>
            </a:r>
            <a:r>
              <a:rPr>
                <a:solidFill>
                  <a:srgbClr val="F8F8F2"/>
                </a:solidFill>
              </a:rPr>
              <a:t>+</a:t>
            </a:r>
            <a:r>
              <a:rPr>
                <a:solidFill>
                  <a:srgbClr val="FFFFFF"/>
                </a:solidFill>
              </a:rPr>
              <a:t> 123</a:t>
            </a:r>
            <a:r>
              <a:rPr>
                <a:solidFill>
                  <a:srgbClr val="F8F8F2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defTabSz="905255">
              <a:defRPr sz="1386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5 </a:t>
            </a:r>
            <a:endParaRPr>
              <a:solidFill>
                <a:srgbClr val="FFFFFF"/>
              </a:solidFill>
            </a:endParaRPr>
          </a:p>
          <a:p>
            <a:pPr defTabSz="905255">
              <a:defRPr sz="1386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6 </a:t>
            </a:r>
            <a:r>
              <a:rPr>
                <a:solidFill>
                  <a:srgbClr val="FFFFFF"/>
                </a:solidFill>
              </a:rPr>
              <a:t>    total_epochs </a:t>
            </a:r>
            <a:r>
              <a:rPr>
                <a:solidFill>
                  <a:srgbClr val="F8F8F2"/>
                </a:solidFill>
              </a:rPr>
              <a:t>=</a:t>
            </a:r>
            <a:r>
              <a:rPr>
                <a:solidFill>
                  <a:srgbClr val="FFFFFF"/>
                </a:solidFill>
              </a:rPr>
              <a:t> cfg</a:t>
            </a:r>
            <a:r>
              <a:rPr>
                <a:solidFill>
                  <a:srgbClr val="F8F8F2"/>
                </a:solidFill>
              </a:rPr>
              <a:t>.</a:t>
            </a:r>
            <a:r>
              <a:rPr>
                <a:solidFill>
                  <a:srgbClr val="FFFFFF"/>
                </a:solidFill>
              </a:rPr>
              <a:t>pretrain_ic_bc_epochs </a:t>
            </a:r>
            <a:r>
              <a:rPr>
                <a:solidFill>
                  <a:srgbClr val="F8F8F2"/>
                </a:solidFill>
              </a:rPr>
              <a:t>+</a:t>
            </a:r>
            <a:r>
              <a:rPr>
                <a:solidFill>
                  <a:srgbClr val="FFFFFF"/>
                </a:solidFill>
              </a:rPr>
              <a:t> cfg</a:t>
            </a:r>
            <a:r>
              <a:rPr>
                <a:solidFill>
                  <a:srgbClr val="F8F8F2"/>
                </a:solidFill>
              </a:rPr>
              <a:t>.</a:t>
            </a:r>
            <a:r>
              <a:rPr>
                <a:solidFill>
                  <a:srgbClr val="FFFFFF"/>
                </a:solidFill>
              </a:rPr>
              <a:t>epochs</a:t>
            </a:r>
            <a:endParaRPr>
              <a:solidFill>
                <a:srgbClr val="FFFFFF"/>
              </a:solidFill>
            </a:endParaRPr>
          </a:p>
          <a:p>
            <a:pPr defTabSz="905255">
              <a:defRPr sz="1386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7 </a:t>
            </a:r>
            <a:r>
              <a:rPr>
                <a:solidFill>
                  <a:srgbClr val="FFFFFF"/>
                </a:solidFill>
              </a:rPr>
              <a:t>    </a:t>
            </a:r>
            <a:r>
              <a:rPr>
                <a:solidFill>
                  <a:srgbClr val="66D9EF"/>
                </a:solidFill>
              </a:rPr>
              <a:t>for</a:t>
            </a:r>
            <a:r>
              <a:rPr>
                <a:solidFill>
                  <a:srgbClr val="FFFFFF"/>
                </a:solidFill>
              </a:rPr>
              <a:t> global_epoch </a:t>
            </a:r>
            <a:r>
              <a:rPr>
                <a:solidFill>
                  <a:srgbClr val="66D9EF"/>
                </a:solidFill>
              </a:rPr>
              <a:t>in</a:t>
            </a:r>
            <a:r>
              <a:rPr>
                <a:solidFill>
                  <a:srgbClr val="FFFFFF"/>
                </a:solidFill>
              </a:rPr>
              <a:t> range</a:t>
            </a:r>
            <a:r>
              <a:rPr>
                <a:solidFill>
                  <a:srgbClr val="F8F8F2"/>
                </a:solidFill>
              </a:rPr>
              <a:t>(</a:t>
            </a:r>
            <a:r>
              <a:rPr>
                <a:solidFill>
                  <a:srgbClr val="FFFFFF"/>
                </a:solidFill>
              </a:rPr>
              <a:t>1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total_epochs </a:t>
            </a:r>
            <a:r>
              <a:rPr>
                <a:solidFill>
                  <a:srgbClr val="F8F8F2"/>
                </a:solidFill>
              </a:rPr>
              <a:t>+</a:t>
            </a:r>
            <a:r>
              <a:rPr>
                <a:solidFill>
                  <a:srgbClr val="FFFFFF"/>
                </a:solidFill>
              </a:rPr>
              <a:t> 1</a:t>
            </a:r>
            <a:r>
              <a:rPr>
                <a:solidFill>
                  <a:srgbClr val="F8F8F2"/>
                </a:solidFill>
              </a:rPr>
              <a:t>):</a:t>
            </a:r>
            <a:endParaRPr>
              <a:solidFill>
                <a:srgbClr val="FFFFFF"/>
              </a:solidFill>
            </a:endParaRPr>
          </a:p>
          <a:p>
            <a:pPr defTabSz="905255">
              <a:defRPr sz="1386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8 </a:t>
            </a:r>
            <a:r>
              <a:rPr>
                <a:solidFill>
                  <a:srgbClr val="FFFFFF"/>
                </a:solidFill>
              </a:rPr>
              <a:t>        key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subkey </a:t>
            </a:r>
            <a:r>
              <a:rPr>
                <a:solidFill>
                  <a:srgbClr val="F8F8F2"/>
                </a:solidFill>
              </a:rPr>
              <a:t>=</a:t>
            </a:r>
            <a:r>
              <a:rPr>
                <a:solidFill>
                  <a:srgbClr val="FFFFFF"/>
                </a:solidFill>
              </a:rPr>
              <a:t> jax</a:t>
            </a:r>
            <a:r>
              <a:rPr>
                <a:solidFill>
                  <a:srgbClr val="F8F8F2"/>
                </a:solidFill>
              </a:rPr>
              <a:t>.</a:t>
            </a:r>
            <a:r>
              <a:rPr>
                <a:solidFill>
                  <a:srgbClr val="FFFFFF"/>
                </a:solidFill>
              </a:rPr>
              <a:t>random</a:t>
            </a:r>
            <a:r>
              <a:rPr>
                <a:solidFill>
                  <a:srgbClr val="F8F8F2"/>
                </a:solidFill>
              </a:rPr>
              <a:t>.</a:t>
            </a:r>
            <a:r>
              <a:rPr>
                <a:solidFill>
                  <a:srgbClr val="FFFFFF"/>
                </a:solidFill>
              </a:rPr>
              <a:t>split</a:t>
            </a:r>
            <a:r>
              <a:rPr>
                <a:solidFill>
                  <a:srgbClr val="F8F8F2"/>
                </a:solidFill>
              </a:rPr>
              <a:t>(</a:t>
            </a:r>
            <a:r>
              <a:rPr>
                <a:solidFill>
                  <a:srgbClr val="FFFFFF"/>
                </a:solidFill>
              </a:rPr>
              <a:t>key</a:t>
            </a:r>
            <a:r>
              <a:rPr>
                <a:solidFill>
                  <a:srgbClr val="F8F8F2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defTabSz="905255">
              <a:defRPr sz="1386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9 </a:t>
            </a:r>
            <a:r>
              <a:rPr>
                <a:solidFill>
                  <a:srgbClr val="FFFFFF"/>
                </a:solidFill>
              </a:rPr>
              <a:t>        batch </a:t>
            </a:r>
            <a:r>
              <a:rPr>
                <a:solidFill>
                  <a:srgbClr val="F8F8F2"/>
                </a:solidFill>
              </a:rPr>
              <a:t>=</a:t>
            </a:r>
            <a:r>
              <a:rPr>
                <a:solidFill>
                  <a:srgbClr val="FFFFFF"/>
                </a:solidFill>
              </a:rPr>
              <a:t> make_training_batch</a:t>
            </a:r>
            <a:r>
              <a:rPr>
                <a:solidFill>
                  <a:srgbClr val="F8F8F2"/>
                </a:solidFill>
              </a:rPr>
              <a:t>(</a:t>
            </a:r>
            <a:r>
              <a:rPr>
                <a:solidFill>
                  <a:srgbClr val="FFFFFF"/>
                </a:solidFill>
              </a:rPr>
              <a:t>subkey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cfg</a:t>
            </a:r>
            <a:r>
              <a:rPr>
                <a:solidFill>
                  <a:srgbClr val="F8F8F2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defTabSz="905255">
              <a:defRPr sz="1386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10 </a:t>
            </a:r>
            <a:r>
              <a:rPr>
                <a:solidFill>
                  <a:srgbClr val="FFFFFF"/>
                </a:solidFill>
              </a:rPr>
              <a:t>        </a:t>
            </a:r>
            <a:r>
              <a:rPr>
                <a:solidFill>
                  <a:srgbClr val="66D9EF"/>
                </a:solidFill>
              </a:rPr>
              <a:t>if</a:t>
            </a:r>
            <a:r>
              <a:rPr>
                <a:solidFill>
                  <a:srgbClr val="FFFFFF"/>
                </a:solidFill>
              </a:rPr>
              <a:t> global_epoch </a:t>
            </a:r>
            <a:r>
              <a:rPr>
                <a:solidFill>
                  <a:srgbClr val="F8F8F2"/>
                </a:solidFill>
              </a:rPr>
              <a:t>&lt;=</a:t>
            </a:r>
            <a:r>
              <a:rPr>
                <a:solidFill>
                  <a:srgbClr val="FFFFFF"/>
                </a:solidFill>
              </a:rPr>
              <a:t> cfg</a:t>
            </a:r>
            <a:r>
              <a:rPr>
                <a:solidFill>
                  <a:srgbClr val="F8F8F2"/>
                </a:solidFill>
              </a:rPr>
              <a:t>.</a:t>
            </a:r>
            <a:r>
              <a:rPr>
                <a:solidFill>
                  <a:srgbClr val="FFFFFF"/>
                </a:solidFill>
              </a:rPr>
              <a:t>pretrain_ic_bc_epochs</a:t>
            </a:r>
            <a:r>
              <a:rPr>
                <a:solidFill>
                  <a:srgbClr val="F8F8F2"/>
                </a:solidFill>
              </a:rPr>
              <a:t>:</a:t>
            </a:r>
            <a:endParaRPr>
              <a:solidFill>
                <a:srgbClr val="FFFFFF"/>
              </a:solidFill>
            </a:endParaRPr>
          </a:p>
          <a:p>
            <a:pPr defTabSz="905255">
              <a:defRPr sz="1386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11 </a:t>
            </a:r>
            <a:r>
              <a:rPr>
                <a:solidFill>
                  <a:srgbClr val="FFFFFF"/>
                </a:solidFill>
              </a:rPr>
              <a:t>            lr </a:t>
            </a:r>
            <a:r>
              <a:rPr>
                <a:solidFill>
                  <a:srgbClr val="F8F8F2"/>
                </a:solidFill>
              </a:rPr>
              <a:t>=</a:t>
            </a:r>
            <a:r>
              <a:rPr>
                <a:solidFill>
                  <a:srgbClr val="FFFFFF"/>
                </a:solidFill>
              </a:rPr>
              <a:t> cfg</a:t>
            </a:r>
            <a:r>
              <a:rPr>
                <a:solidFill>
                  <a:srgbClr val="F8F8F2"/>
                </a:solidFill>
              </a:rPr>
              <a:t>.</a:t>
            </a:r>
            <a:r>
              <a:rPr>
                <a:solidFill>
                  <a:srgbClr val="FFFFFF"/>
                </a:solidFill>
              </a:rPr>
              <a:t>learning_rate</a:t>
            </a:r>
            <a:endParaRPr>
              <a:solidFill>
                <a:srgbClr val="FFFFFF"/>
              </a:solidFill>
            </a:endParaRPr>
          </a:p>
          <a:p>
            <a:pPr defTabSz="905255">
              <a:defRPr sz="1386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12 </a:t>
            </a:r>
            <a:r>
              <a:rPr>
                <a:solidFill>
                  <a:srgbClr val="FFFFFF"/>
                </a:solidFill>
              </a:rPr>
              <a:t>        </a:t>
            </a:r>
            <a:r>
              <a:rPr>
                <a:solidFill>
                  <a:srgbClr val="66D9EF"/>
                </a:solidFill>
              </a:rPr>
              <a:t>else</a:t>
            </a:r>
            <a:r>
              <a:rPr>
                <a:solidFill>
                  <a:srgbClr val="F8F8F2"/>
                </a:solidFill>
              </a:rPr>
              <a:t>:</a:t>
            </a:r>
            <a:endParaRPr>
              <a:solidFill>
                <a:srgbClr val="FFFFFF"/>
              </a:solidFill>
            </a:endParaRPr>
          </a:p>
          <a:p>
            <a:pPr defTabSz="905255">
              <a:defRPr sz="1386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13 </a:t>
            </a:r>
            <a:r>
              <a:rPr>
                <a:solidFill>
                  <a:srgbClr val="FFFFFF"/>
                </a:solidFill>
              </a:rPr>
              <a:t>            lr </a:t>
            </a:r>
            <a:r>
              <a:rPr>
                <a:solidFill>
                  <a:srgbClr val="F8F8F2"/>
                </a:solidFill>
              </a:rPr>
              <a:t>=</a:t>
            </a:r>
            <a:r>
              <a:rPr>
                <a:solidFill>
                  <a:srgbClr val="FFFFFF"/>
                </a:solidFill>
              </a:rPr>
              <a:t> cosine_decay_lr</a:t>
            </a:r>
            <a:r>
              <a:rPr>
                <a:solidFill>
                  <a:srgbClr val="F8F8F2"/>
                </a:solidFill>
              </a:rPr>
              <a:t>(</a:t>
            </a:r>
            <a:r>
              <a:rPr>
                <a:solidFill>
                  <a:srgbClr val="FFFFFF"/>
                </a:solidFill>
              </a:rPr>
              <a:t>global_epoch </a:t>
            </a:r>
            <a:r>
              <a:rPr>
                <a:solidFill>
                  <a:srgbClr val="F8F8F2"/>
                </a:solidFill>
              </a:rPr>
              <a:t>-</a:t>
            </a:r>
            <a:r>
              <a:rPr>
                <a:solidFill>
                  <a:srgbClr val="FFFFFF"/>
                </a:solidFill>
              </a:rPr>
              <a:t> cfg</a:t>
            </a:r>
            <a:r>
              <a:rPr>
                <a:solidFill>
                  <a:srgbClr val="F8F8F2"/>
                </a:solidFill>
              </a:rPr>
              <a:t>.</a:t>
            </a:r>
            <a:r>
              <a:rPr>
                <a:solidFill>
                  <a:srgbClr val="FFFFFF"/>
                </a:solidFill>
              </a:rPr>
              <a:t>pretrain_ic_bc_epochs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cfg</a:t>
            </a:r>
            <a:r>
              <a:rPr>
                <a:solidFill>
                  <a:srgbClr val="F8F8F2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defTabSz="905255">
              <a:defRPr sz="1386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14 </a:t>
            </a:r>
            <a:r>
              <a:rPr>
                <a:solidFill>
                  <a:srgbClr val="FFFFFF"/>
                </a:solidFill>
              </a:rPr>
              <a:t>        params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opt_state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metrics </a:t>
            </a:r>
            <a:r>
              <a:rPr>
                <a:solidFill>
                  <a:srgbClr val="F8F8F2"/>
                </a:solidFill>
              </a:rPr>
              <a:t>=</a:t>
            </a:r>
            <a:r>
              <a:rPr>
                <a:solidFill>
                  <a:srgbClr val="FFFFFF"/>
                </a:solidFill>
              </a:rPr>
              <a:t> train_step</a:t>
            </a:r>
            <a:r>
              <a:rPr>
                <a:solidFill>
                  <a:srgbClr val="F8F8F2"/>
                </a:solidFill>
              </a:rPr>
              <a:t>(</a:t>
            </a:r>
            <a:r>
              <a:rPr>
                <a:solidFill>
                  <a:srgbClr val="FFFFFF"/>
                </a:solidFill>
              </a:rPr>
              <a:t>params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opt_state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batch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optimizer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cfg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lr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"full"</a:t>
            </a:r>
            <a:r>
              <a:rPr>
                <a:solidFill>
                  <a:srgbClr val="F8F8F2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defTabSz="905255">
              <a:defRPr sz="1386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15 </a:t>
            </a:r>
            <a:endParaRPr>
              <a:solidFill>
                <a:srgbClr val="FFFFFF"/>
              </a:solidFill>
            </a:endParaRPr>
          </a:p>
          <a:p>
            <a:pPr defTabSz="905255">
              <a:defRPr sz="1386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16 </a:t>
            </a:r>
            <a:r>
              <a:rPr>
                <a:solidFill>
                  <a:srgbClr val="FFFFFF"/>
                </a:solidFill>
              </a:rPr>
              <a:t>    metrics_by_time </a:t>
            </a:r>
            <a:r>
              <a:rPr>
                <a:solidFill>
                  <a:srgbClr val="F8F8F2"/>
                </a:solidFill>
              </a:rPr>
              <a:t>=</a:t>
            </a:r>
            <a:r>
              <a:rPr>
                <a:solidFill>
                  <a:srgbClr val="FFFFFF"/>
                </a:solidFill>
              </a:rPr>
              <a:t> </a:t>
            </a:r>
            <a:r>
              <a:rPr>
                <a:solidFill>
                  <a:srgbClr val="F8F8F2"/>
                </a:solidFill>
              </a:rPr>
              <a:t>[</a:t>
            </a:r>
            <a:r>
              <a:rPr>
                <a:solidFill>
                  <a:srgbClr val="FFFFFF"/>
                </a:solidFill>
              </a:rPr>
              <a:t>compute_error_metrics</a:t>
            </a:r>
            <a:r>
              <a:rPr>
                <a:solidFill>
                  <a:srgbClr val="F8F8F2"/>
                </a:solidFill>
              </a:rPr>
              <a:t>(</a:t>
            </a:r>
            <a:r>
              <a:rPr>
                <a:solidFill>
                  <a:srgbClr val="FFFFFF"/>
                </a:solidFill>
              </a:rPr>
              <a:t>params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cfg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t</a:t>
            </a:r>
            <a:r>
              <a:rPr>
                <a:solidFill>
                  <a:srgbClr val="F8F8F2"/>
                </a:solidFill>
              </a:rPr>
              <a:t>)</a:t>
            </a:r>
            <a:r>
              <a:rPr>
                <a:solidFill>
                  <a:srgbClr val="FFFFFF"/>
                </a:solidFill>
              </a:rPr>
              <a:t> </a:t>
            </a:r>
            <a:r>
              <a:rPr>
                <a:solidFill>
                  <a:srgbClr val="66D9EF"/>
                </a:solidFill>
              </a:rPr>
              <a:t>for</a:t>
            </a:r>
            <a:r>
              <a:rPr>
                <a:solidFill>
                  <a:srgbClr val="FFFFFF"/>
                </a:solidFill>
              </a:rPr>
              <a:t> t </a:t>
            </a:r>
            <a:r>
              <a:rPr>
                <a:solidFill>
                  <a:srgbClr val="66D9EF"/>
                </a:solidFill>
              </a:rPr>
              <a:t>in</a:t>
            </a:r>
            <a:r>
              <a:rPr>
                <a:solidFill>
                  <a:srgbClr val="FFFFFF"/>
                </a:solidFill>
              </a:rPr>
              <a:t> cfg</a:t>
            </a:r>
            <a:r>
              <a:rPr>
                <a:solidFill>
                  <a:srgbClr val="F8F8F2"/>
                </a:solidFill>
              </a:rPr>
              <a:t>.</a:t>
            </a:r>
            <a:r>
              <a:rPr>
                <a:solidFill>
                  <a:srgbClr val="FFFFFF"/>
                </a:solidFill>
              </a:rPr>
              <a:t>eval_times</a:t>
            </a:r>
            <a:r>
              <a:rPr>
                <a:solidFill>
                  <a:srgbClr val="F8F8F2"/>
                </a:solidFill>
              </a:rPr>
              <a:t>]</a:t>
            </a:r>
          </a:p>
        </p:txBody>
      </p:sp>
      <p:sp>
        <p:nvSpPr>
          <p:cNvPr id="293" name="Shape 5"/>
          <p:cNvSpPr/>
          <p:nvPr/>
        </p:nvSpPr>
        <p:spPr>
          <a:xfrm>
            <a:off x="594359" y="6473952"/>
            <a:ext cx="10972801" cy="1"/>
          </a:xfrm>
          <a:prstGeom prst="line">
            <a:avLst/>
          </a:prstGeom>
          <a:ln w="12700">
            <a:solidFill>
              <a:srgbClr val="D7DCE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94" name="Text 6"/>
          <p:cNvSpPr txBox="1"/>
          <p:nvPr/>
        </p:nvSpPr>
        <p:spPr>
          <a:xfrm>
            <a:off x="621791" y="6529323"/>
            <a:ext cx="10972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/>
            <a:r>
              <a:t>17.04.2026</a:t>
            </a:r>
          </a:p>
        </p:txBody>
      </p:sp>
      <p:sp>
        <p:nvSpPr>
          <p:cNvPr id="295" name="Text 7"/>
          <p:cNvSpPr txBox="1"/>
          <p:nvPr/>
        </p:nvSpPr>
        <p:spPr>
          <a:xfrm>
            <a:off x="11155680" y="6529323"/>
            <a:ext cx="3200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6B7280"/>
                </a:solidFill>
              </a:defRPr>
            </a:lvl1pPr>
          </a:lstStyle>
          <a:p>
            <a:pPr/>
            <a:r>
              <a:t>24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Text 0"/>
          <p:cNvSpPr txBox="1"/>
          <p:nvPr/>
        </p:nvSpPr>
        <p:spPr>
          <a:xfrm>
            <a:off x="658368" y="370168"/>
            <a:ext cx="10881360" cy="2837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000">
                <a:solidFill>
                  <a:srgbClr val="111111"/>
                </a:solidFill>
              </a:defRPr>
            </a:lvl1pPr>
          </a:lstStyle>
          <a:p>
            <a:pPr/>
            <a:r>
              <a:t>PINN: расписание скорости обучения</a:t>
            </a:r>
          </a:p>
        </p:txBody>
      </p:sp>
      <p:sp>
        <p:nvSpPr>
          <p:cNvPr id="298" name="Text 1"/>
          <p:cNvSpPr txBox="1"/>
          <p:nvPr/>
        </p:nvSpPr>
        <p:spPr>
          <a:xfrm>
            <a:off x="749807" y="914400"/>
            <a:ext cx="9439945" cy="1828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ct val="104999"/>
              </a:lnSpc>
              <a:defRPr sz="1600">
                <a:solidFill>
                  <a:srgbClr val="111111"/>
                </a:solidFill>
              </a:defRPr>
            </a:pPr>
            <a:r>
              <a:t>• Во время обучения используется убывающая скорость обучения: от 0.001 до 0.0001</a:t>
            </a:r>
          </a:p>
          <a:p>
            <a:pPr>
              <a:lnSpc>
                <a:spcPct val="104999"/>
              </a:lnSpc>
              <a:defRPr sz="1600">
                <a:solidFill>
                  <a:srgbClr val="111111"/>
                </a:solidFill>
              </a:defRPr>
            </a:pPr>
            <a:r>
              <a:t>• На ранних этапах шаг больше для быстрой подстройки параметров</a:t>
            </a:r>
          </a:p>
          <a:p>
            <a:pPr>
              <a:lnSpc>
                <a:spcPct val="104999"/>
              </a:lnSpc>
              <a:defRPr sz="1600">
                <a:solidFill>
                  <a:srgbClr val="111111"/>
                </a:solidFill>
              </a:defRPr>
            </a:pPr>
            <a:r>
              <a:t>• На поздних этапах шаг уменьшается для стабилизации оптимизации</a:t>
            </a:r>
          </a:p>
          <a:p>
            <a:pPr>
              <a:lnSpc>
                <a:spcPct val="104999"/>
              </a:lnSpc>
              <a:defRPr sz="1600">
                <a:solidFill>
                  <a:srgbClr val="111111"/>
                </a:solidFill>
              </a:defRPr>
            </a:pPr>
            <a:r>
              <a:t>• Scheduler влияет на устойчивость обучения PINN</a:t>
            </a:r>
          </a:p>
        </p:txBody>
      </p:sp>
      <p:sp>
        <p:nvSpPr>
          <p:cNvPr id="299" name="Shape 7"/>
          <p:cNvSpPr/>
          <p:nvPr/>
        </p:nvSpPr>
        <p:spPr>
          <a:xfrm>
            <a:off x="594359" y="6473952"/>
            <a:ext cx="10972801" cy="1"/>
          </a:xfrm>
          <a:prstGeom prst="line">
            <a:avLst/>
          </a:prstGeom>
          <a:ln w="12700">
            <a:solidFill>
              <a:srgbClr val="D7DCE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00" name="Text 8"/>
          <p:cNvSpPr txBox="1"/>
          <p:nvPr/>
        </p:nvSpPr>
        <p:spPr>
          <a:xfrm>
            <a:off x="621791" y="6529323"/>
            <a:ext cx="10972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/>
            <a:r>
              <a:t>17.04.2026</a:t>
            </a:r>
          </a:p>
        </p:txBody>
      </p:sp>
      <p:sp>
        <p:nvSpPr>
          <p:cNvPr id="301" name="Text 9"/>
          <p:cNvSpPr txBox="1"/>
          <p:nvPr/>
        </p:nvSpPr>
        <p:spPr>
          <a:xfrm>
            <a:off x="11155680" y="6529323"/>
            <a:ext cx="3200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6B7280"/>
                </a:solidFill>
              </a:defRPr>
            </a:lvl1pPr>
          </a:lstStyle>
          <a:p>
            <a:pPr/>
            <a:r>
              <a:t>25</a:t>
            </a:r>
          </a:p>
        </p:txBody>
      </p:sp>
      <p:pic>
        <p:nvPicPr>
          <p:cNvPr id="302" name="learning_rate.png" descr="learning_rat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849377" y="2620232"/>
            <a:ext cx="6480546" cy="324027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Text 0"/>
          <p:cNvSpPr txBox="1"/>
          <p:nvPr/>
        </p:nvSpPr>
        <p:spPr>
          <a:xfrm>
            <a:off x="658368" y="370168"/>
            <a:ext cx="10881360" cy="2837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000">
                <a:solidFill>
                  <a:srgbClr val="111111"/>
                </a:solidFill>
              </a:defRPr>
            </a:lvl1pPr>
          </a:lstStyle>
          <a:p>
            <a:pPr/>
            <a:r>
              <a:t>PINN: история функции потерь</a:t>
            </a:r>
          </a:p>
        </p:txBody>
      </p:sp>
      <p:sp>
        <p:nvSpPr>
          <p:cNvPr id="305" name="Text 1"/>
          <p:cNvSpPr txBox="1"/>
          <p:nvPr/>
        </p:nvSpPr>
        <p:spPr>
          <a:xfrm>
            <a:off x="749808" y="914400"/>
            <a:ext cx="9686882" cy="19659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ct val="104999"/>
              </a:lnSpc>
              <a:defRPr sz="1500">
                <a:solidFill>
                  <a:srgbClr val="111111"/>
                </a:solidFill>
              </a:defRPr>
            </a:pPr>
            <a:r>
              <a:t>• На графике показана динамика общей потери total и PDE-компоненты в логарифмической шкале</a:t>
            </a:r>
          </a:p>
          <a:p>
            <a:pPr>
              <a:lnSpc>
                <a:spcPct val="104999"/>
              </a:lnSpc>
              <a:defRPr sz="1500">
                <a:solidFill>
                  <a:srgbClr val="111111"/>
                </a:solidFill>
              </a:defRPr>
            </a:pPr>
            <a:r>
              <a:t>• loss уменьшается примерно с 10¹ до 10⁻³</a:t>
            </a:r>
          </a:p>
          <a:p>
            <a:pPr>
              <a:lnSpc>
                <a:spcPct val="104999"/>
              </a:lnSpc>
              <a:defRPr sz="1500">
                <a:solidFill>
                  <a:srgbClr val="111111"/>
                </a:solidFill>
              </a:defRPr>
            </a:pPr>
            <a:r>
              <a:t>• Кривые total и pde почти совпадают, что согласуется с hard constraints</a:t>
            </a:r>
          </a:p>
          <a:p>
            <a:pPr>
              <a:lnSpc>
                <a:spcPct val="104999"/>
              </a:lnSpc>
              <a:defRPr sz="1500">
                <a:solidFill>
                  <a:srgbClr val="111111"/>
                </a:solidFill>
              </a:defRPr>
            </a:pPr>
            <a:r>
              <a:t>• К концу обучения сеть выходит на устойчивый режим</a:t>
            </a:r>
          </a:p>
        </p:txBody>
      </p:sp>
      <p:sp>
        <p:nvSpPr>
          <p:cNvPr id="306" name="Shape 7"/>
          <p:cNvSpPr/>
          <p:nvPr/>
        </p:nvSpPr>
        <p:spPr>
          <a:xfrm>
            <a:off x="594359" y="6473952"/>
            <a:ext cx="10972801" cy="1"/>
          </a:xfrm>
          <a:prstGeom prst="line">
            <a:avLst/>
          </a:prstGeom>
          <a:ln w="12700">
            <a:solidFill>
              <a:srgbClr val="D7DCE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07" name="Text 8"/>
          <p:cNvSpPr txBox="1"/>
          <p:nvPr/>
        </p:nvSpPr>
        <p:spPr>
          <a:xfrm>
            <a:off x="621791" y="6529323"/>
            <a:ext cx="10972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/>
            <a:r>
              <a:t>17.04.2026</a:t>
            </a:r>
          </a:p>
        </p:txBody>
      </p:sp>
      <p:sp>
        <p:nvSpPr>
          <p:cNvPr id="308" name="Text 9"/>
          <p:cNvSpPr txBox="1"/>
          <p:nvPr/>
        </p:nvSpPr>
        <p:spPr>
          <a:xfrm>
            <a:off x="11155680" y="6529323"/>
            <a:ext cx="3200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6B7280"/>
                </a:solidFill>
              </a:defRPr>
            </a:lvl1pPr>
          </a:lstStyle>
          <a:p>
            <a:pPr/>
            <a:r>
              <a:t>26</a:t>
            </a:r>
          </a:p>
        </p:txBody>
      </p:sp>
      <p:pic>
        <p:nvPicPr>
          <p:cNvPr id="309" name="loss_curves.png" descr="loss_curves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074193" y="2447219"/>
            <a:ext cx="6013134" cy="375821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Text 0"/>
          <p:cNvSpPr txBox="1"/>
          <p:nvPr/>
        </p:nvSpPr>
        <p:spPr>
          <a:xfrm>
            <a:off x="658368" y="370168"/>
            <a:ext cx="10881360" cy="2837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000">
                <a:solidFill>
                  <a:srgbClr val="111111"/>
                </a:solidFill>
              </a:defRPr>
            </a:lvl1pPr>
          </a:lstStyle>
          <a:p>
            <a:pPr/>
            <a:r>
              <a:t>PINN: сравнение exact и prediction на t = 0</a:t>
            </a:r>
          </a:p>
        </p:txBody>
      </p:sp>
      <p:sp>
        <p:nvSpPr>
          <p:cNvPr id="312" name="Text 1"/>
          <p:cNvSpPr txBox="1"/>
          <p:nvPr/>
        </p:nvSpPr>
        <p:spPr>
          <a:xfrm>
            <a:off x="749807" y="914400"/>
            <a:ext cx="10149842" cy="1143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ct val="104999"/>
              </a:lnSpc>
              <a:defRPr sz="1600">
                <a:solidFill>
                  <a:srgbClr val="111111"/>
                </a:solidFill>
              </a:defRPr>
            </a:pPr>
            <a:r>
              <a:t>• Показаны точное решение, решение PINN и карта абсолютной ошибки для начального момента времени</a:t>
            </a:r>
          </a:p>
          <a:p>
            <a:pPr>
              <a:lnSpc>
                <a:spcPct val="104999"/>
              </a:lnSpc>
              <a:defRPr sz="1600">
                <a:solidFill>
                  <a:srgbClr val="111111"/>
                </a:solidFill>
              </a:defRPr>
            </a:pPr>
            <a:r>
              <a:t>• PINN практически точно воспроизводит начальное условие</a:t>
            </a:r>
          </a:p>
          <a:p>
            <a:pPr>
              <a:lnSpc>
                <a:spcPct val="104999"/>
              </a:lnSpc>
              <a:defRPr sz="1600">
                <a:solidFill>
                  <a:srgbClr val="111111"/>
                </a:solidFill>
              </a:defRPr>
            </a:pPr>
            <a:r>
              <a:t>• Это прямое подтверждение корректной работы output transform и hard constraints</a:t>
            </a:r>
          </a:p>
        </p:txBody>
      </p:sp>
      <p:sp>
        <p:nvSpPr>
          <p:cNvPr id="313" name="Shape 7"/>
          <p:cNvSpPr/>
          <p:nvPr/>
        </p:nvSpPr>
        <p:spPr>
          <a:xfrm>
            <a:off x="594359" y="6473952"/>
            <a:ext cx="10972801" cy="1"/>
          </a:xfrm>
          <a:prstGeom prst="line">
            <a:avLst/>
          </a:prstGeom>
          <a:ln w="12700">
            <a:solidFill>
              <a:srgbClr val="D7DCE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14" name="Text 8"/>
          <p:cNvSpPr txBox="1"/>
          <p:nvPr/>
        </p:nvSpPr>
        <p:spPr>
          <a:xfrm>
            <a:off x="621791" y="6529323"/>
            <a:ext cx="10972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/>
            <a:r>
              <a:t>17.04.2026</a:t>
            </a:r>
          </a:p>
        </p:txBody>
      </p:sp>
      <p:sp>
        <p:nvSpPr>
          <p:cNvPr id="315" name="Text 9"/>
          <p:cNvSpPr txBox="1"/>
          <p:nvPr/>
        </p:nvSpPr>
        <p:spPr>
          <a:xfrm>
            <a:off x="11155680" y="6529323"/>
            <a:ext cx="3200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6B7280"/>
                </a:solidFill>
              </a:defRPr>
            </a:lvl1pPr>
          </a:lstStyle>
          <a:p>
            <a:pPr/>
            <a:r>
              <a:t>27</a:t>
            </a:r>
          </a:p>
        </p:txBody>
      </p:sp>
      <p:pic>
        <p:nvPicPr>
          <p:cNvPr id="316" name="slice_comparison_t_0_0.png" descr="slice_comparison_t_0_0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31919" y="2910191"/>
            <a:ext cx="10515462" cy="300441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Text 0"/>
          <p:cNvSpPr txBox="1"/>
          <p:nvPr/>
        </p:nvSpPr>
        <p:spPr>
          <a:xfrm>
            <a:off x="658368" y="370168"/>
            <a:ext cx="10881360" cy="2837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000">
                <a:solidFill>
                  <a:srgbClr val="111111"/>
                </a:solidFill>
              </a:defRPr>
            </a:lvl1pPr>
          </a:lstStyle>
          <a:p>
            <a:pPr/>
            <a:r>
              <a:t>PINN: сравнение exact и prediction на t = 0.1</a:t>
            </a:r>
          </a:p>
        </p:txBody>
      </p:sp>
      <p:sp>
        <p:nvSpPr>
          <p:cNvPr id="319" name="Text 1"/>
          <p:cNvSpPr txBox="1"/>
          <p:nvPr/>
        </p:nvSpPr>
        <p:spPr>
          <a:xfrm>
            <a:off x="749807" y="914400"/>
            <a:ext cx="10149842" cy="1143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ct val="104999"/>
              </a:lnSpc>
              <a:defRPr sz="1500">
                <a:solidFill>
                  <a:srgbClr val="111111"/>
                </a:solidFill>
              </a:defRPr>
            </a:pPr>
            <a:r>
              <a:t>• Показаны точное решение, решение PINN и карта абсолютной ошибки для финального момента рассматриваемого интервала</a:t>
            </a:r>
          </a:p>
          <a:p>
            <a:pPr>
              <a:lnSpc>
                <a:spcPct val="104999"/>
              </a:lnSpc>
              <a:defRPr sz="1500">
                <a:solidFill>
                  <a:srgbClr val="111111"/>
                </a:solidFill>
              </a:defRPr>
            </a:pPr>
            <a:r>
              <a:t>• PINN сохраняет корректную форму решения, но ошибка возрастает по сравнению с более ранними слоями</a:t>
            </a:r>
          </a:p>
          <a:p>
            <a:pPr>
              <a:lnSpc>
                <a:spcPct val="104999"/>
              </a:lnSpc>
              <a:defRPr sz="1500">
                <a:solidFill>
                  <a:srgbClr val="111111"/>
                </a:solidFill>
              </a:defRPr>
            </a:pPr>
            <a:r>
              <a:t>• Качество остаётся приемлемым, но заметно уступает FDM на этой задаче</a:t>
            </a:r>
          </a:p>
        </p:txBody>
      </p:sp>
      <p:sp>
        <p:nvSpPr>
          <p:cNvPr id="320" name="Shape 2"/>
          <p:cNvSpPr/>
          <p:nvPr/>
        </p:nvSpPr>
        <p:spPr>
          <a:xfrm>
            <a:off x="960119" y="2057400"/>
            <a:ext cx="10195561" cy="685800"/>
          </a:xfrm>
          <a:prstGeom prst="roundRect">
            <a:avLst>
              <a:gd name="adj" fmla="val 16667"/>
            </a:avLst>
          </a:prstGeom>
          <a:solidFill>
            <a:srgbClr val="EAF5F1"/>
          </a:solidFill>
          <a:ln w="12700">
            <a:solidFill>
              <a:srgbClr val="CFE5D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21" name="Text 3"/>
          <p:cNvSpPr txBox="1"/>
          <p:nvPr/>
        </p:nvSpPr>
        <p:spPr>
          <a:xfrm>
            <a:off x="204557" y="2291969"/>
            <a:ext cx="11706685" cy="4389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algn="ctr">
              <a:lnSpc>
                <a:spcPct val="104999"/>
              </a:lnSpc>
              <a:defRPr b="1" sz="1600">
                <a:solidFill>
                  <a:srgbClr val="111111"/>
                </a:solidFill>
              </a:defRPr>
            </a:lvl1pPr>
          </a:lstStyle>
          <a:p>
            <a:pPr/>
            <a:r>
              <a:t>L₂ = 2.4063 × 10⁻⁴    |    L∞ = 6.8054 × 10⁻⁴    |    rel L₂ = 1.4144 × 10⁻²</a:t>
            </a:r>
          </a:p>
        </p:txBody>
      </p:sp>
      <p:sp>
        <p:nvSpPr>
          <p:cNvPr id="322" name="Shape 9"/>
          <p:cNvSpPr/>
          <p:nvPr/>
        </p:nvSpPr>
        <p:spPr>
          <a:xfrm>
            <a:off x="594359" y="6473952"/>
            <a:ext cx="10972801" cy="1"/>
          </a:xfrm>
          <a:prstGeom prst="line">
            <a:avLst/>
          </a:prstGeom>
          <a:ln w="12700">
            <a:solidFill>
              <a:srgbClr val="D7DCE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23" name="Text 10"/>
          <p:cNvSpPr txBox="1"/>
          <p:nvPr/>
        </p:nvSpPr>
        <p:spPr>
          <a:xfrm>
            <a:off x="621791" y="6529323"/>
            <a:ext cx="10972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/>
            <a:r>
              <a:t>17.04.2026</a:t>
            </a:r>
          </a:p>
        </p:txBody>
      </p:sp>
      <p:sp>
        <p:nvSpPr>
          <p:cNvPr id="324" name="Text 11"/>
          <p:cNvSpPr txBox="1"/>
          <p:nvPr/>
        </p:nvSpPr>
        <p:spPr>
          <a:xfrm>
            <a:off x="11155680" y="6529323"/>
            <a:ext cx="3200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6B7280"/>
                </a:solidFill>
              </a:defRPr>
            </a:lvl1pPr>
          </a:lstStyle>
          <a:p>
            <a:pPr/>
            <a:r>
              <a:t>28</a:t>
            </a:r>
          </a:p>
        </p:txBody>
      </p:sp>
      <p:pic>
        <p:nvPicPr>
          <p:cNvPr id="325" name="slice_comparison_t_0_1.png" descr="slice_comparison_t_0_1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15827" y="2965450"/>
            <a:ext cx="10484146" cy="299547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Text 0"/>
          <p:cNvSpPr txBox="1"/>
          <p:nvPr/>
        </p:nvSpPr>
        <p:spPr>
          <a:xfrm>
            <a:off x="658368" y="370168"/>
            <a:ext cx="10881360" cy="2837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000">
                <a:solidFill>
                  <a:srgbClr val="111111"/>
                </a:solidFill>
              </a:defRPr>
            </a:lvl1pPr>
          </a:lstStyle>
          <a:p>
            <a:pPr/>
            <a:r>
              <a:t>PINN: эволюция ошибки по времени</a:t>
            </a:r>
          </a:p>
        </p:txBody>
      </p:sp>
      <p:sp>
        <p:nvSpPr>
          <p:cNvPr id="328" name="Text 1"/>
          <p:cNvSpPr txBox="1"/>
          <p:nvPr/>
        </p:nvSpPr>
        <p:spPr>
          <a:xfrm>
            <a:off x="749808" y="914400"/>
            <a:ext cx="9144001" cy="274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04999"/>
              </a:lnSpc>
              <a:defRPr sz="1600">
                <a:solidFill>
                  <a:srgbClr val="111111"/>
                </a:solidFill>
              </a:defRPr>
            </a:lvl1pPr>
          </a:lstStyle>
          <a:p>
            <a:pPr/>
            <a:r>
              <a:t>На графике показана динамика относительной ошибки L₂ и абсолютной ошибки L∞.</a:t>
            </a:r>
          </a:p>
        </p:txBody>
      </p:sp>
      <p:sp>
        <p:nvSpPr>
          <p:cNvPr id="329" name="Text 2"/>
          <p:cNvSpPr txBox="1"/>
          <p:nvPr/>
        </p:nvSpPr>
        <p:spPr>
          <a:xfrm>
            <a:off x="749808" y="1417319"/>
            <a:ext cx="10068927" cy="21031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ct val="104999"/>
              </a:lnSpc>
              <a:defRPr sz="1500">
                <a:solidFill>
                  <a:srgbClr val="111111"/>
                </a:solidFill>
              </a:defRPr>
            </a:pPr>
            <a:r>
              <a:t>• t = 0.02: rel L₂ = 7.82 × 10⁻⁴, L∞ = 5.39 × 10⁻⁴</a:t>
            </a:r>
          </a:p>
          <a:p>
            <a:pPr>
              <a:lnSpc>
                <a:spcPct val="104999"/>
              </a:lnSpc>
              <a:defRPr sz="1500">
                <a:solidFill>
                  <a:srgbClr val="111111"/>
                </a:solidFill>
              </a:defRPr>
            </a:pPr>
            <a:r>
              <a:t>• t = 0.05: rel L₂ = 1.69 × 10⁻³, L∞ = 3.95 × 10⁻⁴</a:t>
            </a:r>
          </a:p>
          <a:p>
            <a:pPr>
              <a:lnSpc>
                <a:spcPct val="104999"/>
              </a:lnSpc>
              <a:defRPr sz="1500">
                <a:solidFill>
                  <a:srgbClr val="111111"/>
                </a:solidFill>
              </a:defRPr>
            </a:pPr>
            <a:r>
              <a:t>• t = 0.10: rel L₂ = 1.41 × 10⁻², L∞ = 6.81 × 10⁻⁴</a:t>
            </a:r>
          </a:p>
          <a:p>
            <a:pPr>
              <a:lnSpc>
                <a:spcPct val="104999"/>
              </a:lnSpc>
              <a:defRPr sz="1500">
                <a:solidFill>
                  <a:srgbClr val="111111"/>
                </a:solidFill>
              </a:defRPr>
            </a:pPr>
            <a:r>
              <a:t>• Ошибка в целом ухудшается к концу интервала, хотя начальный слой воспроизводится почти точно</a:t>
            </a:r>
          </a:p>
        </p:txBody>
      </p:sp>
      <p:sp>
        <p:nvSpPr>
          <p:cNvPr id="330" name="Shape 8"/>
          <p:cNvSpPr/>
          <p:nvPr/>
        </p:nvSpPr>
        <p:spPr>
          <a:xfrm>
            <a:off x="594359" y="6473952"/>
            <a:ext cx="10972801" cy="1"/>
          </a:xfrm>
          <a:prstGeom prst="line">
            <a:avLst/>
          </a:prstGeom>
          <a:ln w="12700">
            <a:solidFill>
              <a:srgbClr val="D7DCE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31" name="Text 9"/>
          <p:cNvSpPr txBox="1"/>
          <p:nvPr/>
        </p:nvSpPr>
        <p:spPr>
          <a:xfrm>
            <a:off x="621791" y="6529323"/>
            <a:ext cx="10972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/>
            <a:r>
              <a:t>17.04.2026</a:t>
            </a:r>
          </a:p>
        </p:txBody>
      </p:sp>
      <p:sp>
        <p:nvSpPr>
          <p:cNvPr id="332" name="Text 10"/>
          <p:cNvSpPr txBox="1"/>
          <p:nvPr/>
        </p:nvSpPr>
        <p:spPr>
          <a:xfrm>
            <a:off x="11155680" y="6529323"/>
            <a:ext cx="3200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6B7280"/>
                </a:solidFill>
              </a:defRPr>
            </a:lvl1pPr>
          </a:lstStyle>
          <a:p>
            <a:pPr/>
            <a:r>
              <a:t>29</a:t>
            </a:r>
          </a:p>
        </p:txBody>
      </p:sp>
      <p:pic>
        <p:nvPicPr>
          <p:cNvPr id="333" name="error_vs_time.png" descr="error_vs_tim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063118" y="2869814"/>
            <a:ext cx="8035284" cy="330572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ext 0"/>
          <p:cNvSpPr txBox="1"/>
          <p:nvPr/>
        </p:nvSpPr>
        <p:spPr>
          <a:xfrm>
            <a:off x="658368" y="370168"/>
            <a:ext cx="10881360" cy="2837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000">
                <a:solidFill>
                  <a:srgbClr val="111111"/>
                </a:solidFill>
              </a:defRPr>
            </a:lvl1pPr>
          </a:lstStyle>
          <a:p>
            <a:pPr/>
            <a:r>
              <a:t>Итоговое сравнение FDM и PINN</a:t>
            </a:r>
          </a:p>
        </p:txBody>
      </p:sp>
      <p:graphicFrame>
        <p:nvGraphicFramePr>
          <p:cNvPr id="336" name="Table 0"/>
          <p:cNvGraphicFramePr/>
          <p:nvPr/>
        </p:nvGraphicFramePr>
        <p:xfrm>
          <a:off x="868680" y="1051560"/>
          <a:ext cx="9418320" cy="1371601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1645920"/>
                <a:gridCol w="1554480"/>
                <a:gridCol w="2011679"/>
                <a:gridCol w="2011679"/>
                <a:gridCol w="219456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500"/>
                        <a:t>Метод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D7DCE2"/>
                      </a:solidFill>
                    </a:lnL>
                    <a:lnR w="12700">
                      <a:solidFill>
                        <a:srgbClr val="D7DCE2"/>
                      </a:solidFill>
                    </a:lnR>
                    <a:lnT w="12700">
                      <a:solidFill>
                        <a:srgbClr val="D7DCE2"/>
                      </a:solidFill>
                    </a:lnT>
                    <a:lnB w="12700">
                      <a:solidFill>
                        <a:srgbClr val="D7DC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500"/>
                        <a:t>Сетка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D7DCE2"/>
                      </a:solidFill>
                    </a:lnL>
                    <a:lnR w="12700">
                      <a:solidFill>
                        <a:srgbClr val="D7DCE2"/>
                      </a:solidFill>
                    </a:lnR>
                    <a:lnT w="12700">
                      <a:solidFill>
                        <a:srgbClr val="D7DCE2"/>
                      </a:solidFill>
                    </a:lnT>
                    <a:lnB w="12700">
                      <a:solidFill>
                        <a:srgbClr val="D7DC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500"/>
                        <a:t>rel L₂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D7DCE2"/>
                      </a:solidFill>
                    </a:lnL>
                    <a:lnR w="12700">
                      <a:solidFill>
                        <a:srgbClr val="D7DCE2"/>
                      </a:solidFill>
                    </a:lnR>
                    <a:lnT w="12700">
                      <a:solidFill>
                        <a:srgbClr val="D7DCE2"/>
                      </a:solidFill>
                    </a:lnT>
                    <a:lnB w="12700">
                      <a:solidFill>
                        <a:srgbClr val="D7DC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500"/>
                        <a:t>L∞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D7DCE2"/>
                      </a:solidFill>
                    </a:lnL>
                    <a:lnR w="12700">
                      <a:solidFill>
                        <a:srgbClr val="D7DCE2"/>
                      </a:solidFill>
                    </a:lnR>
                    <a:lnT w="12700">
                      <a:solidFill>
                        <a:srgbClr val="D7DCE2"/>
                      </a:solidFill>
                    </a:lnT>
                    <a:lnB w="12700">
                      <a:solidFill>
                        <a:srgbClr val="D7DC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500"/>
                        <a:t>Стоимость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D7DCE2"/>
                      </a:solidFill>
                    </a:lnL>
                    <a:lnR w="12700">
                      <a:solidFill>
                        <a:srgbClr val="D7DCE2"/>
                      </a:solidFill>
                    </a:lnR>
                    <a:lnT w="12700">
                      <a:solidFill>
                        <a:srgbClr val="D7DCE2"/>
                      </a:solidFill>
                    </a:lnT>
                    <a:lnB w="12700">
                      <a:solidFill>
                        <a:srgbClr val="D7DCE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500"/>
                        <a:t>FDM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D7DCE2"/>
                      </a:solidFill>
                    </a:lnL>
                    <a:lnR w="12700">
                      <a:solidFill>
                        <a:srgbClr val="D7DCE2"/>
                      </a:solidFill>
                    </a:lnR>
                    <a:lnT w="12700">
                      <a:solidFill>
                        <a:srgbClr val="D7DCE2"/>
                      </a:solidFill>
                    </a:lnT>
                    <a:lnB w="12700">
                      <a:solidFill>
                        <a:srgbClr val="D7DC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500"/>
                        <a:t>41³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D7DCE2"/>
                      </a:solidFill>
                    </a:lnL>
                    <a:lnR w="12700">
                      <a:solidFill>
                        <a:srgbClr val="D7DCE2"/>
                      </a:solidFill>
                    </a:lnR>
                    <a:lnT w="12700">
                      <a:solidFill>
                        <a:srgbClr val="D7DCE2"/>
                      </a:solidFill>
                    </a:lnT>
                    <a:lnB w="12700">
                      <a:solidFill>
                        <a:srgbClr val="D7DC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500"/>
                        <a:t>3.63e-04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D7DCE2"/>
                      </a:solidFill>
                    </a:lnL>
                    <a:lnR w="12700">
                      <a:solidFill>
                        <a:srgbClr val="D7DCE2"/>
                      </a:solidFill>
                    </a:lnR>
                    <a:lnT w="12700">
                      <a:solidFill>
                        <a:srgbClr val="D7DCE2"/>
                      </a:solidFill>
                    </a:lnT>
                    <a:lnB w="12700">
                      <a:solidFill>
                        <a:srgbClr val="D7DC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500"/>
                        <a:t>5.52e-05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D7DCE2"/>
                      </a:solidFill>
                    </a:lnL>
                    <a:lnR w="12700">
                      <a:solidFill>
                        <a:srgbClr val="D7DCE2"/>
                      </a:solidFill>
                    </a:lnR>
                    <a:lnT w="12700">
                      <a:solidFill>
                        <a:srgbClr val="D7DCE2"/>
                      </a:solidFill>
                    </a:lnT>
                    <a:lnB w="12700">
                      <a:solidFill>
                        <a:srgbClr val="D7DC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500"/>
                        <a:t>2.77 s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D7DCE2"/>
                      </a:solidFill>
                    </a:lnL>
                    <a:lnR w="12700">
                      <a:solidFill>
                        <a:srgbClr val="D7DCE2"/>
                      </a:solidFill>
                    </a:lnR>
                    <a:lnT w="12700">
                      <a:solidFill>
                        <a:srgbClr val="D7DCE2"/>
                      </a:solidFill>
                    </a:lnT>
                    <a:lnB w="12700">
                      <a:solidFill>
                        <a:srgbClr val="D7DCE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500"/>
                        <a:t>PINN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D7DCE2"/>
                      </a:solidFill>
                    </a:lnL>
                    <a:lnR w="12700">
                      <a:solidFill>
                        <a:srgbClr val="D7DCE2"/>
                      </a:solidFill>
                    </a:lnR>
                    <a:lnT w="12700">
                      <a:solidFill>
                        <a:srgbClr val="D7DCE2"/>
                      </a:solidFill>
                    </a:lnT>
                    <a:lnB w="12700">
                      <a:solidFill>
                        <a:srgbClr val="D7DC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500"/>
                        <a:t>21³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D7DCE2"/>
                      </a:solidFill>
                    </a:lnL>
                    <a:lnR w="12700">
                      <a:solidFill>
                        <a:srgbClr val="D7DCE2"/>
                      </a:solidFill>
                    </a:lnR>
                    <a:lnT w="12700">
                      <a:solidFill>
                        <a:srgbClr val="D7DCE2"/>
                      </a:solidFill>
                    </a:lnT>
                    <a:lnB w="12700">
                      <a:solidFill>
                        <a:srgbClr val="D7DC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500"/>
                        <a:t>1.41e-02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D7DCE2"/>
                      </a:solidFill>
                    </a:lnL>
                    <a:lnR w="12700">
                      <a:solidFill>
                        <a:srgbClr val="D7DCE2"/>
                      </a:solidFill>
                    </a:lnR>
                    <a:lnT w="12700">
                      <a:solidFill>
                        <a:srgbClr val="D7DCE2"/>
                      </a:solidFill>
                    </a:lnT>
                    <a:lnB w="12700">
                      <a:solidFill>
                        <a:srgbClr val="D7DC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500"/>
                        <a:t>6.81e-04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D7DCE2"/>
                      </a:solidFill>
                    </a:lnL>
                    <a:lnR w="12700">
                      <a:solidFill>
                        <a:srgbClr val="D7DCE2"/>
                      </a:solidFill>
                    </a:lnR>
                    <a:lnT w="12700">
                      <a:solidFill>
                        <a:srgbClr val="D7DCE2"/>
                      </a:solidFill>
                    </a:lnT>
                    <a:lnB w="12700">
                      <a:solidFill>
                        <a:srgbClr val="D7DC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500"/>
                        <a:t>8000 эпох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D7DCE2"/>
                      </a:solidFill>
                    </a:lnL>
                    <a:lnR w="12700">
                      <a:solidFill>
                        <a:srgbClr val="D7DCE2"/>
                      </a:solidFill>
                    </a:lnR>
                    <a:lnT w="12700">
                      <a:solidFill>
                        <a:srgbClr val="D7DCE2"/>
                      </a:solidFill>
                    </a:lnT>
                    <a:lnB w="12700">
                      <a:solidFill>
                        <a:srgbClr val="D7DCE2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7" name="Shape 1"/>
          <p:cNvSpPr/>
          <p:nvPr/>
        </p:nvSpPr>
        <p:spPr>
          <a:xfrm>
            <a:off x="868680" y="2971800"/>
            <a:ext cx="4983480" cy="2468880"/>
          </a:xfrm>
          <a:prstGeom prst="roundRect">
            <a:avLst>
              <a:gd name="adj" fmla="val 16667"/>
            </a:avLst>
          </a:prstGeom>
          <a:solidFill>
            <a:srgbClr val="EAF5F1"/>
          </a:solidFill>
          <a:ln w="12700">
            <a:solidFill>
              <a:srgbClr val="CFE5D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38" name="Text 2"/>
          <p:cNvSpPr txBox="1"/>
          <p:nvPr/>
        </p:nvSpPr>
        <p:spPr>
          <a:xfrm>
            <a:off x="1078991" y="3218688"/>
            <a:ext cx="2194562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04999"/>
              </a:lnSpc>
              <a:defRPr b="1" sz="1600">
                <a:solidFill>
                  <a:srgbClr val="2C8C69"/>
                </a:solidFill>
              </a:defRPr>
            </a:lvl1pPr>
          </a:lstStyle>
          <a:p>
            <a:pPr/>
            <a:r>
              <a:t>Основные выводы</a:t>
            </a:r>
          </a:p>
        </p:txBody>
      </p:sp>
      <p:sp>
        <p:nvSpPr>
          <p:cNvPr id="339" name="Text 3"/>
          <p:cNvSpPr txBox="1"/>
          <p:nvPr/>
        </p:nvSpPr>
        <p:spPr>
          <a:xfrm>
            <a:off x="1078991" y="3493008"/>
            <a:ext cx="4434842" cy="160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ct val="104999"/>
              </a:lnSpc>
              <a:defRPr sz="1500">
                <a:solidFill>
                  <a:srgbClr val="111111"/>
                </a:solidFill>
              </a:defRPr>
            </a:pPr>
            <a:r>
              <a:t>• FDM на данной аналитической задаче существенно точнее PINN</a:t>
            </a:r>
          </a:p>
          <a:p>
            <a:pPr>
              <a:lnSpc>
                <a:spcPct val="104999"/>
              </a:lnSpc>
              <a:defRPr sz="1500">
                <a:solidFill>
                  <a:srgbClr val="111111"/>
                </a:solidFill>
              </a:defRPr>
            </a:pPr>
            <a:r>
              <a:t>• FDM демонстрирует подтверждённый второй порядок сходимости</a:t>
            </a:r>
          </a:p>
          <a:p>
            <a:pPr>
              <a:lnSpc>
                <a:spcPct val="104999"/>
              </a:lnSpc>
              <a:defRPr sz="1500">
                <a:solidFill>
                  <a:srgbClr val="111111"/>
                </a:solidFill>
              </a:defRPr>
            </a:pPr>
            <a:r>
              <a:t>• FDM решает задачу быстро и предсказуемо</a:t>
            </a:r>
          </a:p>
          <a:p>
            <a:pPr>
              <a:lnSpc>
                <a:spcPct val="104999"/>
              </a:lnSpc>
              <a:defRPr sz="1500">
                <a:solidFill>
                  <a:srgbClr val="111111"/>
                </a:solidFill>
              </a:defRPr>
            </a:pPr>
            <a:r>
              <a:t>• PINN даёт корректное решение, но требует длительного обучения</a:t>
            </a:r>
          </a:p>
        </p:txBody>
      </p:sp>
      <p:sp>
        <p:nvSpPr>
          <p:cNvPr id="340" name="Shape 4"/>
          <p:cNvSpPr/>
          <p:nvPr/>
        </p:nvSpPr>
        <p:spPr>
          <a:xfrm>
            <a:off x="6144767" y="2971800"/>
            <a:ext cx="5102354" cy="2468880"/>
          </a:xfrm>
          <a:prstGeom prst="roundRect">
            <a:avLst>
              <a:gd name="adj" fmla="val 16667"/>
            </a:avLst>
          </a:prstGeom>
          <a:solidFill>
            <a:srgbClr val="FFF7ED"/>
          </a:solidFill>
          <a:ln w="12700">
            <a:solidFill>
              <a:srgbClr val="FED7A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41" name="Text 5"/>
          <p:cNvSpPr txBox="1"/>
          <p:nvPr/>
        </p:nvSpPr>
        <p:spPr>
          <a:xfrm>
            <a:off x="6355079" y="3218688"/>
            <a:ext cx="2468882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04999"/>
              </a:lnSpc>
              <a:defRPr b="1" sz="1600">
                <a:solidFill>
                  <a:srgbClr val="C2410C"/>
                </a:solidFill>
              </a:defRPr>
            </a:lvl1pPr>
          </a:lstStyle>
          <a:p>
            <a:pPr/>
            <a:r>
              <a:t>Ограничения сравнения</a:t>
            </a:r>
          </a:p>
        </p:txBody>
      </p:sp>
      <p:sp>
        <p:nvSpPr>
          <p:cNvPr id="342" name="Text 6"/>
          <p:cNvSpPr txBox="1"/>
          <p:nvPr/>
        </p:nvSpPr>
        <p:spPr>
          <a:xfrm>
            <a:off x="6355079" y="3493008"/>
            <a:ext cx="4553713" cy="1325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ct val="104999"/>
              </a:lnSpc>
              <a:defRPr sz="1500">
                <a:solidFill>
                  <a:srgbClr val="111111"/>
                </a:solidFill>
              </a:defRPr>
            </a:pPr>
            <a:r>
              <a:t>• FDM и PINN оцениваются на разных сетках: 41³ против 21³</a:t>
            </a:r>
          </a:p>
          <a:p>
            <a:pPr>
              <a:lnSpc>
                <a:spcPct val="104999"/>
              </a:lnSpc>
              <a:defRPr sz="1500">
                <a:solidFill>
                  <a:srgbClr val="111111"/>
                </a:solidFill>
              </a:defRPr>
            </a:pPr>
            <a:r>
              <a:t>• PINN требует длительного обучения</a:t>
            </a:r>
          </a:p>
          <a:p>
            <a:pPr>
              <a:lnSpc>
                <a:spcPct val="104999"/>
              </a:lnSpc>
              <a:defRPr sz="1500">
                <a:solidFill>
                  <a:srgbClr val="111111"/>
                </a:solidFill>
              </a:defRPr>
            </a:pPr>
            <a:r>
              <a:t>• Для PINN существуют ограничения по памяти при переходе к более плотным 3D сеткам</a:t>
            </a:r>
          </a:p>
        </p:txBody>
      </p:sp>
      <p:sp>
        <p:nvSpPr>
          <p:cNvPr id="343" name="Shape 7"/>
          <p:cNvSpPr/>
          <p:nvPr/>
        </p:nvSpPr>
        <p:spPr>
          <a:xfrm>
            <a:off x="1143000" y="5623559"/>
            <a:ext cx="9921241" cy="502921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2700">
            <a:solidFill>
              <a:srgbClr val="D7DCE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44" name="Text 8"/>
          <p:cNvSpPr txBox="1"/>
          <p:nvPr/>
        </p:nvSpPr>
        <p:spPr>
          <a:xfrm>
            <a:off x="1222708" y="5699505"/>
            <a:ext cx="9716104" cy="5156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 algn="ctr" defTabSz="813816">
              <a:lnSpc>
                <a:spcPct val="104999"/>
              </a:lnSpc>
              <a:defRPr sz="1246">
                <a:solidFill>
                  <a:srgbClr val="111111"/>
                </a:solidFill>
              </a:defRPr>
            </a:pPr>
            <a:r>
              <a:t>Финальный вывод: для этой гладкой прямой задачи на регулярной области FDM является более точным</a:t>
            </a:r>
          </a:p>
          <a:p>
            <a:pPr algn="ctr" defTabSz="813816">
              <a:lnSpc>
                <a:spcPct val="104999"/>
              </a:lnSpc>
              <a:defRPr sz="1246">
                <a:solidFill>
                  <a:srgbClr val="111111"/>
                </a:solidFill>
              </a:defRPr>
            </a:pPr>
            <a:r>
              <a:t>и практичным методом; PINN интересен как более гибкий подход, но в данном benchmark уступает по точности и эффективности.</a:t>
            </a:r>
          </a:p>
        </p:txBody>
      </p:sp>
      <p:sp>
        <p:nvSpPr>
          <p:cNvPr id="345" name="Shape 9"/>
          <p:cNvSpPr/>
          <p:nvPr/>
        </p:nvSpPr>
        <p:spPr>
          <a:xfrm>
            <a:off x="594359" y="6473952"/>
            <a:ext cx="10972801" cy="1"/>
          </a:xfrm>
          <a:prstGeom prst="line">
            <a:avLst/>
          </a:prstGeom>
          <a:ln w="12700">
            <a:solidFill>
              <a:srgbClr val="D7DCE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46" name="Text 10"/>
          <p:cNvSpPr txBox="1"/>
          <p:nvPr/>
        </p:nvSpPr>
        <p:spPr>
          <a:xfrm>
            <a:off x="621791" y="6529323"/>
            <a:ext cx="10972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/>
            <a:r>
              <a:t>17.04.2026</a:t>
            </a:r>
          </a:p>
        </p:txBody>
      </p:sp>
      <p:sp>
        <p:nvSpPr>
          <p:cNvPr id="347" name="Text 11"/>
          <p:cNvSpPr txBox="1"/>
          <p:nvPr/>
        </p:nvSpPr>
        <p:spPr>
          <a:xfrm>
            <a:off x="11155680" y="6529323"/>
            <a:ext cx="3200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6B7280"/>
                </a:solidFill>
              </a:defRPr>
            </a:lvl1pPr>
          </a:lstStyle>
          <a:p>
            <a:pPr/>
            <a:r>
              <a:t>30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Text 0"/>
          <p:cNvSpPr txBox="1"/>
          <p:nvPr/>
        </p:nvSpPr>
        <p:spPr>
          <a:xfrm>
            <a:off x="658368" y="370168"/>
            <a:ext cx="10881360" cy="2837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000">
                <a:solidFill>
                  <a:srgbClr val="111111"/>
                </a:solidFill>
              </a:defRPr>
            </a:lvl1pPr>
          </a:lstStyle>
          <a:p>
            <a:pPr/>
            <a:r>
              <a:t>Список литературы</a:t>
            </a:r>
          </a:p>
        </p:txBody>
      </p:sp>
      <p:sp>
        <p:nvSpPr>
          <p:cNvPr id="350" name="Shape 9"/>
          <p:cNvSpPr/>
          <p:nvPr/>
        </p:nvSpPr>
        <p:spPr>
          <a:xfrm>
            <a:off x="594359" y="6473952"/>
            <a:ext cx="10972801" cy="1"/>
          </a:xfrm>
          <a:prstGeom prst="line">
            <a:avLst/>
          </a:prstGeom>
          <a:ln w="12700">
            <a:solidFill>
              <a:srgbClr val="D7DCE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51" name="Text 10"/>
          <p:cNvSpPr txBox="1"/>
          <p:nvPr/>
        </p:nvSpPr>
        <p:spPr>
          <a:xfrm>
            <a:off x="621791" y="6529323"/>
            <a:ext cx="10972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/>
            <a:r>
              <a:t>17.04.2026</a:t>
            </a:r>
          </a:p>
        </p:txBody>
      </p:sp>
      <p:sp>
        <p:nvSpPr>
          <p:cNvPr id="352" name="Text 11"/>
          <p:cNvSpPr txBox="1"/>
          <p:nvPr/>
        </p:nvSpPr>
        <p:spPr>
          <a:xfrm>
            <a:off x="11155680" y="6529323"/>
            <a:ext cx="3200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6B7280"/>
                </a:solidFill>
              </a:defRPr>
            </a:lvl1pPr>
          </a:lstStyle>
          <a:p>
            <a:pPr/>
            <a:r>
              <a:t>30</a:t>
            </a:r>
          </a:p>
        </p:txBody>
      </p:sp>
      <p:sp>
        <p:nvSpPr>
          <p:cNvPr id="353" name="Text 2"/>
          <p:cNvSpPr txBox="1"/>
          <p:nvPr/>
        </p:nvSpPr>
        <p:spPr>
          <a:xfrm>
            <a:off x="749808" y="1417319"/>
            <a:ext cx="10502037" cy="4023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 marL="615950" indent="-476250">
              <a:buSzPct val="100000"/>
              <a:buFont typeface="Times Roman"/>
              <a:buAutoNum type="arabicPeriod" startAt="1"/>
            </a:pPr>
            <a:r>
              <a:t>Raissi, M., Perdikaris, P., Karniadakis, G. E. </a:t>
            </a:r>
            <a:r>
              <a:t>Physics-informed neural networks: A deep learning framework for solving forward and inverse problems involving nonlinear partial differential equations</a:t>
            </a:r>
            <a:r>
              <a:t>. Journal of Computational Physics, 2019. (</a:t>
            </a:r>
            <a:r>
              <a:rPr u="sng">
                <a:solidFill>
                  <a:srgbClr val="0000EE"/>
                </a:solidFill>
                <a:hlinkClick r:id="rId2" invalidUrl="" action="" tgtFrame="" tooltip="" history="1" highlightClick="0" endSnd="0"/>
              </a:rPr>
              <a:t>ScienceDirect</a:t>
            </a:r>
            <a:r>
              <a:t>)</a:t>
            </a:r>
          </a:p>
          <a:p>
            <a:pPr marL="615950" indent="-476250">
              <a:buSzPct val="100000"/>
              <a:buFont typeface="Times Roman"/>
              <a:buAutoNum type="arabicPeriod" startAt="1"/>
            </a:pPr>
            <a:r>
              <a:t>LeVeque, R. J. </a:t>
            </a:r>
            <a:r>
              <a:t>Finite Difference Methods for Ordinary and Partial Differential Equations: Steady-State and Time-Dependent Problems</a:t>
            </a:r>
            <a:r>
              <a:t>. SIAM, 2007. (</a:t>
            </a:r>
            <a:r>
              <a:rPr u="sng">
                <a:solidFill>
                  <a:srgbClr val="0000EE"/>
                </a:solidFill>
                <a:hlinkClick r:id="rId3" invalidUrl="" action="" tgtFrame="" tooltip="" history="1" highlightClick="0" endSnd="0"/>
              </a:rPr>
              <a:t>SIAM E-Books</a:t>
            </a:r>
            <a:r>
              <a:t>)</a:t>
            </a:r>
          </a:p>
          <a:p>
            <a:pPr marL="615950" indent="-476250">
              <a:buSzPct val="100000"/>
              <a:buFont typeface="Times Roman"/>
              <a:buAutoNum type="arabicPeriod" startAt="1"/>
            </a:pPr>
            <a:r>
              <a:t>Strang, G. </a:t>
            </a:r>
            <a:r>
              <a:rPr i="1"/>
              <a:t>Computational Science and Engineering</a:t>
            </a:r>
            <a:r>
              <a:t>. Wellesley-Cambridge Press, 2007. (</a:t>
            </a:r>
            <a:r>
              <a:rPr u="sng">
                <a:solidFill>
                  <a:srgbClr val="0000EE"/>
                </a:solidFill>
                <a:hlinkClick r:id="rId4" invalidUrl="" action="" tgtFrame="" tooltip="" history="1" highlightClick="0" endSnd="0"/>
              </a:rPr>
              <a:t>ScienceDirect</a:t>
            </a:r>
            <a:r>
              <a:t>)</a:t>
            </a:r>
          </a:p>
          <a:p>
            <a:pPr marL="615950" indent="-476250">
              <a:buSzPct val="100000"/>
              <a:buFont typeface="Times Roman"/>
              <a:buAutoNum type="arabicPeriod" startAt="1"/>
            </a:pPr>
            <a:r>
              <a:t>JAX Developers. </a:t>
            </a:r>
            <a:r>
              <a:rPr i="1"/>
              <a:t>JAX Documentation</a:t>
            </a:r>
            <a:r>
              <a:t>. Official documentation, 2026. (</a:t>
            </a:r>
            <a:r>
              <a:rPr u="sng">
                <a:solidFill>
                  <a:srgbClr val="0000EE"/>
                </a:solidFill>
                <a:hlinkClick r:id="rId5" invalidUrl="" action="" tgtFrame="" tooltip="" history="1" highlightClick="0" endSnd="0"/>
              </a:rPr>
              <a:t>JAX Documentation</a:t>
            </a:r>
            <a:r>
              <a:t>)</a:t>
            </a:r>
          </a:p>
          <a:p>
            <a:pPr marL="615950" indent="-476250">
              <a:buSzPct val="100000"/>
              <a:buFont typeface="Times Roman"/>
              <a:buAutoNum type="arabicPeriod" startAt="1"/>
            </a:pPr>
            <a:r>
              <a:t>JAX Developers. </a:t>
            </a:r>
            <a:r>
              <a:rPr i="1"/>
              <a:t>Quickstart: How to think in JAX</a:t>
            </a:r>
            <a:r>
              <a:t>. Official documentation, 2026. (</a:t>
            </a:r>
            <a:r>
              <a:rPr u="sng">
                <a:solidFill>
                  <a:srgbClr val="0000EE"/>
                </a:solidFill>
                <a:hlinkClick r:id="rId5" invalidUrl="" action="" tgtFrame="" tooltip="" history="1" highlightClick="0" endSnd="0"/>
              </a:rPr>
              <a:t>JAX Documentation</a:t>
            </a:r>
            <a:r>
              <a:t>)</a:t>
            </a:r>
          </a:p>
          <a:p>
            <a:pPr marL="615950" indent="-476250">
              <a:buSzPct val="100000"/>
              <a:buFont typeface="Times Roman"/>
              <a:buAutoNum type="arabicPeriod" startAt="1"/>
            </a:pPr>
            <a:r>
              <a:t>JAX Developers. </a:t>
            </a:r>
            <a:r>
              <a:rPr i="1"/>
              <a:t>API Reference</a:t>
            </a:r>
            <a:r>
              <a:t>. Official documentation, 2026. (</a:t>
            </a:r>
            <a:r>
              <a:rPr u="sng">
                <a:solidFill>
                  <a:srgbClr val="0000EE"/>
                </a:solidFill>
                <a:hlinkClick r:id="rId6" invalidUrl="" action="" tgtFrame="" tooltip="" history="1" highlightClick="0" endSnd="0"/>
              </a:rPr>
              <a:t>JAX Documentation</a:t>
            </a:r>
            <a:r>
              <a:t>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