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ciencedirect.com/science/article/pii/S0021999118307125" TargetMode="External"/><Relationship Id="rId3" Type="http://schemas.openxmlformats.org/officeDocument/2006/relationships/hyperlink" Target="https://epubs.siam.org/doi/book/10.1137/1.9780898717839" TargetMode="External"/><Relationship Id="rId4" Type="http://schemas.openxmlformats.org/officeDocument/2006/relationships/hyperlink" Target="https://www.sciencedirect.com/science/article/abs/pii/S0045782521000773" TargetMode="External"/><Relationship Id="rId5" Type="http://schemas.openxmlformats.org/officeDocument/2006/relationships/hyperlink" Target="https://docs.jax.dev/en/latest/quickstart.html" TargetMode="External"/><Relationship Id="rId6" Type="http://schemas.openxmlformats.org/officeDocument/2006/relationships/hyperlink" Target="https://docs.jax.dev/en/latest/jax.html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731519" y="342205"/>
            <a:ext cx="3108962" cy="641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4456B7"/>
                </a:solidFill>
              </a:defRPr>
            </a:pPr>
            <a:r>
              <a:t>СПбПУ</a:t>
            </a:r>
          </a:p>
          <a:p>
            <a:pPr>
              <a:defRPr sz="1500">
                <a:solidFill>
                  <a:srgbClr val="4456B7"/>
                </a:solidFill>
              </a:defRPr>
            </a:pPr>
            <a:r>
              <a:t>Кафедра «Прикладная математика и информатика»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713231" y="1188719"/>
            <a:ext cx="6583682" cy="1463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2800">
                <a:solidFill>
                  <a:srgbClr val="111111"/>
                </a:solidFill>
              </a:defRPr>
            </a:pPr>
            <a:r>
              <a:t>Сравнение FDM и PINN</a:t>
            </a:r>
          </a:p>
          <a:p>
            <a:pPr>
              <a:defRPr b="1" sz="2800">
                <a:solidFill>
                  <a:srgbClr val="111111"/>
                </a:solidFill>
              </a:defRPr>
            </a:pPr>
            <a:r>
              <a:t>для решения 3D уравнения</a:t>
            </a:r>
          </a:p>
          <a:p>
            <a:pPr>
              <a:defRPr b="1" sz="2800">
                <a:solidFill>
                  <a:srgbClr val="111111"/>
                </a:solidFill>
              </a:defRPr>
            </a:pPr>
            <a:r>
              <a:t>теплопроводности в JAX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49807" y="2848331"/>
            <a:ext cx="2560322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2C8C69"/>
                </a:solidFill>
              </a:defRPr>
            </a:lvl1pPr>
          </a:lstStyle>
          <a:p>
            <a:pPr/>
            <a:r>
              <a:t>доклад на семинаре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49807" y="3218688"/>
            <a:ext cx="493776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defTabSz="841247">
              <a:defRPr sz="1288">
                <a:solidFill>
                  <a:srgbClr val="111111"/>
                </a:solidFill>
              </a:defRPr>
            </a:pPr>
            <a:r>
              <a:t>Тимур Фатахов, Сергей Тишковец, Чинь Тхи Тху Хоай, Игорь Кан</a:t>
            </a:r>
          </a:p>
          <a:p>
            <a:pPr defTabSz="841247">
              <a:defRPr sz="1288">
                <a:solidFill>
                  <a:srgbClr val="111111"/>
                </a:solidFill>
              </a:defRPr>
            </a:pPr>
            <a:r>
              <a:t>17.04.2026</a:t>
            </a:r>
          </a:p>
        </p:txBody>
      </p:sp>
      <p:sp>
        <p:nvSpPr>
          <p:cNvPr id="24" name="Shape 4"/>
          <p:cNvSpPr/>
          <p:nvPr/>
        </p:nvSpPr>
        <p:spPr>
          <a:xfrm>
            <a:off x="713231" y="4160520"/>
            <a:ext cx="10789921" cy="169164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932688" y="4462271"/>
            <a:ext cx="10058401" cy="111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• Проект: аналитическое решение, FDM-солвер, PINN-солвер и модуль валидации</a:t>
            </a:r>
          </a:p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• Цель: проверить корректность реализации и сравнить методы по точности, устойчивости и вычислительной стоимости</a:t>
            </a:r>
          </a:p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• JAX используется и для JIT-компиляции разностной схемы, и для автоматического дифференцирования PINN</a:t>
            </a:r>
          </a:p>
        </p:txBody>
      </p:sp>
      <p:sp>
        <p:nvSpPr>
          <p:cNvPr id="26" name="Shape 6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Постановка задачи</a:t>
            </a:r>
          </a:p>
        </p:txBody>
      </p:sp>
      <p:sp>
        <p:nvSpPr>
          <p:cNvPr id="31" name="Text 1"/>
          <p:cNvSpPr txBox="1"/>
          <p:nvPr/>
        </p:nvSpPr>
        <p:spPr>
          <a:xfrm>
            <a:off x="713231" y="868680"/>
            <a:ext cx="46634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649223">
              <a:lnSpc>
                <a:spcPct val="104999"/>
              </a:lnSpc>
              <a:defRPr sz="1207">
                <a:solidFill>
                  <a:srgbClr val="111111"/>
                </a:solidFill>
              </a:defRPr>
            </a:pPr>
            <a:r>
              <a:t>Рассматривается нестационарное уравнение теплопроводности</a:t>
            </a:r>
          </a:p>
          <a:p>
            <a:pPr defTabSz="649223">
              <a:lnSpc>
                <a:spcPct val="104999"/>
              </a:lnSpc>
              <a:defRPr sz="1207">
                <a:solidFill>
                  <a:srgbClr val="111111"/>
                </a:solidFill>
              </a:defRPr>
            </a:pPr>
            <a:r>
              <a:t>в кубической области.</a:t>
            </a:r>
          </a:p>
        </p:txBody>
      </p:sp>
      <p:pic>
        <p:nvPicPr>
          <p:cNvPr id="3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1444752"/>
            <a:ext cx="4206241" cy="548330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Text 2"/>
          <p:cNvSpPr txBox="1"/>
          <p:nvPr/>
        </p:nvSpPr>
        <p:spPr>
          <a:xfrm>
            <a:off x="749808" y="2176272"/>
            <a:ext cx="18288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Область расчёта</a:t>
            </a:r>
          </a:p>
        </p:txBody>
      </p:sp>
      <p:pic>
        <p:nvPicPr>
          <p:cNvPr id="3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2395727"/>
            <a:ext cx="3507186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ext 3"/>
          <p:cNvSpPr txBox="1"/>
          <p:nvPr/>
        </p:nvSpPr>
        <p:spPr>
          <a:xfrm>
            <a:off x="749808" y="2944367"/>
            <a:ext cx="2011679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Начальное условие</a:t>
            </a:r>
          </a:p>
        </p:txBody>
      </p:sp>
      <p:pic>
        <p:nvPicPr>
          <p:cNvPr id="3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8680" y="3172967"/>
            <a:ext cx="3840480" cy="50065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4"/>
          <p:cNvSpPr txBox="1"/>
          <p:nvPr/>
        </p:nvSpPr>
        <p:spPr>
          <a:xfrm>
            <a:off x="749808" y="3977640"/>
            <a:ext cx="457200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868680">
              <a:lnSpc>
                <a:spcPct val="104999"/>
              </a:lnSpc>
              <a:defRPr sz="1520">
                <a:solidFill>
                  <a:srgbClr val="111111"/>
                </a:solidFill>
              </a:defRPr>
            </a:pPr>
            <a:r>
              <a:t>• Граничные условия Дирихле: u = 0 на всех гранях куба</a:t>
            </a:r>
          </a:p>
          <a:p>
            <a:pPr defTabSz="868680">
              <a:lnSpc>
                <a:spcPct val="104999"/>
              </a:lnSpc>
              <a:defRPr sz="1520">
                <a:solidFill>
                  <a:srgbClr val="111111"/>
                </a:solidFill>
              </a:defRPr>
            </a:pPr>
            <a:r>
              <a:t>• Фактическая конфигурация эксперимента: α = 0.1, T = 1.0</a:t>
            </a:r>
          </a:p>
        </p:txBody>
      </p:sp>
      <p:sp>
        <p:nvSpPr>
          <p:cNvPr id="38" name="Shape 5"/>
          <p:cNvSpPr/>
          <p:nvPr/>
        </p:nvSpPr>
        <p:spPr>
          <a:xfrm>
            <a:off x="5965984" y="1129844"/>
            <a:ext cx="4951850" cy="443484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7"/>
          <p:cNvSpPr/>
          <p:nvPr/>
        </p:nvSpPr>
        <p:spPr>
          <a:xfrm>
            <a:off x="7812138" y="2019459"/>
            <a:ext cx="1728053" cy="1733413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>
              <a:defRPr sz="2100"/>
            </a:pPr>
          </a:p>
        </p:txBody>
      </p:sp>
      <p:sp>
        <p:nvSpPr>
          <p:cNvPr id="40" name="Shape 10"/>
          <p:cNvSpPr/>
          <p:nvPr/>
        </p:nvSpPr>
        <p:spPr>
          <a:xfrm>
            <a:off x="7325051" y="3535839"/>
            <a:ext cx="483894" cy="217075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2"/>
          <p:cNvSpPr txBox="1"/>
          <p:nvPr/>
        </p:nvSpPr>
        <p:spPr>
          <a:xfrm>
            <a:off x="6910289" y="4423381"/>
            <a:ext cx="30632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6B7280"/>
                </a:solidFill>
              </a:defRPr>
            </a:lvl1pPr>
          </a:lstStyle>
          <a:p>
            <a:pPr/>
            <a:r>
              <a:t>Ω = [0,1]^3</a:t>
            </a:r>
          </a:p>
        </p:txBody>
      </p:sp>
      <p:sp>
        <p:nvSpPr>
          <p:cNvPr id="42" name="Text 13"/>
          <p:cNvSpPr txBox="1"/>
          <p:nvPr/>
        </p:nvSpPr>
        <p:spPr>
          <a:xfrm>
            <a:off x="6268720" y="4900444"/>
            <a:ext cx="4572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6B7280"/>
                </a:solidFill>
              </a:defRPr>
            </a:lvl1pPr>
          </a:lstStyle>
          <a:p>
            <a:pPr/>
            <a:r>
              <a:t>Схема области и граничных условий</a:t>
            </a:r>
          </a:p>
        </p:txBody>
      </p:sp>
      <p:sp>
        <p:nvSpPr>
          <p:cNvPr id="43" name="Shape 14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5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45" name="Text 16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6" name="Shape 7"/>
          <p:cNvSpPr/>
          <p:nvPr/>
        </p:nvSpPr>
        <p:spPr>
          <a:xfrm>
            <a:off x="7326458" y="1801068"/>
            <a:ext cx="1728053" cy="1733412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>
              <a:defRPr sz="2100"/>
            </a:pPr>
          </a:p>
        </p:txBody>
      </p:sp>
      <p:sp>
        <p:nvSpPr>
          <p:cNvPr id="47" name="Shape 10"/>
          <p:cNvSpPr/>
          <p:nvPr/>
        </p:nvSpPr>
        <p:spPr>
          <a:xfrm>
            <a:off x="7325051" y="1794797"/>
            <a:ext cx="483894" cy="217074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10"/>
          <p:cNvSpPr/>
          <p:nvPr/>
        </p:nvSpPr>
        <p:spPr>
          <a:xfrm>
            <a:off x="9052788" y="3535839"/>
            <a:ext cx="483894" cy="217075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0"/>
          <p:cNvSpPr/>
          <p:nvPr/>
        </p:nvSpPr>
        <p:spPr>
          <a:xfrm>
            <a:off x="9052788" y="1794797"/>
            <a:ext cx="483894" cy="217074"/>
          </a:xfrm>
          <a:prstGeom prst="line">
            <a:avLst/>
          </a:prstGeom>
          <a:ln w="12700">
            <a:solidFill>
              <a:srgbClr val="111111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Аналитическое решение задачи</a:t>
            </a:r>
          </a:p>
        </p:txBody>
      </p:sp>
      <p:sp>
        <p:nvSpPr>
          <p:cNvPr id="52" name="Text 1"/>
          <p:cNvSpPr txBox="1"/>
          <p:nvPr/>
        </p:nvSpPr>
        <p:spPr>
          <a:xfrm>
            <a:off x="731519" y="877824"/>
            <a:ext cx="5120642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13231">
              <a:lnSpc>
                <a:spcPct val="104999"/>
              </a:lnSpc>
              <a:defRPr sz="1325">
                <a:solidFill>
                  <a:srgbClr val="111111"/>
                </a:solidFill>
              </a:defRPr>
            </a:lvl1pPr>
          </a:lstStyle>
          <a:p>
            <a:pPr/>
            <a:r>
              <a:t>Для выбранного начального условия точное решение имеет вид.</a:t>
            </a:r>
          </a:p>
        </p:txBody>
      </p:sp>
      <p:pic>
        <p:nvPicPr>
          <p:cNvPr id="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99736" y="1967474"/>
            <a:ext cx="5979828" cy="779536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ext 2"/>
          <p:cNvSpPr txBox="1"/>
          <p:nvPr/>
        </p:nvSpPr>
        <p:spPr>
          <a:xfrm>
            <a:off x="665489" y="3728466"/>
            <a:ext cx="7652853" cy="21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удовлетворяет исходному уравнению теплопроводности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точно выполняет начальное условие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точно удовлетворяет нулевым граничным условиям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демонстрирует затухание амплитуды со временем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используется как эталон при вычислении ошибок</a:t>
            </a:r>
          </a:p>
        </p:txBody>
      </p:sp>
      <p:sp>
        <p:nvSpPr>
          <p:cNvPr id="55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57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Зачем нужен аналитический benchmark</a:t>
            </a:r>
          </a:p>
        </p:txBody>
      </p:sp>
      <p:sp>
        <p:nvSpPr>
          <p:cNvPr id="60" name="Text 1"/>
          <p:cNvSpPr txBox="1"/>
          <p:nvPr/>
        </p:nvSpPr>
        <p:spPr>
          <a:xfrm>
            <a:off x="731519" y="896111"/>
            <a:ext cx="7498082" cy="438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Наличие точного решения позволяет перейти от демонстрации работы программы</a:t>
            </a:r>
          </a:p>
          <a:p>
            <a:pPr defTabSz="813816">
              <a:lnSpc>
                <a:spcPct val="104999"/>
              </a:lnSpc>
              <a:defRPr sz="1513">
                <a:solidFill>
                  <a:srgbClr val="111111"/>
                </a:solidFill>
              </a:defRPr>
            </a:pPr>
            <a:r>
              <a:t>к полноценной численной валидации.</a:t>
            </a:r>
          </a:p>
        </p:txBody>
      </p:sp>
      <p:sp>
        <p:nvSpPr>
          <p:cNvPr id="61" name="Shape 2"/>
          <p:cNvSpPr/>
          <p:nvPr/>
        </p:nvSpPr>
        <p:spPr>
          <a:xfrm>
            <a:off x="841247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3"/>
          <p:cNvSpPr txBox="1"/>
          <p:nvPr/>
        </p:nvSpPr>
        <p:spPr>
          <a:xfrm>
            <a:off x="914400" y="1901951"/>
            <a:ext cx="1682496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Точное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решение</a:t>
            </a:r>
          </a:p>
        </p:txBody>
      </p:sp>
      <p:sp>
        <p:nvSpPr>
          <p:cNvPr id="63" name="Shape 4"/>
          <p:cNvSpPr/>
          <p:nvPr/>
        </p:nvSpPr>
        <p:spPr>
          <a:xfrm>
            <a:off x="3017520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5"/>
          <p:cNvSpPr txBox="1"/>
          <p:nvPr/>
        </p:nvSpPr>
        <p:spPr>
          <a:xfrm>
            <a:off x="3090672" y="1901951"/>
            <a:ext cx="1682496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Численный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solver</a:t>
            </a:r>
          </a:p>
        </p:txBody>
      </p:sp>
      <p:sp>
        <p:nvSpPr>
          <p:cNvPr id="65" name="Shape 6"/>
          <p:cNvSpPr/>
          <p:nvPr/>
        </p:nvSpPr>
        <p:spPr>
          <a:xfrm>
            <a:off x="5193791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7"/>
          <p:cNvSpPr txBox="1"/>
          <p:nvPr/>
        </p:nvSpPr>
        <p:spPr>
          <a:xfrm>
            <a:off x="5266944" y="1901951"/>
            <a:ext cx="1682496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Ошибка</a:t>
            </a:r>
          </a:p>
        </p:txBody>
      </p:sp>
      <p:sp>
        <p:nvSpPr>
          <p:cNvPr id="67" name="Shape 8"/>
          <p:cNvSpPr/>
          <p:nvPr/>
        </p:nvSpPr>
        <p:spPr>
          <a:xfrm>
            <a:off x="7370064" y="1828800"/>
            <a:ext cx="1828801" cy="7315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9"/>
          <p:cNvSpPr txBox="1"/>
          <p:nvPr/>
        </p:nvSpPr>
        <p:spPr>
          <a:xfrm>
            <a:off x="7443216" y="1901951"/>
            <a:ext cx="1682497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Метрика</a:t>
            </a:r>
          </a:p>
        </p:txBody>
      </p:sp>
      <p:sp>
        <p:nvSpPr>
          <p:cNvPr id="69" name="Shape 10"/>
          <p:cNvSpPr/>
          <p:nvPr/>
        </p:nvSpPr>
        <p:spPr>
          <a:xfrm>
            <a:off x="9546335" y="1828800"/>
            <a:ext cx="1645921" cy="731520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1"/>
          <p:cNvSpPr txBox="1"/>
          <p:nvPr/>
        </p:nvSpPr>
        <p:spPr>
          <a:xfrm>
            <a:off x="9619488" y="1901951"/>
            <a:ext cx="1499617" cy="585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Вывод</a:t>
            </a:r>
          </a:p>
        </p:txBody>
      </p:sp>
      <p:sp>
        <p:nvSpPr>
          <p:cNvPr id="71" name="Shape 12"/>
          <p:cNvSpPr/>
          <p:nvPr/>
        </p:nvSpPr>
        <p:spPr>
          <a:xfrm>
            <a:off x="2697479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Shape 13"/>
          <p:cNvSpPr/>
          <p:nvPr/>
        </p:nvSpPr>
        <p:spPr>
          <a:xfrm>
            <a:off x="4873752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Shape 14"/>
          <p:cNvSpPr/>
          <p:nvPr/>
        </p:nvSpPr>
        <p:spPr>
          <a:xfrm>
            <a:off x="7050023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5"/>
          <p:cNvSpPr/>
          <p:nvPr/>
        </p:nvSpPr>
        <p:spPr>
          <a:xfrm>
            <a:off x="9217152" y="2066544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6"/>
          <p:cNvSpPr txBox="1"/>
          <p:nvPr/>
        </p:nvSpPr>
        <p:spPr>
          <a:xfrm>
            <a:off x="731520" y="3552444"/>
            <a:ext cx="6400801" cy="169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сравнение численного решения с эталоном в каждой точке сетки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вычисление ошибок L₂, L∞ и относительной L₂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проверка сходимости метода при измельчении сетки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корректное сравнение FDM и PINN на одной физической задаче</a:t>
            </a:r>
          </a:p>
        </p:txBody>
      </p:sp>
      <p:sp>
        <p:nvSpPr>
          <p:cNvPr id="76" name="Shape 17"/>
          <p:cNvSpPr/>
          <p:nvPr/>
        </p:nvSpPr>
        <p:spPr>
          <a:xfrm>
            <a:off x="7863840" y="3423920"/>
            <a:ext cx="3337560" cy="1737361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8"/>
          <p:cNvSpPr txBox="1"/>
          <p:nvPr/>
        </p:nvSpPr>
        <p:spPr>
          <a:xfrm>
            <a:off x="8138159" y="3881120"/>
            <a:ext cx="278892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В этой работе аналитическое решение используется</a:t>
            </a:r>
          </a:p>
          <a:p>
            <a:pPr algn="ctr"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как единый критерий качества для обоих методов.</a:t>
            </a:r>
          </a:p>
        </p:txBody>
      </p:sp>
      <p:sp>
        <p:nvSpPr>
          <p:cNvPr id="78" name="Shape 1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80" name="Text 2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Математическая идея FDM</a:t>
            </a:r>
          </a:p>
        </p:txBody>
      </p:sp>
      <p:sp>
        <p:nvSpPr>
          <p:cNvPr id="83" name="Text 1"/>
          <p:cNvSpPr txBox="1"/>
          <p:nvPr/>
        </p:nvSpPr>
        <p:spPr>
          <a:xfrm>
            <a:off x="749807" y="960119"/>
            <a:ext cx="5623562" cy="164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Непрерывная задача заменяется системой разностных уравнений на регулярной 3D сетке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Центральные разности второго порядка аппроксимируют вторые производные по пространству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По времени применяется явная схема Эйлера</a:t>
            </a:r>
          </a:p>
        </p:txBody>
      </p:sp>
      <p:sp>
        <p:nvSpPr>
          <p:cNvPr id="84" name="Shape 2"/>
          <p:cNvSpPr/>
          <p:nvPr/>
        </p:nvSpPr>
        <p:spPr>
          <a:xfrm>
            <a:off x="841248" y="4323079"/>
            <a:ext cx="5440680" cy="914401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8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1698" y="4307945"/>
            <a:ext cx="7246572" cy="94467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hape 3"/>
          <p:cNvSpPr/>
          <p:nvPr/>
        </p:nvSpPr>
        <p:spPr>
          <a:xfrm>
            <a:off x="7242956" y="2572511"/>
            <a:ext cx="3794761" cy="713233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"/>
          <p:cNvSpPr txBox="1"/>
          <p:nvPr/>
        </p:nvSpPr>
        <p:spPr>
          <a:xfrm>
            <a:off x="7316108" y="2645664"/>
            <a:ext cx="3648457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Прозрачная численная интерпретация</a:t>
            </a:r>
          </a:p>
        </p:txBody>
      </p:sp>
      <p:sp>
        <p:nvSpPr>
          <p:cNvPr id="88" name="Shape 5"/>
          <p:cNvSpPr/>
          <p:nvPr/>
        </p:nvSpPr>
        <p:spPr>
          <a:xfrm>
            <a:off x="7242956" y="3560064"/>
            <a:ext cx="3794761" cy="713233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6"/>
          <p:cNvSpPr txBox="1"/>
          <p:nvPr/>
        </p:nvSpPr>
        <p:spPr>
          <a:xfrm>
            <a:off x="7316108" y="3633215"/>
            <a:ext cx="3648457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Предсказуемая устойчивость</a:t>
            </a:r>
          </a:p>
        </p:txBody>
      </p:sp>
      <p:sp>
        <p:nvSpPr>
          <p:cNvPr id="90" name="Shape 7"/>
          <p:cNvSpPr/>
          <p:nvPr/>
        </p:nvSpPr>
        <p:spPr>
          <a:xfrm>
            <a:off x="7242956" y="4547615"/>
            <a:ext cx="3794761" cy="713233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8"/>
          <p:cNvSpPr txBox="1"/>
          <p:nvPr/>
        </p:nvSpPr>
        <p:spPr>
          <a:xfrm>
            <a:off x="7316108" y="4620767"/>
            <a:ext cx="3648457" cy="566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Проверка теоретического порядка сходимости</a:t>
            </a:r>
          </a:p>
        </p:txBody>
      </p:sp>
      <p:sp>
        <p:nvSpPr>
          <p:cNvPr id="92" name="Shape 14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5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94" name="Text 16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лапласиан и аппроксимация второго порядка</a:t>
            </a:r>
          </a:p>
        </p:txBody>
      </p:sp>
      <p:sp>
        <p:nvSpPr>
          <p:cNvPr id="97" name="Text 1"/>
          <p:cNvSpPr txBox="1"/>
          <p:nvPr/>
        </p:nvSpPr>
        <p:spPr>
          <a:xfrm>
            <a:off x="749807" y="914400"/>
            <a:ext cx="55778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713231">
              <a:lnSpc>
                <a:spcPct val="104999"/>
              </a:lnSpc>
              <a:defRPr sz="1325">
                <a:solidFill>
                  <a:srgbClr val="111111"/>
                </a:solidFill>
              </a:defRPr>
            </a:pPr>
            <a:r>
              <a:t>Пространственный оператор Лапласа реализован через центральные</a:t>
            </a:r>
          </a:p>
          <a:p>
            <a:pPr defTabSz="713231">
              <a:lnSpc>
                <a:spcPct val="104999"/>
              </a:lnSpc>
              <a:defRPr sz="1325">
                <a:solidFill>
                  <a:srgbClr val="111111"/>
                </a:solidFill>
              </a:defRPr>
            </a:pPr>
            <a:r>
              <a:t>разности второго порядка по трём координатам.</a:t>
            </a:r>
          </a:p>
        </p:txBody>
      </p:sp>
      <p:sp>
        <p:nvSpPr>
          <p:cNvPr id="98" name="Text 2"/>
          <p:cNvSpPr txBox="1"/>
          <p:nvPr/>
        </p:nvSpPr>
        <p:spPr>
          <a:xfrm>
            <a:off x="763797" y="1495457"/>
            <a:ext cx="493776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786384">
              <a:lnSpc>
                <a:spcPct val="104999"/>
              </a:lnSpc>
              <a:defRPr sz="1376">
                <a:solidFill>
                  <a:srgbClr val="2C8C69"/>
                </a:solidFill>
              </a:defRPr>
            </a:pPr>
            <a:r>
              <a:t>Во внутренних узлах вычисляются </a:t>
            </a:r>
            <a14:m>
              <m:oMath>
                <m:sSub>
                  <m:e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</m:oMath>
            </a14:m>
            <a:r>
              <a:t>, </a:t>
            </a:r>
            <a14:m>
              <m:oMath>
                <m:sSub>
                  <m:e>
                    <m:r>
                      <a:rPr xmlns:a="http://schemas.openxmlformats.org/drawingml/2006/main" sz="160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60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xmlns:a="http://schemas.openxmlformats.org/drawingml/2006/main" sz="160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y</m:t>
                    </m:r>
                  </m:sub>
                </m:sSub>
              </m:oMath>
            </a14:m>
            <a:r>
              <a:t> и </a:t>
            </a:r>
            <a14:m>
              <m:oMath>
                <m:sSub>
                  <m:e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xmlns:a="http://schemas.openxmlformats.org/drawingml/2006/main" sz="1650" i="1">
                        <a:solidFill>
                          <a:srgbClr val="2C8C69"/>
                        </a:solidFill>
                        <a:latin typeface="Cambria Math" panose="02040503050406030204" pitchFamily="18" charset="0"/>
                      </a:rPr>
                      <m:t>z</m:t>
                    </m:r>
                  </m:sub>
                </m:sSub>
              </m:oMath>
            </a14:m>
            <a:r>
              <a:t>.</a:t>
            </a:r>
            <a:endParaRPr sz="1600"/>
          </a:p>
        </p:txBody>
      </p:sp>
      <p:pic>
        <p:nvPicPr>
          <p:cNvPr id="9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99034" y="2611276"/>
            <a:ext cx="7292857" cy="950704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3"/>
          <p:cNvSpPr txBox="1"/>
          <p:nvPr/>
        </p:nvSpPr>
        <p:spPr>
          <a:xfrm>
            <a:off x="655642" y="3969980"/>
            <a:ext cx="8357206" cy="1508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Аналогично вычисляются 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y</m:t>
                    </m:r>
                  </m:sub>
                </m:sSub>
              </m:oMath>
            </a14:m>
            <a:r>
              <a:t> и </a:t>
            </a:r>
            <a14:m>
              <m:oMath>
                <m:sSub>
                  <m:e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xmlns:a="http://schemas.openxmlformats.org/drawingml/2006/main" sz="19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z</m:t>
                    </m:r>
                  </m:sub>
                </m:sSub>
              </m:oMath>
            </a14:m>
            <a:r>
              <a:t>, после чего они суммируются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Пространственная аппроксимация имеет ожидаемую точность O(Δx²)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Далее проверяется второй порядок сходимости FDM</a:t>
            </a:r>
          </a:p>
        </p:txBody>
      </p:sp>
      <p:sp>
        <p:nvSpPr>
          <p:cNvPr id="101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03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код оператора Лапласа</a:t>
            </a:r>
          </a:p>
        </p:txBody>
      </p:sp>
      <p:sp>
        <p:nvSpPr>
          <p:cNvPr id="106" name="Text 1"/>
          <p:cNvSpPr txBox="1"/>
          <p:nvPr/>
        </p:nvSpPr>
        <p:spPr>
          <a:xfrm>
            <a:off x="749808" y="896111"/>
            <a:ext cx="10515601" cy="512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Код реализует вычисление трёхмерного лапласиана только во внутренних узлах сетки.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Реализация полностью векторизована через срезы массивов JAX.</a:t>
            </a:r>
          </a:p>
        </p:txBody>
      </p:sp>
      <p:sp>
        <p:nvSpPr>
          <p:cNvPr id="107" name="Shape 2"/>
          <p:cNvSpPr/>
          <p:nvPr/>
        </p:nvSpPr>
        <p:spPr>
          <a:xfrm>
            <a:off x="841247" y="1600200"/>
            <a:ext cx="10515601" cy="2382167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Text 3"/>
          <p:cNvSpPr txBox="1"/>
          <p:nvPr/>
        </p:nvSpPr>
        <p:spPr>
          <a:xfrm>
            <a:off x="1005839" y="1692147"/>
            <a:ext cx="10186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src/fdm_solver.py</a:t>
            </a:r>
          </a:p>
        </p:txBody>
      </p:sp>
      <p:sp>
        <p:nvSpPr>
          <p:cNvPr id="109" name="Text 4"/>
          <p:cNvSpPr txBox="1"/>
          <p:nvPr/>
        </p:nvSpPr>
        <p:spPr>
          <a:xfrm>
            <a:off x="987551" y="1819655"/>
            <a:ext cx="10222994" cy="4251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 </a:t>
            </a:r>
            <a:r>
              <a:rPr>
                <a:solidFill>
                  <a:srgbClr val="FFFFFF"/>
                </a:solidFill>
              </a:rPr>
              <a:t>@jit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laplacian_3d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 </a:t>
            </a:r>
            <a:r>
              <a:rPr>
                <a:solidFill>
                  <a:srgbClr val="FFFFFF"/>
                </a:solidFill>
              </a:rPr>
              <a:t>    d2uxx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:,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2.0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 </a:t>
            </a:r>
            <a:r>
              <a:rPr>
                <a:solidFill>
                  <a:srgbClr val="FFFFFF"/>
                </a:solidFill>
              </a:rPr>
              <a:t>            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[:-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 </a:t>
            </a:r>
            <a:r>
              <a:rPr>
                <a:solidFill>
                  <a:srgbClr val="FFFFFF"/>
                </a:solidFill>
              </a:rPr>
              <a:t>    d2uyy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:,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2.0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6 </a:t>
            </a:r>
            <a:r>
              <a:rPr>
                <a:solidFill>
                  <a:srgbClr val="FFFFFF"/>
                </a:solidFill>
              </a:rPr>
              <a:t>            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7 </a:t>
            </a:r>
            <a:r>
              <a:rPr>
                <a:solidFill>
                  <a:srgbClr val="FFFFFF"/>
                </a:solidFill>
              </a:rPr>
              <a:t>    d2uzz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:]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2.0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8 </a:t>
            </a:r>
            <a:r>
              <a:rPr>
                <a:solidFill>
                  <a:srgbClr val="FFFFFF"/>
                </a:solidFill>
              </a:rPr>
              <a:t>            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2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9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d2uxx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d2uyy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d2uzz</a:t>
            </a:r>
          </a:p>
        </p:txBody>
      </p:sp>
      <p:sp>
        <p:nvSpPr>
          <p:cNvPr id="110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12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шаг Эйлера и граничные условия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749807" y="932688"/>
            <a:ext cx="484632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13816">
              <a:lnSpc>
                <a:spcPct val="104999"/>
              </a:lnSpc>
              <a:defRPr sz="1424">
                <a:solidFill>
                  <a:srgbClr val="111111"/>
                </a:solidFill>
              </a:defRPr>
            </a:lvl1pPr>
          </a:lstStyle>
          <a:p>
            <a:pPr/>
            <a:r>
              <a:t>Один шаг по времени реализован явной схемой Эйлера.</a:t>
            </a:r>
          </a:p>
        </p:txBody>
      </p:sp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1298447"/>
            <a:ext cx="4559342" cy="594361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2"/>
          <p:cNvSpPr txBox="1"/>
          <p:nvPr/>
        </p:nvSpPr>
        <p:spPr>
          <a:xfrm>
            <a:off x="749808" y="2148839"/>
            <a:ext cx="4983480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обновляется только внутренняя часть массива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граничные узлы не пересчитываются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нулевые граничные условия Дирихле сохраняются автоматически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математическая постановка напрямую связана с кодом солвера</a:t>
            </a:r>
          </a:p>
        </p:txBody>
      </p:sp>
      <p:sp>
        <p:nvSpPr>
          <p:cNvPr id="118" name="Shape 3"/>
          <p:cNvSpPr/>
          <p:nvPr/>
        </p:nvSpPr>
        <p:spPr>
          <a:xfrm>
            <a:off x="6400800" y="799538"/>
            <a:ext cx="4297680" cy="4686863"/>
          </a:xfrm>
          <a:prstGeom prst="roundRect">
            <a:avLst>
              <a:gd name="adj" fmla="val 16312"/>
            </a:avLst>
          </a:prstGeom>
          <a:solidFill>
            <a:srgbClr val="FBFCF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4"/>
          <p:cNvSpPr/>
          <p:nvPr/>
        </p:nvSpPr>
        <p:spPr>
          <a:xfrm>
            <a:off x="7360919" y="1828800"/>
            <a:ext cx="2377441" cy="2377440"/>
          </a:xfrm>
          <a:prstGeom prst="rect">
            <a:avLst/>
          </a:prstGeom>
          <a:solidFill>
            <a:srgbClr val="ECFDF5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5"/>
          <p:cNvSpPr/>
          <p:nvPr/>
        </p:nvSpPr>
        <p:spPr>
          <a:xfrm>
            <a:off x="6812280" y="1280160"/>
            <a:ext cx="3474721" cy="3474721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4456B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6"/>
          <p:cNvSpPr txBox="1"/>
          <p:nvPr/>
        </p:nvSpPr>
        <p:spPr>
          <a:xfrm>
            <a:off x="7543800" y="2629891"/>
            <a:ext cx="2011679" cy="50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700">
                <a:solidFill>
                  <a:srgbClr val="111111"/>
                </a:solidFill>
              </a:defRPr>
            </a:pPr>
            <a:r>
              <a:t>interior</a:t>
            </a:r>
          </a:p>
          <a:p>
            <a:pPr algn="ctr">
              <a:defRPr sz="1700">
                <a:solidFill>
                  <a:srgbClr val="111111"/>
                </a:solidFill>
              </a:defRPr>
            </a:pPr>
            <a:r>
              <a:t>обновляется</a:t>
            </a:r>
          </a:p>
        </p:txBody>
      </p:sp>
      <p:sp>
        <p:nvSpPr>
          <p:cNvPr id="122" name="Text 7"/>
          <p:cNvSpPr txBox="1"/>
          <p:nvPr/>
        </p:nvSpPr>
        <p:spPr>
          <a:xfrm>
            <a:off x="6949440" y="4935256"/>
            <a:ext cx="3200401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boundary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фиксируется</a:t>
            </a:r>
          </a:p>
        </p:txBody>
      </p:sp>
      <p:sp>
        <p:nvSpPr>
          <p:cNvPr id="123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25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код временного шага</a:t>
            </a:r>
          </a:p>
        </p:txBody>
      </p:sp>
      <p:sp>
        <p:nvSpPr>
          <p:cNvPr id="128" name="Text 1"/>
          <p:cNvSpPr txBox="1"/>
          <p:nvPr/>
        </p:nvSpPr>
        <p:spPr>
          <a:xfrm>
            <a:off x="749808" y="914400"/>
            <a:ext cx="9601201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Функция euler_step вычисляет лапласиан и обновляет только внутренние узлы сетки.</a:t>
            </a:r>
          </a:p>
        </p:txBody>
      </p:sp>
      <p:sp>
        <p:nvSpPr>
          <p:cNvPr id="129" name="Shape 2"/>
          <p:cNvSpPr/>
          <p:nvPr/>
        </p:nvSpPr>
        <p:spPr>
          <a:xfrm>
            <a:off x="841247" y="1600200"/>
            <a:ext cx="10515601" cy="2971800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Text 3"/>
          <p:cNvSpPr txBox="1"/>
          <p:nvPr/>
        </p:nvSpPr>
        <p:spPr>
          <a:xfrm>
            <a:off x="1005839" y="1692147"/>
            <a:ext cx="101864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src/fdm_solver.py</a:t>
            </a:r>
          </a:p>
        </p:txBody>
      </p:sp>
      <p:sp>
        <p:nvSpPr>
          <p:cNvPr id="131" name="Text 4"/>
          <p:cNvSpPr txBox="1"/>
          <p:nvPr/>
        </p:nvSpPr>
        <p:spPr>
          <a:xfrm>
            <a:off x="987551" y="1819655"/>
            <a:ext cx="10222994" cy="2697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 </a:t>
            </a:r>
            <a:r>
              <a:rPr>
                <a:solidFill>
                  <a:srgbClr val="FFFFFF"/>
                </a:solidFill>
              </a:rPr>
              <a:t>@jit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euler_step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alpha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 </a:t>
            </a:r>
            <a:r>
              <a:rPr>
                <a:solidFill>
                  <a:srgbClr val="FFFFFF"/>
                </a:solidFill>
              </a:rPr>
              <a:t>               dx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float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ndarray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 </a:t>
            </a:r>
            <a:r>
              <a:rPr>
                <a:solidFill>
                  <a:srgbClr val="FFFFFF"/>
                </a:solidFill>
              </a:rPr>
              <a:t>    lap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laplacian_3d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 </a:t>
            </a:r>
            <a:r>
              <a:rPr>
                <a:solidFill>
                  <a:srgbClr val="FFFFFF"/>
                </a:solidFill>
              </a:rPr>
              <a:t>    u_next_interior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alpha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dt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lap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6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u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].</a:t>
            </a:r>
            <a:r>
              <a:rPr>
                <a:solidFill>
                  <a:srgbClr val="FFFFFF"/>
                </a:solidFill>
              </a:rPr>
              <a:t>set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u_next_interior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132" name="Shape 5"/>
          <p:cNvSpPr/>
          <p:nvPr/>
        </p:nvSpPr>
        <p:spPr>
          <a:xfrm>
            <a:off x="841247" y="4828032"/>
            <a:ext cx="10515601" cy="91440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6"/>
          <p:cNvSpPr txBox="1"/>
          <p:nvPr/>
        </p:nvSpPr>
        <p:spPr>
          <a:xfrm>
            <a:off x="1051560" y="5093208"/>
            <a:ext cx="10058401" cy="384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768095">
              <a:lnSpc>
                <a:spcPct val="104999"/>
              </a:lnSpc>
              <a:defRPr sz="1260">
                <a:solidFill>
                  <a:srgbClr val="111111"/>
                </a:solidFill>
              </a:defRPr>
            </a:pPr>
            <a:r>
              <a:t>Операция .at[1:-1, 1:-1, 1:-1].set(...) явно фиксирует область обновления;</a:t>
            </a:r>
          </a:p>
          <a:p>
            <a:pPr algn="ctr" defTabSz="768095">
              <a:lnSpc>
                <a:spcPct val="104999"/>
              </a:lnSpc>
              <a:defRPr sz="1260">
                <a:solidFill>
                  <a:srgbClr val="111111"/>
                </a:solidFill>
              </a:defRPr>
            </a:pPr>
            <a:r>
              <a:t>границы остаются нулевыми без отдельного шага постобработки.</a:t>
            </a:r>
          </a:p>
        </p:txBody>
      </p:sp>
      <p:sp>
        <p:nvSpPr>
          <p:cNvPr id="134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36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устойчивость и условие CFL</a:t>
            </a:r>
          </a:p>
        </p:txBody>
      </p:sp>
      <p:sp>
        <p:nvSpPr>
          <p:cNvPr id="139" name="Text 1"/>
          <p:cNvSpPr txBox="1"/>
          <p:nvPr/>
        </p:nvSpPr>
        <p:spPr>
          <a:xfrm>
            <a:off x="749808" y="914400"/>
            <a:ext cx="5669280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04087">
              <a:lnSpc>
                <a:spcPct val="104999"/>
              </a:lnSpc>
              <a:defRPr sz="1232">
                <a:solidFill>
                  <a:srgbClr val="111111"/>
                </a:solidFill>
              </a:defRPr>
            </a:lvl1pPr>
          </a:lstStyle>
          <a:p>
            <a:pPr/>
            <a:r>
              <a:t>Для явной схемы Эйлера в 3D используется ограничение на шаг по времени.</a:t>
            </a:r>
          </a:p>
        </p:txBody>
      </p:sp>
      <p:pic>
        <p:nvPicPr>
          <p:cNvPr id="14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1298447"/>
            <a:ext cx="3657601" cy="476809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 2"/>
          <p:cNvSpPr txBox="1"/>
          <p:nvPr/>
        </p:nvSpPr>
        <p:spPr>
          <a:xfrm>
            <a:off x="749808" y="1788318"/>
            <a:ext cx="9147012" cy="190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вычисляются шаги сетки dx, dy, dz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оценивается допустимый dt_max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если dt больше допустимого, шаг автоматически уменьшается до 0.95 · dt_max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это предотвращает запуск явной схемы в неустойчивом режиме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это необходимо для контроля численной устойчивости</a:t>
            </a:r>
          </a:p>
        </p:txBody>
      </p:sp>
      <p:sp>
        <p:nvSpPr>
          <p:cNvPr id="142" name="Shape 3"/>
          <p:cNvSpPr/>
          <p:nvPr/>
        </p:nvSpPr>
        <p:spPr>
          <a:xfrm>
            <a:off x="3539677" y="3629819"/>
            <a:ext cx="7283989" cy="2256023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Text 4"/>
          <p:cNvSpPr txBox="1"/>
          <p:nvPr/>
        </p:nvSpPr>
        <p:spPr>
          <a:xfrm>
            <a:off x="3668170" y="3707380"/>
            <a:ext cx="47914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контроль устойчивости</a:t>
            </a:r>
          </a:p>
        </p:txBody>
      </p:sp>
      <p:sp>
        <p:nvSpPr>
          <p:cNvPr id="144" name="Text 5"/>
          <p:cNvSpPr txBox="1"/>
          <p:nvPr/>
        </p:nvSpPr>
        <p:spPr>
          <a:xfrm>
            <a:off x="3685981" y="3849275"/>
            <a:ext cx="6991381" cy="1985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 </a:t>
            </a:r>
            <a:r>
              <a:rPr>
                <a:solidFill>
                  <a:srgbClr val="FFFFFF"/>
                </a:solidFill>
              </a:rPr>
              <a:t>dx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Lx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Nx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2 </a:t>
            </a:r>
            <a:r>
              <a:rPr>
                <a:solidFill>
                  <a:srgbClr val="FFFFFF"/>
                </a:solidFill>
              </a:rPr>
              <a:t>dy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Ly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Ny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3 </a:t>
            </a:r>
            <a:r>
              <a:rPr>
                <a:solidFill>
                  <a:srgbClr val="FFFFFF"/>
                </a:solidFill>
              </a:rPr>
              <a:t>dz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Lz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Nz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5 </a:t>
            </a:r>
            <a:r>
              <a:rPr>
                <a:solidFill>
                  <a:srgbClr val="FFFFFF"/>
                </a:solidFill>
              </a:rPr>
              <a:t>dt_max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min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)**</a:t>
            </a:r>
            <a:r>
              <a:rPr>
                <a:solidFill>
                  <a:srgbClr val="FFFFFF"/>
                </a:solidFill>
              </a:rPr>
              <a:t>2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6.0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alpha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6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dt </a:t>
            </a:r>
            <a:r>
              <a:rPr>
                <a:solidFill>
                  <a:srgbClr val="F8F8F2"/>
                </a:solidFill>
              </a:rPr>
              <a:t>&gt;</a:t>
            </a:r>
            <a:r>
              <a:rPr>
                <a:solidFill>
                  <a:srgbClr val="FFFFFF"/>
                </a:solidFill>
              </a:rPr>
              <a:t> dt_max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7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print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f"ВНИМАНИЕ: dt = </a:t>
            </a:r>
            <a:r>
              <a:rPr>
                <a:solidFill>
                  <a:srgbClr val="F8F8F2"/>
                </a:solidFill>
              </a:rPr>
              <a:t>{</a:t>
            </a:r>
            <a:r>
              <a:rPr>
                <a:solidFill>
                  <a:srgbClr val="FFFFFF"/>
                </a:solidFill>
              </a:rPr>
              <a:t>dt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.2e</a:t>
            </a:r>
            <a:r>
              <a:rPr>
                <a:solidFill>
                  <a:srgbClr val="F8F8F2"/>
                </a:solidFill>
              </a:rPr>
              <a:t>}</a:t>
            </a:r>
            <a:r>
              <a:rPr>
                <a:solidFill>
                  <a:srgbClr val="FFFFFF"/>
                </a:solidFill>
              </a:rPr>
              <a:t> &gt; dt_max = </a:t>
            </a:r>
            <a:r>
              <a:rPr>
                <a:solidFill>
                  <a:srgbClr val="F8F8F2"/>
                </a:solidFill>
              </a:rPr>
              <a:t>{</a:t>
            </a:r>
            <a:r>
              <a:rPr>
                <a:solidFill>
                  <a:srgbClr val="FFFFFF"/>
                </a:solidFill>
              </a:rPr>
              <a:t>dt_max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.2e</a:t>
            </a:r>
            <a:r>
              <a:rPr>
                <a:solidFill>
                  <a:srgbClr val="F8F8F2"/>
                </a:solidFill>
              </a:rPr>
              <a:t>}</a:t>
            </a:r>
            <a:r>
              <a:rPr>
                <a:solidFill>
                  <a:srgbClr val="FFFFFF"/>
                </a:solidFill>
              </a:rPr>
              <a:t>”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8F8F2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592A0"/>
                </a:solidFill>
              </a:rPr>
              <a:t>8</a:t>
            </a:r>
            <a:r>
              <a:rPr>
                <a:solidFill>
                  <a:srgbClr val="F8F8F2"/>
                </a:solidFill>
              </a:rPr>
              <a:t>     dt_used = dt_max * 0.95</a:t>
            </a:r>
            <a:endParaRPr>
              <a:solidFill>
                <a:srgbClr val="F8F8F2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592A0"/>
                </a:solidFill>
              </a:rPr>
              <a:t>9</a:t>
            </a:r>
            <a:r>
              <a:rPr>
                <a:solidFill>
                  <a:srgbClr val="F8F8F2"/>
                </a:solidFill>
              </a:rPr>
              <a:t>     print(f"dt автоматически скорректирован до {dt_used:.2e}")</a:t>
            </a:r>
          </a:p>
        </p:txBody>
      </p:sp>
      <p:sp>
        <p:nvSpPr>
          <p:cNvPr id="145" name="Shape 6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7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47" name="Text 8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временной цикл в JAX через lax.scan</a:t>
            </a:r>
          </a:p>
        </p:txBody>
      </p:sp>
      <p:sp>
        <p:nvSpPr>
          <p:cNvPr id="150" name="Text 1"/>
          <p:cNvSpPr txBox="1"/>
          <p:nvPr/>
        </p:nvSpPr>
        <p:spPr>
          <a:xfrm>
            <a:off x="609277" y="1008086"/>
            <a:ext cx="4169477" cy="2863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После выбора шага по времени решатель строит начальное условие и выполняет интегрирование по времени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Вместо обычного Python-цикла используется jax.lax.scan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Это делает реализацию JIT-совместимой и отделяет численный шаг от механики временного цикла</a:t>
            </a:r>
          </a:p>
        </p:txBody>
      </p:sp>
      <p:sp>
        <p:nvSpPr>
          <p:cNvPr id="151" name="Shape 2"/>
          <p:cNvSpPr/>
          <p:nvPr/>
        </p:nvSpPr>
        <p:spPr>
          <a:xfrm>
            <a:off x="4999166" y="1005839"/>
            <a:ext cx="6907068" cy="2680945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2" name="Text 3"/>
          <p:cNvSpPr txBox="1"/>
          <p:nvPr/>
        </p:nvSpPr>
        <p:spPr>
          <a:xfrm>
            <a:off x="5179567" y="1088419"/>
            <a:ext cx="497433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временной цикл</a:t>
            </a:r>
          </a:p>
        </p:txBody>
      </p:sp>
      <p:sp>
        <p:nvSpPr>
          <p:cNvPr id="153" name="Text 4"/>
          <p:cNvSpPr txBox="1"/>
          <p:nvPr/>
        </p:nvSpPr>
        <p:spPr>
          <a:xfrm>
            <a:off x="5145470" y="1225296"/>
            <a:ext cx="6614460" cy="262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FFFFFF"/>
                </a:solidFill>
              </a:rPr>
              <a:t>n_steps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int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round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T </a:t>
            </a:r>
            <a:r>
              <a:rPr>
                <a:solidFill>
                  <a:srgbClr val="F8F8F2"/>
                </a:solidFill>
              </a:rPr>
              <a:t>/</a:t>
            </a:r>
            <a:r>
              <a:rPr>
                <a:solidFill>
                  <a:srgbClr val="FFFFFF"/>
                </a:solidFill>
              </a:rPr>
              <a:t> dt_used</a:t>
            </a:r>
            <a:r>
              <a:rPr>
                <a:solidFill>
                  <a:srgbClr val="F8F8F2"/>
                </a:solidFill>
              </a:rPr>
              <a:t>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n_steps </a:t>
            </a:r>
            <a:r>
              <a:rPr>
                <a:solidFill>
                  <a:srgbClr val="F8F8F2"/>
                </a:solidFill>
              </a:rPr>
              <a:t>&lt;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n_steps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1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u0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create_initial_condition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Nx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Ny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Nz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Lz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scan_body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carry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euler_step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carry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dt_used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alpha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dx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dz</a:t>
            </a:r>
            <a:r>
              <a:rPr>
                <a:solidFill>
                  <a:srgbClr val="F8F8F2"/>
                </a:solidFill>
              </a:rPr>
              <a:t>),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final_u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lax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scan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scan_body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u0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length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n_steps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154" name="Shape 5"/>
          <p:cNvSpPr/>
          <p:nvPr/>
        </p:nvSpPr>
        <p:spPr>
          <a:xfrm>
            <a:off x="3200360" y="4498729"/>
            <a:ext cx="1371601" cy="566929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6"/>
          <p:cNvSpPr txBox="1"/>
          <p:nvPr/>
        </p:nvSpPr>
        <p:spPr>
          <a:xfrm>
            <a:off x="3273512" y="4571881"/>
            <a:ext cx="1225298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u₀</a:t>
            </a:r>
          </a:p>
        </p:txBody>
      </p:sp>
      <p:sp>
        <p:nvSpPr>
          <p:cNvPr id="156" name="Shape 7"/>
          <p:cNvSpPr/>
          <p:nvPr/>
        </p:nvSpPr>
        <p:spPr>
          <a:xfrm>
            <a:off x="4983440" y="4498729"/>
            <a:ext cx="1783081" cy="566929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8"/>
          <p:cNvSpPr txBox="1"/>
          <p:nvPr/>
        </p:nvSpPr>
        <p:spPr>
          <a:xfrm>
            <a:off x="5056592" y="4571881"/>
            <a:ext cx="1636777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scan_body</a:t>
            </a:r>
          </a:p>
        </p:txBody>
      </p:sp>
      <p:sp>
        <p:nvSpPr>
          <p:cNvPr id="158" name="Shape 9"/>
          <p:cNvSpPr/>
          <p:nvPr/>
        </p:nvSpPr>
        <p:spPr>
          <a:xfrm>
            <a:off x="7205433" y="4491972"/>
            <a:ext cx="1463041" cy="566929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10"/>
          <p:cNvSpPr txBox="1"/>
          <p:nvPr/>
        </p:nvSpPr>
        <p:spPr>
          <a:xfrm>
            <a:off x="7278584" y="4565124"/>
            <a:ext cx="1316737" cy="42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final_u</a:t>
            </a:r>
          </a:p>
        </p:txBody>
      </p:sp>
      <p:sp>
        <p:nvSpPr>
          <p:cNvPr id="160" name="Shape 11"/>
          <p:cNvSpPr/>
          <p:nvPr/>
        </p:nvSpPr>
        <p:spPr>
          <a:xfrm>
            <a:off x="4681689" y="4663321"/>
            <a:ext cx="164593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12"/>
          <p:cNvSpPr/>
          <p:nvPr/>
        </p:nvSpPr>
        <p:spPr>
          <a:xfrm>
            <a:off x="6903680" y="4656564"/>
            <a:ext cx="164593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13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14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64" name="Text 15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схема валидации и численные метрики</a:t>
            </a:r>
          </a:p>
        </p:txBody>
      </p:sp>
      <p:sp>
        <p:nvSpPr>
          <p:cNvPr id="167" name="Text 1"/>
          <p:cNvSpPr txBox="1"/>
          <p:nvPr/>
        </p:nvSpPr>
        <p:spPr>
          <a:xfrm>
            <a:off x="749808" y="914400"/>
            <a:ext cx="6675119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04087">
              <a:lnSpc>
                <a:spcPct val="104999"/>
              </a:lnSpc>
              <a:defRPr sz="1232">
                <a:solidFill>
                  <a:srgbClr val="111111"/>
                </a:solidFill>
              </a:defRPr>
            </a:lvl1pPr>
          </a:lstStyle>
          <a:p>
            <a:pPr/>
            <a:r>
              <a:t>Для FDM решение сравнивается с аналитическим эталоном на последовательности сеток.</a:t>
            </a:r>
          </a:p>
        </p:txBody>
      </p:sp>
      <p:pic>
        <p:nvPicPr>
          <p:cNvPr id="16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09559" y="710549"/>
            <a:ext cx="3154556" cy="411231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Text 2"/>
          <p:cNvSpPr txBox="1"/>
          <p:nvPr/>
        </p:nvSpPr>
        <p:spPr>
          <a:xfrm>
            <a:off x="749807" y="1298447"/>
            <a:ext cx="10241282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для каждой сетки вычисляются абсолютные ошибки L₂ и L∞, относительная ошибка L₂ и шаг по времени dt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при измельчении сетки ошибки монотонно уменьшаются</a:t>
            </a:r>
          </a:p>
        </p:txBody>
      </p:sp>
      <p:graphicFrame>
        <p:nvGraphicFramePr>
          <p:cNvPr id="170" name="Table 0"/>
          <p:cNvGraphicFramePr/>
          <p:nvPr/>
        </p:nvGraphicFramePr>
        <p:xfrm>
          <a:off x="1005839" y="2148839"/>
          <a:ext cx="9692641" cy="20574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34440"/>
                <a:gridCol w="2194560"/>
                <a:gridCol w="2194560"/>
                <a:gridCol w="224028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Сетка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L₂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L∞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rel L₂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500">
                          <a:solidFill>
                            <a:srgbClr val="111111"/>
                          </a:solidFill>
                        </a:rPr>
                        <a:t>dt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2.73e-04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8.91e-04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5.27e-03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1.67E-03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21³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7.27e-05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2.21e-04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1.40e-03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4.17E-04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31³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3.30e-05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9.82e-05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6.38e-04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1.85E-04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41³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1.88e-05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5.52e-05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3.63e-04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11111"/>
                          </a:solidFill>
                        </a:rPr>
                        <a:t>1.04E-04</a:t>
                      </a:r>
                    </a:p>
                  </a:txBody>
                  <a:tcPr marL="54864" marR="54864" marT="54864" marB="54864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Shape 3"/>
          <p:cNvSpPr/>
          <p:nvPr/>
        </p:nvSpPr>
        <p:spPr>
          <a:xfrm>
            <a:off x="1005839" y="4892040"/>
            <a:ext cx="10149842" cy="640081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4"/>
          <p:cNvSpPr txBox="1"/>
          <p:nvPr/>
        </p:nvSpPr>
        <p:spPr>
          <a:xfrm>
            <a:off x="1234440" y="5065776"/>
            <a:ext cx="973836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 defTabSz="704087">
              <a:lnSpc>
                <a:spcPct val="104999"/>
              </a:lnSpc>
              <a:defRPr sz="1154">
                <a:solidFill>
                  <a:srgbClr val="111111"/>
                </a:solidFill>
              </a:defRPr>
            </a:pPr>
            <a:r>
              <a:t>Наблюдение: при измельчении сетки ошибки уменьшаются монотонно, что согласуется</a:t>
            </a:r>
          </a:p>
          <a:p>
            <a:pPr algn="ctr" defTabSz="704087">
              <a:lnSpc>
                <a:spcPct val="104999"/>
              </a:lnSpc>
              <a:defRPr sz="1154">
                <a:solidFill>
                  <a:srgbClr val="111111"/>
                </a:solidFill>
              </a:defRPr>
            </a:pPr>
            <a:r>
              <a:t>с корректной реализацией схемы.</a:t>
            </a:r>
          </a:p>
        </p:txBody>
      </p:sp>
      <p:sp>
        <p:nvSpPr>
          <p:cNvPr id="173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75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визуальное сравнение с точным решением</a:t>
            </a:r>
          </a:p>
        </p:txBody>
      </p:sp>
      <p:sp>
        <p:nvSpPr>
          <p:cNvPr id="178" name="Text 1"/>
          <p:cNvSpPr txBox="1"/>
          <p:nvPr/>
        </p:nvSpPr>
        <p:spPr>
          <a:xfrm>
            <a:off x="749807" y="914400"/>
            <a:ext cx="10149842" cy="118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Сравниваются точное решение, численное решение FDM и карта абсолютной ошибки для t = 1.0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Форма численного решения практически совпадает с аналитическим эталоном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Ошибка мала на всей области и не искажает структуру решения</a:t>
            </a:r>
          </a:p>
        </p:txBody>
      </p:sp>
      <p:sp>
        <p:nvSpPr>
          <p:cNvPr id="179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81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14</a:t>
            </a:r>
          </a:p>
        </p:txBody>
      </p:sp>
      <p:pic>
        <p:nvPicPr>
          <p:cNvPr id="182" name="fdm_slice_t_1_0.png" descr="fdm_slice_t_1_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2363560"/>
            <a:ext cx="10881360" cy="36320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FDM: исследование сходимости</a:t>
            </a:r>
          </a:p>
        </p:txBody>
      </p:sp>
      <p:sp>
        <p:nvSpPr>
          <p:cNvPr id="185" name="Text 1"/>
          <p:cNvSpPr txBox="1"/>
          <p:nvPr/>
        </p:nvSpPr>
        <p:spPr>
          <a:xfrm>
            <a:off x="749808" y="914400"/>
            <a:ext cx="5154186" cy="118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• На логарифмическом графике показано уменьшение ошибки FDM при уменьшении шага сетки</a:t>
            </a:r>
          </a:p>
          <a:p>
            <a:pPr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• Полученные оценки практически совпадают с теоретическим вторым порядком</a:t>
            </a:r>
          </a:p>
          <a:p>
            <a:pPr defTabSz="786384">
              <a:lnSpc>
                <a:spcPct val="104999"/>
              </a:lnSpc>
              <a:defRPr sz="1376">
                <a:solidFill>
                  <a:srgbClr val="111111"/>
                </a:solidFill>
              </a:defRPr>
            </a:pPr>
            <a:r>
              <a:t>• Это подтверждает корректную реализацию центральных разностей второго порядка</a:t>
            </a:r>
          </a:p>
        </p:txBody>
      </p:sp>
      <p:sp>
        <p:nvSpPr>
          <p:cNvPr id="186" name="Shape 2"/>
          <p:cNvSpPr/>
          <p:nvPr/>
        </p:nvSpPr>
        <p:spPr>
          <a:xfrm>
            <a:off x="6489895" y="1120139"/>
            <a:ext cx="5074921" cy="77724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66425" y="1197700"/>
            <a:ext cx="4721861" cy="6155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4439" y="3131013"/>
            <a:ext cx="3899165" cy="508300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191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15</a:t>
            </a:r>
          </a:p>
        </p:txBody>
      </p:sp>
      <p:pic>
        <p:nvPicPr>
          <p:cNvPr id="192" name="fdm_convergence.png" descr="fdm_convergenc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3484" y="2658382"/>
            <a:ext cx="10032332" cy="32539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Математическая идея PINN</a:t>
            </a:r>
          </a:p>
        </p:txBody>
      </p:sp>
      <p:sp>
        <p:nvSpPr>
          <p:cNvPr id="195" name="Text 1"/>
          <p:cNvSpPr txBox="1"/>
          <p:nvPr/>
        </p:nvSpPr>
        <p:spPr>
          <a:xfrm>
            <a:off x="749808" y="914400"/>
            <a:ext cx="5212080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768095">
              <a:lnSpc>
                <a:spcPct val="104999"/>
              </a:lnSpc>
              <a:defRPr sz="1344">
                <a:solidFill>
                  <a:srgbClr val="111111"/>
                </a:solidFill>
              </a:defRPr>
            </a:lvl1pPr>
          </a:lstStyle>
          <a:p>
            <a:pPr/>
            <a:r>
              <a:t>В PINN решение представляется нейросетевой аппроксимацией.</a:t>
            </a:r>
          </a:p>
        </p:txBody>
      </p:sp>
      <p:pic>
        <p:nvPicPr>
          <p:cNvPr id="19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3157" y="1201519"/>
            <a:ext cx="4720293" cy="615343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ext 2"/>
          <p:cNvSpPr txBox="1"/>
          <p:nvPr/>
        </p:nvSpPr>
        <p:spPr>
          <a:xfrm>
            <a:off x="749807" y="1847088"/>
            <a:ext cx="4023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77823">
              <a:lnSpc>
                <a:spcPct val="104999"/>
              </a:lnSpc>
              <a:defRPr sz="1536">
                <a:solidFill>
                  <a:srgbClr val="2C8C69"/>
                </a:solidFill>
              </a:defRPr>
            </a:lvl1pPr>
          </a:lstStyle>
          <a:p>
            <a:pPr/>
            <a:r>
              <a:t>На вход сети подаются координаты и время</a:t>
            </a:r>
          </a:p>
        </p:txBody>
      </p:sp>
      <p:pic>
        <p:nvPicPr>
          <p:cNvPr id="19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6111" y="2139695"/>
            <a:ext cx="4275357" cy="557341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Text 3"/>
          <p:cNvSpPr txBox="1"/>
          <p:nvPr/>
        </p:nvSpPr>
        <p:spPr>
          <a:xfrm>
            <a:off x="749807" y="2743200"/>
            <a:ext cx="5166362" cy="2103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сеть обучается минимизировать невязку исходного уравнения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одновременно учитываются начальные и граничные условия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производные u_t, u_xx, u_yy, u_zz вычисляются через automatic differentiation JAX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решение задаётся как непрерывная аппроксимация функции в пространстве (x,y,z,t)</a:t>
            </a:r>
          </a:p>
        </p:txBody>
      </p:sp>
      <p:sp>
        <p:nvSpPr>
          <p:cNvPr id="200" name="Shape 4"/>
          <p:cNvSpPr/>
          <p:nvPr/>
        </p:nvSpPr>
        <p:spPr>
          <a:xfrm>
            <a:off x="6363325" y="3040379"/>
            <a:ext cx="1691641" cy="777241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5"/>
          <p:cNvSpPr txBox="1"/>
          <p:nvPr/>
        </p:nvSpPr>
        <p:spPr>
          <a:xfrm>
            <a:off x="6436477" y="3113531"/>
            <a:ext cx="1545337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Координаты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(x,y,z,t)</a:t>
            </a:r>
          </a:p>
        </p:txBody>
      </p:sp>
      <p:sp>
        <p:nvSpPr>
          <p:cNvPr id="202" name="Shape 6"/>
          <p:cNvSpPr/>
          <p:nvPr/>
        </p:nvSpPr>
        <p:spPr>
          <a:xfrm>
            <a:off x="8146405" y="3287267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Shape 7"/>
          <p:cNvSpPr/>
          <p:nvPr/>
        </p:nvSpPr>
        <p:spPr>
          <a:xfrm>
            <a:off x="8557885" y="2720339"/>
            <a:ext cx="1554481" cy="1417321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8"/>
          <p:cNvSpPr txBox="1"/>
          <p:nvPr/>
        </p:nvSpPr>
        <p:spPr>
          <a:xfrm>
            <a:off x="8631037" y="2793491"/>
            <a:ext cx="1408177" cy="1271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MLP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Physics-Informed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Neural Network</a:t>
            </a:r>
          </a:p>
        </p:txBody>
      </p:sp>
      <p:sp>
        <p:nvSpPr>
          <p:cNvPr id="205" name="Shape 9"/>
          <p:cNvSpPr/>
          <p:nvPr/>
        </p:nvSpPr>
        <p:spPr>
          <a:xfrm>
            <a:off x="10203805" y="3287267"/>
            <a:ext cx="201169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10"/>
          <p:cNvSpPr/>
          <p:nvPr/>
        </p:nvSpPr>
        <p:spPr>
          <a:xfrm>
            <a:off x="10615285" y="3040379"/>
            <a:ext cx="1005841" cy="777241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1"/>
          <p:cNvSpPr txBox="1"/>
          <p:nvPr/>
        </p:nvSpPr>
        <p:spPr>
          <a:xfrm>
            <a:off x="10688437" y="3113531"/>
            <a:ext cx="859537" cy="630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û</a:t>
            </a:r>
          </a:p>
        </p:txBody>
      </p:sp>
      <p:sp>
        <p:nvSpPr>
          <p:cNvPr id="208" name="Shape 1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1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10" name="Text 1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архитектура сети и гиперпараметры</a:t>
            </a:r>
          </a:p>
        </p:txBody>
      </p:sp>
      <p:sp>
        <p:nvSpPr>
          <p:cNvPr id="213" name="Shape 1"/>
          <p:cNvSpPr/>
          <p:nvPr/>
        </p:nvSpPr>
        <p:spPr>
          <a:xfrm>
            <a:off x="777240" y="1005839"/>
            <a:ext cx="3840480" cy="5212081"/>
          </a:xfrm>
          <a:prstGeom prst="roundRect">
            <a:avLst>
              <a:gd name="adj" fmla="val 16667"/>
            </a:avLst>
          </a:prstGeom>
          <a:solidFill>
            <a:srgbClr val="FBFCF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"/>
          <p:cNvSpPr txBox="1"/>
          <p:nvPr/>
        </p:nvSpPr>
        <p:spPr>
          <a:xfrm>
            <a:off x="2023756" y="1187596"/>
            <a:ext cx="134744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Архитектура</a:t>
            </a:r>
          </a:p>
        </p:txBody>
      </p:sp>
      <p:sp>
        <p:nvSpPr>
          <p:cNvPr id="215" name="Text 3"/>
          <p:cNvSpPr txBox="1"/>
          <p:nvPr/>
        </p:nvSpPr>
        <p:spPr>
          <a:xfrm>
            <a:off x="1074419" y="1564298"/>
            <a:ext cx="3246122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вход: 4 переменные (x,y,z,t)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скрытых слоёв: 5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ширина слоя: 96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выход: 1 значение u(x,y,z,t)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эквивалентная схема: [4,96,96,96,96,96,1]</a:t>
            </a:r>
          </a:p>
        </p:txBody>
      </p:sp>
      <p:sp>
        <p:nvSpPr>
          <p:cNvPr id="216" name="Shape 4"/>
          <p:cNvSpPr/>
          <p:nvPr/>
        </p:nvSpPr>
        <p:spPr>
          <a:xfrm>
            <a:off x="1143000" y="4069079"/>
            <a:ext cx="2971800" cy="868681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5"/>
          <p:cNvSpPr txBox="1"/>
          <p:nvPr/>
        </p:nvSpPr>
        <p:spPr>
          <a:xfrm>
            <a:off x="1216152" y="4142232"/>
            <a:ext cx="2825496" cy="72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[4, 96, 96, 96, 96, 96, 1]</a:t>
            </a:r>
          </a:p>
        </p:txBody>
      </p:sp>
      <p:sp>
        <p:nvSpPr>
          <p:cNvPr id="218" name="Text 6"/>
          <p:cNvSpPr txBox="1"/>
          <p:nvPr/>
        </p:nvSpPr>
        <p:spPr>
          <a:xfrm>
            <a:off x="1143000" y="5074920"/>
            <a:ext cx="29718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algn="ctr">
              <a:lnSpc>
                <a:spcPct val="104999"/>
              </a:lnSpc>
              <a:defRPr sz="1500">
                <a:solidFill>
                  <a:srgbClr val="6B7280"/>
                </a:solidFill>
              </a:defRPr>
            </a:pPr>
            <a:r>
              <a:t>tanh на скрытых слоях,</a:t>
            </a:r>
          </a:p>
          <a:p>
            <a:pPr algn="ctr">
              <a:lnSpc>
                <a:spcPct val="104999"/>
              </a:lnSpc>
              <a:defRPr sz="1500">
                <a:solidFill>
                  <a:srgbClr val="6B7280"/>
                </a:solidFill>
              </a:defRPr>
            </a:pPr>
            <a:r>
              <a:t>линейный выход</a:t>
            </a:r>
          </a:p>
        </p:txBody>
      </p:sp>
      <p:graphicFrame>
        <p:nvGraphicFramePr>
          <p:cNvPr id="219" name="Table 0"/>
          <p:cNvGraphicFramePr/>
          <p:nvPr/>
        </p:nvGraphicFramePr>
        <p:xfrm>
          <a:off x="4937759" y="1097280"/>
          <a:ext cx="5897881" cy="370332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61188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111111"/>
                          </a:solidFill>
                        </a:rPr>
                        <a:t>Параметр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111111"/>
                          </a:solidFill>
                        </a:rPr>
                        <a:t>Значение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epochs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8000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learning_rate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0.001 → 0.0001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n_residual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12000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n_boundary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2000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n_initial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2000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λ_pde / λ_bc / λ_ic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1 / 10 / 10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hard constraints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true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eval_grid_size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111111"/>
                          </a:solidFill>
                        </a:rPr>
                        <a:t>21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D7DCE2"/>
                      </a:solidFill>
                    </a:lnL>
                    <a:lnR w="12700">
                      <a:solidFill>
                        <a:srgbClr val="D7DCE2"/>
                      </a:solidFill>
                    </a:lnR>
                    <a:lnT w="12700">
                      <a:solidFill>
                        <a:srgbClr val="D7DCE2"/>
                      </a:solidFill>
                    </a:lnT>
                    <a:lnB w="12700">
                      <a:solidFill>
                        <a:srgbClr val="D7DC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22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код архитектуры MLP</a:t>
            </a:r>
          </a:p>
        </p:txBody>
      </p:sp>
      <p:sp>
        <p:nvSpPr>
          <p:cNvPr id="225" name="Text 1"/>
          <p:cNvSpPr txBox="1"/>
          <p:nvPr/>
        </p:nvSpPr>
        <p:spPr>
          <a:xfrm>
            <a:off x="749807" y="896111"/>
            <a:ext cx="1024128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Показаны инициализация параметров MLP и прямой проход сети.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Скрытые слои используют tanh, выходной слой - линейный.</a:t>
            </a:r>
          </a:p>
        </p:txBody>
      </p:sp>
      <p:sp>
        <p:nvSpPr>
          <p:cNvPr id="226" name="Shape 2"/>
          <p:cNvSpPr/>
          <p:nvPr/>
        </p:nvSpPr>
        <p:spPr>
          <a:xfrm>
            <a:off x="841247" y="1572767"/>
            <a:ext cx="10479025" cy="4526281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Text 3"/>
          <p:cNvSpPr txBox="1"/>
          <p:nvPr/>
        </p:nvSpPr>
        <p:spPr>
          <a:xfrm>
            <a:off x="1005839" y="1664716"/>
            <a:ext cx="70774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src/pinn_solver.py</a:t>
            </a:r>
          </a:p>
        </p:txBody>
      </p:sp>
      <p:sp>
        <p:nvSpPr>
          <p:cNvPr id="228" name="Text 4"/>
          <p:cNvSpPr txBox="1"/>
          <p:nvPr/>
        </p:nvSpPr>
        <p:spPr>
          <a:xfrm>
            <a:off x="987552" y="1792223"/>
            <a:ext cx="10186416" cy="4251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init_mlp_params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layer_sizes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key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keys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split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key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len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layer_sizes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params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[]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k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in_dim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out_dim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zip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keys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zip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layer_sizes</a:t>
            </a:r>
            <a:r>
              <a:rPr>
                <a:solidFill>
                  <a:srgbClr val="F8F8F2"/>
                </a:solidFill>
              </a:rPr>
              <a:t>[:-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layer_sizes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:])):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    W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_glorot_std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in_dim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out_dim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normal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in_dim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out_dim</a:t>
            </a:r>
            <a:r>
              <a:rPr>
                <a:solidFill>
                  <a:srgbClr val="F8F8F2"/>
                </a:solidFill>
              </a:rPr>
              <a:t>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    b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zeros</a:t>
            </a:r>
            <a:r>
              <a:rPr>
                <a:solidFill>
                  <a:srgbClr val="F8F8F2"/>
                </a:solidFill>
              </a:rPr>
              <a:t>((</a:t>
            </a:r>
            <a:r>
              <a:rPr>
                <a:solidFill>
                  <a:srgbClr val="FFFFFF"/>
                </a:solidFill>
              </a:rPr>
              <a:t>out_dim</a:t>
            </a:r>
            <a:r>
              <a:rPr>
                <a:solidFill>
                  <a:srgbClr val="F8F8F2"/>
                </a:solidFill>
              </a:rPr>
              <a:t>,))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FFFFFF"/>
                </a:solidFill>
              </a:rPr>
              <a:t>        params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append</a:t>
            </a:r>
            <a:r>
              <a:rPr>
                <a:solidFill>
                  <a:srgbClr val="F8F8F2"/>
                </a:solidFill>
              </a:rPr>
              <a:t>({</a:t>
            </a:r>
            <a:r>
              <a:rPr>
                <a:solidFill>
                  <a:srgbClr val="FFFFFF"/>
                </a:solidFill>
              </a:rPr>
              <a:t>"W"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W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"b"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b</a:t>
            </a:r>
            <a:r>
              <a:rPr>
                <a:solidFill>
                  <a:srgbClr val="F8F8F2"/>
                </a:solidFill>
              </a:rPr>
              <a:t>})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params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forward_mlp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]],</a:t>
            </a:r>
            <a:r>
              <a:rPr>
                <a:solidFill>
                  <a:srgbClr val="FFFFFF"/>
                </a:solidFill>
              </a:rPr>
              <a:t> x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h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x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layer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params</a:t>
            </a:r>
            <a:r>
              <a:rPr>
                <a:solidFill>
                  <a:srgbClr val="F8F8F2"/>
                </a:solidFill>
              </a:rPr>
              <a:t>[:-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13 </a:t>
            </a:r>
            <a:r>
              <a:rPr>
                <a:solidFill>
                  <a:srgbClr val="FFFFFF"/>
                </a:solidFill>
              </a:rPr>
              <a:t>        h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tanh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h @ layer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"W"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layer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"b"</a:t>
            </a:r>
            <a:r>
              <a:rPr>
                <a:solidFill>
                  <a:srgbClr val="F8F8F2"/>
                </a:solidFill>
              </a:rPr>
              <a:t>])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14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h @ params</a:t>
            </a:r>
            <a:r>
              <a:rPr>
                <a:solidFill>
                  <a:srgbClr val="F8F8F2"/>
                </a:solidFill>
              </a:rPr>
              <a:t>[-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][</a:t>
            </a:r>
            <a:r>
              <a:rPr>
                <a:solidFill>
                  <a:srgbClr val="FFFFFF"/>
                </a:solidFill>
              </a:rPr>
              <a:t>"W"</a:t>
            </a:r>
            <a:r>
              <a:rPr>
                <a:solidFill>
                  <a:srgbClr val="F8F8F2"/>
                </a:solidFill>
              </a:rPr>
              <a:t>]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params</a:t>
            </a:r>
            <a:r>
              <a:rPr>
                <a:solidFill>
                  <a:srgbClr val="F8F8F2"/>
                </a:solidFill>
              </a:rPr>
              <a:t>[-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][</a:t>
            </a:r>
            <a:r>
              <a:rPr>
                <a:solidFill>
                  <a:srgbClr val="FFFFFF"/>
                </a:solidFill>
              </a:rPr>
              <a:t>"b"</a:t>
            </a:r>
            <a:r>
              <a:rPr>
                <a:solidFill>
                  <a:srgbClr val="F8F8F2"/>
                </a:solidFill>
              </a:rPr>
              <a:t>]</a:t>
            </a:r>
          </a:p>
        </p:txBody>
      </p:sp>
      <p:sp>
        <p:nvSpPr>
          <p:cNvPr id="229" name="Shape 10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11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31" name="Text 12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жёсткое наложение условий и преобразование выхода</a:t>
            </a:r>
          </a:p>
        </p:txBody>
      </p:sp>
      <p:sp>
        <p:nvSpPr>
          <p:cNvPr id="234" name="Text 1"/>
          <p:cNvSpPr txBox="1"/>
          <p:nvPr/>
        </p:nvSpPr>
        <p:spPr>
          <a:xfrm>
            <a:off x="749807" y="896111"/>
            <a:ext cx="10149842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В данной реализации начальные и граничные условия не только учитываются в </a:t>
            </a:r>
            <a:r>
              <a:rPr b="1"/>
              <a:t>функции потерь</a:t>
            </a:r>
            <a:r>
              <a:t>, но и встраиваются непосредственно в форму решения.</a:t>
            </a:r>
          </a:p>
        </p:txBody>
      </p:sp>
      <p:sp>
        <p:nvSpPr>
          <p:cNvPr id="235" name="Shape 2"/>
          <p:cNvSpPr/>
          <p:nvPr/>
        </p:nvSpPr>
        <p:spPr>
          <a:xfrm>
            <a:off x="3401567" y="2360187"/>
            <a:ext cx="4846322" cy="841249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39311" y="2495918"/>
            <a:ext cx="4370834" cy="569787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3"/>
          <p:cNvSpPr txBox="1"/>
          <p:nvPr/>
        </p:nvSpPr>
        <p:spPr>
          <a:xfrm>
            <a:off x="740918" y="3578137"/>
            <a:ext cx="10679684" cy="237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u₀ - точное начальное условие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τ - временной множитель, равный нулю при t = 0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env - пространственная оболочка, обращающаяся в ноль на границе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raw_out - необработанный выход нейросети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следствие: при t = 0 выполняется u = u₀, а на границе - u = 0</a:t>
            </a:r>
          </a:p>
        </p:txBody>
      </p:sp>
      <p:sp>
        <p:nvSpPr>
          <p:cNvPr id="238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40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код output transform</a:t>
            </a:r>
          </a:p>
        </p:txBody>
      </p:sp>
      <p:sp>
        <p:nvSpPr>
          <p:cNvPr id="243" name="Text 1"/>
          <p:cNvSpPr txBox="1"/>
          <p:nvPr/>
        </p:nvSpPr>
        <p:spPr>
          <a:xfrm>
            <a:off x="749808" y="896111"/>
            <a:ext cx="77724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Hard constraints встроены непосредственно в вычисление предсказания сети.</a:t>
            </a:r>
          </a:p>
        </p:txBody>
      </p:sp>
      <p:sp>
        <p:nvSpPr>
          <p:cNvPr id="244" name="Shape 2"/>
          <p:cNvSpPr/>
          <p:nvPr/>
        </p:nvSpPr>
        <p:spPr>
          <a:xfrm>
            <a:off x="841247" y="1508760"/>
            <a:ext cx="10424161" cy="4617721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5" name="Text 3"/>
          <p:cNvSpPr txBox="1"/>
          <p:nvPr/>
        </p:nvSpPr>
        <p:spPr>
          <a:xfrm>
            <a:off x="1005839" y="1600707"/>
            <a:ext cx="100949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src/pinn_solver.py</a:t>
            </a:r>
          </a:p>
        </p:txBody>
      </p:sp>
      <p:sp>
        <p:nvSpPr>
          <p:cNvPr id="246" name="Text 4"/>
          <p:cNvSpPr txBox="1"/>
          <p:nvPr/>
        </p:nvSpPr>
        <p:spPr>
          <a:xfrm>
            <a:off x="987551" y="1728216"/>
            <a:ext cx="10131554" cy="434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apply_output_transform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raw_out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points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u0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initial_condition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tau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time_factor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r>
              <a:rPr>
                <a:solidFill>
                  <a:srgbClr val="FFFFFF"/>
                </a:solidFill>
              </a:rPr>
              <a:t>    env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boundary_envelope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1.0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tau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u0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tau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env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raw_out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predict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]],</a:t>
            </a:r>
            <a:r>
              <a:rPr>
                <a:solidFill>
                  <a:srgbClr val="FFFFFF"/>
                </a:solidFill>
              </a:rPr>
              <a:t> points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raw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forward_mlp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normalize_inputs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use_hard_constraints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apply_output_transform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raw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points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raw</a:t>
            </a:r>
          </a:p>
        </p:txBody>
      </p:sp>
      <p:sp>
        <p:nvSpPr>
          <p:cNvPr id="247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49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PDE residual через автоматическое дифференцирование</a:t>
            </a:r>
          </a:p>
        </p:txBody>
      </p:sp>
      <p:sp>
        <p:nvSpPr>
          <p:cNvPr id="252" name="Text 1"/>
          <p:cNvSpPr txBox="1"/>
          <p:nvPr/>
        </p:nvSpPr>
        <p:spPr>
          <a:xfrm>
            <a:off x="749808" y="914400"/>
            <a:ext cx="594360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defTabSz="832104">
              <a:lnSpc>
                <a:spcPct val="104999"/>
              </a:lnSpc>
              <a:defRPr sz="1456">
                <a:solidFill>
                  <a:srgbClr val="111111"/>
                </a:solidFill>
              </a:defRPr>
            </a:lvl1pPr>
          </a:lstStyle>
          <a:p>
            <a:pPr/>
            <a:r>
              <a:t>PINN обучается по невязке исходного уравнения теплопроводности.</a:t>
            </a:r>
          </a:p>
        </p:txBody>
      </p:sp>
      <p:pic>
        <p:nvPicPr>
          <p:cNvPr id="2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6111" y="1280160"/>
            <a:ext cx="3156468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ext 2"/>
          <p:cNvSpPr txBox="1"/>
          <p:nvPr/>
        </p:nvSpPr>
        <p:spPr>
          <a:xfrm>
            <a:off x="749807" y="2011679"/>
            <a:ext cx="5303522" cy="20116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u_t вычисляется через jax.grad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вторые производные по пространству получаются через вложенные вызовы jax.grad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из производных формируется невязка PDE в каждой collocation-точке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сеть обучается не только по значениям, а по выполнению физического уравнения</a:t>
            </a:r>
          </a:p>
        </p:txBody>
      </p:sp>
      <p:sp>
        <p:nvSpPr>
          <p:cNvPr id="255" name="Shape 3"/>
          <p:cNvSpPr/>
          <p:nvPr/>
        </p:nvSpPr>
        <p:spPr>
          <a:xfrm>
            <a:off x="6675119" y="1828800"/>
            <a:ext cx="1508761" cy="685800"/>
          </a:xfrm>
          <a:prstGeom prst="roundRect">
            <a:avLst>
              <a:gd name="adj" fmla="val 16667"/>
            </a:avLst>
          </a:prstGeom>
          <a:solidFill>
            <a:srgbClr val="EAF1FF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4"/>
          <p:cNvSpPr txBox="1"/>
          <p:nvPr/>
        </p:nvSpPr>
        <p:spPr>
          <a:xfrm>
            <a:off x="6748271" y="1901951"/>
            <a:ext cx="1362457" cy="53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point</a:t>
            </a:r>
          </a:p>
        </p:txBody>
      </p:sp>
      <p:sp>
        <p:nvSpPr>
          <p:cNvPr id="257" name="Shape 5"/>
          <p:cNvSpPr/>
          <p:nvPr/>
        </p:nvSpPr>
        <p:spPr>
          <a:xfrm>
            <a:off x="8229600" y="2029967"/>
            <a:ext cx="182880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Shape 6"/>
          <p:cNvSpPr/>
          <p:nvPr/>
        </p:nvSpPr>
        <p:spPr>
          <a:xfrm>
            <a:off x="8549640" y="1600200"/>
            <a:ext cx="1508761" cy="11430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7"/>
          <p:cNvSpPr txBox="1"/>
          <p:nvPr/>
        </p:nvSpPr>
        <p:spPr>
          <a:xfrm>
            <a:off x="8622792" y="1673351"/>
            <a:ext cx="1362457" cy="9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sz="1300">
                <a:solidFill>
                  <a:srgbClr val="111111"/>
                </a:solidFill>
              </a:defRPr>
            </a:pPr>
            <a:r>
              <a:t>jax.grad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1-я и 2-я</a:t>
            </a:r>
          </a:p>
          <a:p>
            <a:pPr algn="ctr">
              <a:defRPr sz="1300">
                <a:solidFill>
                  <a:srgbClr val="111111"/>
                </a:solidFill>
              </a:defRPr>
            </a:pPr>
            <a:r>
              <a:t>производные</a:t>
            </a:r>
          </a:p>
        </p:txBody>
      </p:sp>
      <p:sp>
        <p:nvSpPr>
          <p:cNvPr id="260" name="Shape 8"/>
          <p:cNvSpPr/>
          <p:nvPr/>
        </p:nvSpPr>
        <p:spPr>
          <a:xfrm>
            <a:off x="10104119" y="2029967"/>
            <a:ext cx="182881" cy="256033"/>
          </a:xfrm>
          <a:prstGeom prst="chevron">
            <a:avLst>
              <a:gd name="adj" fmla="val 50000"/>
            </a:avLst>
          </a:prstGeom>
          <a:solidFill>
            <a:srgbClr val="2C8C69"/>
          </a:solidFill>
          <a:ln w="12700">
            <a:solidFill>
              <a:srgbClr val="2C8C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Shape 9"/>
          <p:cNvSpPr/>
          <p:nvPr/>
        </p:nvSpPr>
        <p:spPr>
          <a:xfrm>
            <a:off x="10424159" y="1828800"/>
            <a:ext cx="960121" cy="6858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10"/>
          <p:cNvSpPr txBox="1"/>
          <p:nvPr/>
        </p:nvSpPr>
        <p:spPr>
          <a:xfrm>
            <a:off x="10497311" y="1901951"/>
            <a:ext cx="813817" cy="53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111111"/>
                </a:solidFill>
              </a:defRPr>
            </a:lvl1pPr>
          </a:lstStyle>
          <a:p>
            <a:pPr/>
            <a:r>
              <a:t>r</a:t>
            </a:r>
          </a:p>
        </p:txBody>
      </p:sp>
      <p:sp>
        <p:nvSpPr>
          <p:cNvPr id="263" name="Shape 16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17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65" name="Text 18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код вычисления PDE residual</a:t>
            </a:r>
          </a:p>
        </p:txBody>
      </p:sp>
      <p:sp>
        <p:nvSpPr>
          <p:cNvPr id="268" name="Text 1"/>
          <p:cNvSpPr txBox="1"/>
          <p:nvPr/>
        </p:nvSpPr>
        <p:spPr>
          <a:xfrm>
            <a:off x="749808" y="896111"/>
            <a:ext cx="8229601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Ниже показано вычисление производных и формирование невязки уравнения.</a:t>
            </a:r>
          </a:p>
        </p:txBody>
      </p:sp>
      <p:sp>
        <p:nvSpPr>
          <p:cNvPr id="269" name="Shape 2"/>
          <p:cNvSpPr/>
          <p:nvPr/>
        </p:nvSpPr>
        <p:spPr>
          <a:xfrm>
            <a:off x="410288" y="1509013"/>
            <a:ext cx="11358724" cy="4663442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0" name="Text 3"/>
          <p:cNvSpPr txBox="1"/>
          <p:nvPr/>
        </p:nvSpPr>
        <p:spPr>
          <a:xfrm>
            <a:off x="574879" y="1600961"/>
            <a:ext cx="753465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src/pinn_solver.py</a:t>
            </a:r>
          </a:p>
        </p:txBody>
      </p:sp>
      <p:sp>
        <p:nvSpPr>
          <p:cNvPr id="271" name="Text 4"/>
          <p:cNvSpPr txBox="1"/>
          <p:nvPr/>
        </p:nvSpPr>
        <p:spPr>
          <a:xfrm>
            <a:off x="556592" y="1728469"/>
            <a:ext cx="10972801" cy="4389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pde_residual_single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list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]],</a:t>
            </a:r>
            <a:r>
              <a:rPr>
                <a:solidFill>
                  <a:srgbClr val="FFFFFF"/>
                </a:solidFill>
              </a:rPr>
              <a:t> point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-&gt;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grad_u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u_t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grad_u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3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du_dx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_point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0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du_dy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_point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du_dz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_point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_scalar_predict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argnums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_point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13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14 </a:t>
            </a:r>
            <a:r>
              <a:rPr>
                <a:solidFill>
                  <a:srgbClr val="FFFFFF"/>
                </a:solidFill>
              </a:rPr>
              <a:t>    u_xx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du_dx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point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0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15 </a:t>
            </a:r>
            <a:r>
              <a:rPr>
                <a:solidFill>
                  <a:srgbClr val="FFFFFF"/>
                </a:solidFill>
              </a:rPr>
              <a:t>    u_yy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du_dy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point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16 </a:t>
            </a:r>
            <a:r>
              <a:rPr>
                <a:solidFill>
                  <a:srgbClr val="FFFFFF"/>
                </a:solidFill>
              </a:rPr>
              <a:t>    u_zz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grad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du_dz</a:t>
            </a:r>
            <a:r>
              <a:rPr>
                <a:solidFill>
                  <a:srgbClr val="F8F8F2"/>
                </a:solidFill>
              </a:rPr>
              <a:t>)(</a:t>
            </a:r>
            <a:r>
              <a:rPr>
                <a:solidFill>
                  <a:srgbClr val="FFFFFF"/>
                </a:solidFill>
              </a:rPr>
              <a:t>point</a:t>
            </a:r>
            <a:r>
              <a:rPr>
                <a:solidFill>
                  <a:srgbClr val="F8F8F2"/>
                </a:solidFill>
              </a:rPr>
              <a:t>)[</a:t>
            </a:r>
            <a:r>
              <a:rPr>
                <a:solidFill>
                  <a:srgbClr val="FFFFFF"/>
                </a:solidFill>
              </a:rPr>
              <a:t>2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17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return</a:t>
            </a:r>
            <a:r>
              <a:rPr>
                <a:solidFill>
                  <a:srgbClr val="FFFFFF"/>
                </a:solidFill>
              </a:rPr>
              <a:t> u_t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alpha </a:t>
            </a:r>
            <a:r>
              <a:rPr>
                <a:solidFill>
                  <a:srgbClr val="F8F8F2"/>
                </a:solidFill>
              </a:rPr>
              <a:t>*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u_xx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u_yy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u_zz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272" name="Shape 10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11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74" name="Text 12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функция потерь</a:t>
            </a:r>
          </a:p>
        </p:txBody>
      </p:sp>
      <p:sp>
        <p:nvSpPr>
          <p:cNvPr id="277" name="Text 1"/>
          <p:cNvSpPr txBox="1"/>
          <p:nvPr/>
        </p:nvSpPr>
        <p:spPr>
          <a:xfrm>
            <a:off x="749808" y="896111"/>
            <a:ext cx="100584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Общая функция потерь складывается из PDE-компоненты и компонентов,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связанных с граничными и начальными условиями.</a:t>
            </a:r>
          </a:p>
        </p:txBody>
      </p:sp>
      <p:sp>
        <p:nvSpPr>
          <p:cNvPr id="278" name="Shape 2"/>
          <p:cNvSpPr/>
          <p:nvPr/>
        </p:nvSpPr>
        <p:spPr>
          <a:xfrm>
            <a:off x="653874" y="1645919"/>
            <a:ext cx="4846321" cy="868681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8943" y="1715497"/>
            <a:ext cx="5596182" cy="729525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Text 3"/>
          <p:cNvSpPr txBox="1"/>
          <p:nvPr/>
        </p:nvSpPr>
        <p:spPr>
          <a:xfrm>
            <a:off x="749807" y="2761488"/>
            <a:ext cx="5303522" cy="192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loss_pde - квадрат невязки PDE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loss_bc - ошибка выполнения граничных условий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loss_ic - ошибка выполнения начального условия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при use_hard_constraints = true компоненты BC и IC становятся несущественными</a:t>
            </a:r>
          </a:p>
        </p:txBody>
      </p:sp>
      <p:sp>
        <p:nvSpPr>
          <p:cNvPr id="281" name="Shape 4"/>
          <p:cNvSpPr/>
          <p:nvPr/>
        </p:nvSpPr>
        <p:spPr>
          <a:xfrm>
            <a:off x="6126479" y="1508760"/>
            <a:ext cx="4983481" cy="4526280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2" name="Text 5"/>
          <p:cNvSpPr txBox="1"/>
          <p:nvPr/>
        </p:nvSpPr>
        <p:spPr>
          <a:xfrm>
            <a:off x="6291071" y="1600707"/>
            <a:ext cx="46542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loss_terms</a:t>
            </a:r>
          </a:p>
        </p:txBody>
      </p:sp>
      <p:sp>
        <p:nvSpPr>
          <p:cNvPr id="283" name="Text 6"/>
          <p:cNvSpPr txBox="1"/>
          <p:nvPr/>
        </p:nvSpPr>
        <p:spPr>
          <a:xfrm>
            <a:off x="6272784" y="1728216"/>
            <a:ext cx="4690872" cy="4251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loss_terms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Dict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str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Array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pde_residual_batch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"x_r"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loss_pde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mean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r 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use_hard_constraints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    loss_bc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array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0.0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FFFFFF"/>
                </a:solidFill>
              </a:rPr>
              <a:t>        loss_ic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array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0.0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else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    pred_b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predict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"x_b"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        loss_bc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mean</a:t>
            </a:r>
            <a:r>
              <a:rPr>
                <a:solidFill>
                  <a:srgbClr val="F8F8F2"/>
                </a:solidFill>
              </a:rPr>
              <a:t>((</a:t>
            </a:r>
            <a:r>
              <a:rPr>
                <a:solidFill>
                  <a:srgbClr val="FFFFFF"/>
                </a:solidFill>
              </a:rPr>
              <a:t>pred_b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"y_b"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    pred_i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predict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"x_i"</a:t>
            </a:r>
            <a:r>
              <a:rPr>
                <a:solidFill>
                  <a:srgbClr val="F8F8F2"/>
                </a:solidFill>
              </a:rPr>
              <a:t>],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>
              <a:defRPr sz="14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    loss_ic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jnp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mean</a:t>
            </a:r>
            <a:r>
              <a:rPr>
                <a:solidFill>
                  <a:srgbClr val="F8F8F2"/>
                </a:solidFill>
              </a:rPr>
              <a:t>((</a:t>
            </a:r>
            <a:r>
              <a:rPr>
                <a:solidFill>
                  <a:srgbClr val="FFFFFF"/>
                </a:solidFill>
              </a:rPr>
              <a:t>pred_i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"y_i"</a:t>
            </a:r>
            <a:r>
              <a:rPr>
                <a:solidFill>
                  <a:srgbClr val="F8F8F2"/>
                </a:solidFill>
              </a:rPr>
              <a:t>])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**</a:t>
            </a:r>
            <a:r>
              <a:rPr>
                <a:solidFill>
                  <a:srgbClr val="FFFFFF"/>
                </a:solidFill>
              </a:rPr>
              <a:t> 2</a:t>
            </a:r>
            <a:r>
              <a:rPr>
                <a:solidFill>
                  <a:srgbClr val="F8F8F2"/>
                </a:solidFill>
              </a:rPr>
              <a:t>)</a:t>
            </a:r>
          </a:p>
        </p:txBody>
      </p:sp>
      <p:sp>
        <p:nvSpPr>
          <p:cNvPr id="284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5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86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цикл обучения</a:t>
            </a:r>
          </a:p>
        </p:txBody>
      </p:sp>
      <p:sp>
        <p:nvSpPr>
          <p:cNvPr id="289" name="Text 1"/>
          <p:cNvSpPr txBox="1"/>
          <p:nvPr/>
        </p:nvSpPr>
        <p:spPr>
          <a:xfrm>
            <a:off x="373888" y="914400"/>
            <a:ext cx="11431524" cy="704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Процедура обучения включает генерацию batch, шаг оптимизатора и логирование learning rate и loss-компонент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После обучения вычисляются метрики на контрольных временах eval_times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На каждой эпохе сохраняются: loss_total, loss_pde, loss_bc, loss_ic, learning_rate</a:t>
            </a:r>
          </a:p>
        </p:txBody>
      </p:sp>
      <p:sp>
        <p:nvSpPr>
          <p:cNvPr id="290" name="Shape 2"/>
          <p:cNvSpPr/>
          <p:nvPr/>
        </p:nvSpPr>
        <p:spPr>
          <a:xfrm>
            <a:off x="438394" y="1724428"/>
            <a:ext cx="11284732" cy="4699657"/>
          </a:xfrm>
          <a:prstGeom prst="roundRect">
            <a:avLst>
              <a:gd name="adj" fmla="val 0"/>
            </a:avLst>
          </a:prstGeom>
          <a:solidFill>
            <a:srgbClr val="151A22"/>
          </a:solidFill>
          <a:ln w="12700">
            <a:solidFill>
              <a:srgbClr val="2D3440"/>
            </a:solidFill>
          </a:ln>
          <a:effectLst>
            <a:outerShdw sx="100000" sy="100000" kx="0" ky="0" algn="b" rotWithShape="0" blurRad="12700" dist="12700" dir="2700000">
              <a:srgbClr val="000000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1" name="Text 3"/>
          <p:cNvSpPr txBox="1"/>
          <p:nvPr/>
        </p:nvSpPr>
        <p:spPr>
          <a:xfrm>
            <a:off x="602986" y="1816376"/>
            <a:ext cx="100949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96A0AD"/>
                </a:solidFill>
              </a:defRPr>
            </a:lvl1pPr>
          </a:lstStyle>
          <a:p>
            <a:pPr/>
            <a:r>
              <a:t>train_pinn</a:t>
            </a:r>
          </a:p>
        </p:txBody>
      </p:sp>
      <p:sp>
        <p:nvSpPr>
          <p:cNvPr id="292" name="Text 4"/>
          <p:cNvSpPr txBox="1"/>
          <p:nvPr/>
        </p:nvSpPr>
        <p:spPr>
          <a:xfrm>
            <a:off x="584698" y="1943884"/>
            <a:ext cx="11009905" cy="4260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1 </a:t>
            </a:r>
            <a:r>
              <a:rPr>
                <a:solidFill>
                  <a:srgbClr val="66D9EF"/>
                </a:solidFill>
              </a:rPr>
              <a:t>def</a:t>
            </a:r>
            <a:r>
              <a:rPr>
                <a:solidFill>
                  <a:srgbClr val="FFFFFF"/>
                </a:solidFill>
              </a:rPr>
              <a:t> train_pinn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cfg</a:t>
            </a:r>
            <a:r>
              <a:rPr>
                <a:solidFill>
                  <a:srgbClr val="F8F8F2"/>
                </a:solidFill>
              </a:rPr>
              <a:t>:</a:t>
            </a:r>
            <a:r>
              <a:rPr>
                <a:solidFill>
                  <a:srgbClr val="FFFFFF"/>
                </a:solidFill>
              </a:rPr>
              <a:t> PINNConfig </a:t>
            </a:r>
            <a:r>
              <a:rPr>
                <a:solidFill>
                  <a:srgbClr val="F8F8F2"/>
                </a:solidFill>
              </a:rPr>
              <a:t>|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AE81FF"/>
                </a:solidFill>
              </a:rPr>
              <a:t>None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2 </a:t>
            </a:r>
            <a:r>
              <a:rPr>
                <a:solidFill>
                  <a:srgbClr val="FFFFFF"/>
                </a:solidFill>
              </a:rPr>
              <a:t>    cfg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cfg </a:t>
            </a:r>
            <a:r>
              <a:rPr>
                <a:solidFill>
                  <a:srgbClr val="66D9EF"/>
                </a:solidFill>
              </a:rPr>
              <a:t>or</a:t>
            </a:r>
            <a:r>
              <a:rPr>
                <a:solidFill>
                  <a:srgbClr val="FFFFFF"/>
                </a:solidFill>
              </a:rPr>
              <a:t> PINNConfig</a:t>
            </a:r>
            <a:r>
              <a:rPr>
                <a:solidFill>
                  <a:srgbClr val="F8F8F2"/>
                </a:solidFill>
              </a:rPr>
              <a:t>()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3 </a:t>
            </a:r>
            <a:r>
              <a:rPr>
                <a:solidFill>
                  <a:srgbClr val="FFFFFF"/>
                </a:solidFill>
              </a:rPr>
              <a:t>    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optimizer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opt_state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create_train_state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4 </a:t>
            </a:r>
            <a:r>
              <a:rPr>
                <a:solidFill>
                  <a:srgbClr val="FFFFFF"/>
                </a:solidFill>
              </a:rPr>
              <a:t>    key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PRNGKey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seed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123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5 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6 </a:t>
            </a:r>
            <a:r>
              <a:rPr>
                <a:solidFill>
                  <a:srgbClr val="FFFFFF"/>
                </a:solidFill>
              </a:rPr>
              <a:t>    total_epochs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pretrain_ic_bc_epochs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epochs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7 </a:t>
            </a:r>
            <a:r>
              <a:rPr>
                <a:solidFill>
                  <a:srgbClr val="FFFFFF"/>
                </a:solidFill>
              </a:rPr>
              <a:t>   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global_epoch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range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1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total_epochs </a:t>
            </a:r>
            <a:r>
              <a:rPr>
                <a:solidFill>
                  <a:srgbClr val="F8F8F2"/>
                </a:solidFill>
              </a:rPr>
              <a:t>+</a:t>
            </a:r>
            <a:r>
              <a:rPr>
                <a:solidFill>
                  <a:srgbClr val="FFFFFF"/>
                </a:solidFill>
              </a:rPr>
              <a:t> 1</a:t>
            </a:r>
            <a:r>
              <a:rPr>
                <a:solidFill>
                  <a:srgbClr val="F8F8F2"/>
                </a:solidFill>
              </a:rPr>
              <a:t>):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8 </a:t>
            </a:r>
            <a:r>
              <a:rPr>
                <a:solidFill>
                  <a:srgbClr val="FFFFFF"/>
                </a:solidFill>
              </a:rPr>
              <a:t>        key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subkey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jax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random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split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key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9 </a:t>
            </a:r>
            <a:r>
              <a:rPr>
                <a:solidFill>
                  <a:srgbClr val="FFFFFF"/>
                </a:solidFill>
              </a:rPr>
              <a:t>        batch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make_training_batch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subkey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10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if</a:t>
            </a:r>
            <a:r>
              <a:rPr>
                <a:solidFill>
                  <a:srgbClr val="FFFFFF"/>
                </a:solidFill>
              </a:rPr>
              <a:t> global_epoch </a:t>
            </a:r>
            <a:r>
              <a:rPr>
                <a:solidFill>
                  <a:srgbClr val="F8F8F2"/>
                </a:solidFill>
              </a:rPr>
              <a:t>&lt;=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pretrain_ic_bc_epochs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11 </a:t>
            </a:r>
            <a:r>
              <a:rPr>
                <a:solidFill>
                  <a:srgbClr val="FFFFFF"/>
                </a:solidFill>
              </a:rPr>
              <a:t>            lr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learning_rate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12 </a:t>
            </a:r>
            <a:r>
              <a:rPr>
                <a:solidFill>
                  <a:srgbClr val="FFFFFF"/>
                </a:solidFill>
              </a:rPr>
              <a:t>        </a:t>
            </a:r>
            <a:r>
              <a:rPr>
                <a:solidFill>
                  <a:srgbClr val="66D9EF"/>
                </a:solidFill>
              </a:rPr>
              <a:t>else</a:t>
            </a:r>
            <a:r>
              <a:rPr>
                <a:solidFill>
                  <a:srgbClr val="F8F8F2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13 </a:t>
            </a:r>
            <a:r>
              <a:rPr>
                <a:solidFill>
                  <a:srgbClr val="FFFFFF"/>
                </a:solidFill>
              </a:rPr>
              <a:t>            lr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cosine_decay_lr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global_epoch </a:t>
            </a:r>
            <a:r>
              <a:rPr>
                <a:solidFill>
                  <a:srgbClr val="F8F8F2"/>
                </a:solidFill>
              </a:rPr>
              <a:t>-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pretrain_ic_bc_epochs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14 </a:t>
            </a:r>
            <a:r>
              <a:rPr>
                <a:solidFill>
                  <a:srgbClr val="FFFFFF"/>
                </a:solidFill>
              </a:rPr>
              <a:t>        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opt_state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metrics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train_step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opt_state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batch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optimizer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lr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"full"</a:t>
            </a:r>
            <a:r>
              <a:rPr>
                <a:solidFill>
                  <a:srgbClr val="F8F8F2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15 </a:t>
            </a:r>
            <a:endParaRPr>
              <a:solidFill>
                <a:srgbClr val="FFFFFF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16 </a:t>
            </a:r>
            <a:r>
              <a:rPr>
                <a:solidFill>
                  <a:srgbClr val="FFFFFF"/>
                </a:solidFill>
              </a:rPr>
              <a:t>        metrics_by_time </a:t>
            </a:r>
            <a:r>
              <a:rPr>
                <a:solidFill>
                  <a:srgbClr val="F8F8F2"/>
                </a:solidFill>
              </a:rPr>
              <a:t>=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8F8F2"/>
                </a:solidFill>
              </a:rPr>
              <a:t>[</a:t>
            </a:r>
            <a:r>
              <a:rPr>
                <a:solidFill>
                  <a:srgbClr val="FFFFFF"/>
                </a:solidFill>
              </a:rPr>
              <a:t>compute_error_metrics</a:t>
            </a:r>
            <a:r>
              <a:rPr>
                <a:solidFill>
                  <a:srgbClr val="F8F8F2"/>
                </a:solidFill>
              </a:rPr>
              <a:t>(</a:t>
            </a:r>
            <a:r>
              <a:rPr>
                <a:solidFill>
                  <a:srgbClr val="FFFFFF"/>
                </a:solidFill>
              </a:rPr>
              <a:t>params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,</a:t>
            </a:r>
            <a:r>
              <a:rPr>
                <a:solidFill>
                  <a:srgbClr val="FFFFFF"/>
                </a:solidFill>
              </a:rPr>
              <a:t> t</a:t>
            </a:r>
            <a:r>
              <a:rPr>
                <a:solidFill>
                  <a:srgbClr val="F8F8F2"/>
                </a:solidFill>
              </a:rPr>
              <a:t>)</a:t>
            </a:r>
            <a:r>
              <a:rPr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66D9EF"/>
                </a:solidFill>
              </a:rPr>
              <a:t>for</a:t>
            </a:r>
            <a:r>
              <a:rPr>
                <a:solidFill>
                  <a:srgbClr val="FFFFFF"/>
                </a:solidFill>
              </a:rPr>
              <a:t> t </a:t>
            </a:r>
            <a:r>
              <a:rPr>
                <a:solidFill>
                  <a:srgbClr val="66D9EF"/>
                </a:solidFill>
              </a:rPr>
              <a:t>in</a:t>
            </a:r>
            <a:r>
              <a:rPr>
                <a:solidFill>
                  <a:srgbClr val="FFFFFF"/>
                </a:solidFill>
              </a:rPr>
              <a:t> cfg</a:t>
            </a:r>
            <a:r>
              <a:rPr>
                <a:solidFill>
                  <a:srgbClr val="F8F8F2"/>
                </a:solidFill>
              </a:rPr>
              <a:t>.</a:t>
            </a:r>
            <a:r>
              <a:rPr>
                <a:solidFill>
                  <a:srgbClr val="FFFFFF"/>
                </a:solidFill>
              </a:rPr>
              <a:t>eval_times</a:t>
            </a:r>
            <a:r>
              <a:rPr>
                <a:solidFill>
                  <a:srgbClr val="F8F8F2"/>
                </a:solidFill>
              </a:rPr>
              <a:t>]</a:t>
            </a:r>
            <a:endParaRPr>
              <a:solidFill>
                <a:srgbClr val="F8F8F2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592A0"/>
                </a:solidFill>
              </a:rPr>
              <a:t>17</a:t>
            </a:r>
            <a:r>
              <a:rPr>
                <a:solidFill>
                  <a:srgbClr val="F8F8F2"/>
                </a:solidFill>
              </a:rPr>
              <a:t>         train_time_s = float(time.perf_counter() - start_time)</a:t>
            </a:r>
            <a:endParaRPr>
              <a:solidFill>
                <a:srgbClr val="F8F8F2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592A0"/>
                </a:solidFill>
              </a:rPr>
              <a:t>18</a:t>
            </a:r>
            <a:r>
              <a:rPr>
                <a:solidFill>
                  <a:srgbClr val="F8F8F2"/>
                </a:solidFill>
              </a:rPr>
              <a:t>         history["train_time_s"] = train_time_s</a:t>
            </a:r>
            <a:endParaRPr>
              <a:solidFill>
                <a:srgbClr val="F8F8F2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592A0"/>
                </a:solidFill>
              </a:rPr>
              <a:t>19</a:t>
            </a:r>
            <a:r>
              <a:rPr>
                <a:solidFill>
                  <a:srgbClr val="F8F8F2"/>
                </a:solidFill>
              </a:rPr>
              <a:t>         history["training_time_sec"] = train_time_s</a:t>
            </a:r>
            <a:endParaRPr>
              <a:solidFill>
                <a:srgbClr val="F8F8F2"/>
              </a:solidFill>
            </a:endParaRPr>
          </a:p>
          <a:p>
            <a:pPr defTabSz="822959">
              <a:defRPr sz="126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rPr>
                <a:solidFill>
                  <a:srgbClr val="8592A0"/>
                </a:solidFill>
              </a:rPr>
              <a:t>20</a:t>
            </a:r>
            <a:r>
              <a:rPr>
                <a:solidFill>
                  <a:srgbClr val="F8F8F2"/>
                </a:solidFill>
              </a:rPr>
              <a:t>     return params, history, metrics_by_time, cfg, train_time_s</a:t>
            </a:r>
            <a:endParaRPr>
              <a:solidFill>
                <a:srgbClr val="F8F8F2"/>
              </a:solidFill>
            </a:endParaRPr>
          </a:p>
        </p:txBody>
      </p:sp>
      <p:sp>
        <p:nvSpPr>
          <p:cNvPr id="293" name="Shape 5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6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295" name="Text 7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расписание скорости обучения</a:t>
            </a:r>
          </a:p>
        </p:txBody>
      </p:sp>
      <p:sp>
        <p:nvSpPr>
          <p:cNvPr id="298" name="Text 1"/>
          <p:cNvSpPr txBox="1"/>
          <p:nvPr/>
        </p:nvSpPr>
        <p:spPr>
          <a:xfrm>
            <a:off x="749807" y="914400"/>
            <a:ext cx="9439945" cy="182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Во время обучения используется убывающая скорость обучения: от 0.001 до 0.0001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На ранних этапах шаг больше для быстрой подстройки параметров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На поздних этапах шаг уменьшается для стабилизации оптимизации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Scheduler влияет на устойчивость обучения PINN</a:t>
            </a:r>
          </a:p>
        </p:txBody>
      </p:sp>
      <p:sp>
        <p:nvSpPr>
          <p:cNvPr id="299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01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25</a:t>
            </a:r>
          </a:p>
        </p:txBody>
      </p:sp>
      <p:pic>
        <p:nvPicPr>
          <p:cNvPr id="302" name="learning_rate.png" descr="learning_ra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9377" y="2620232"/>
            <a:ext cx="6480546" cy="32402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история функции потерь</a:t>
            </a:r>
          </a:p>
        </p:txBody>
      </p:sp>
      <p:sp>
        <p:nvSpPr>
          <p:cNvPr id="305" name="Text 1"/>
          <p:cNvSpPr txBox="1"/>
          <p:nvPr/>
        </p:nvSpPr>
        <p:spPr>
          <a:xfrm>
            <a:off x="749808" y="914400"/>
            <a:ext cx="9686882" cy="196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На графике показана динамика общей потери total и PDE-компоненты в логарифмической шкале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loss уменьшается примерно с 10¹ до 10⁻³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Кривые total и pde почти совпадают, что согласуется с hard constraints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К концу обучения сеть выходит на устойчивый режим</a:t>
            </a:r>
          </a:p>
        </p:txBody>
      </p:sp>
      <p:sp>
        <p:nvSpPr>
          <p:cNvPr id="306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08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26</a:t>
            </a:r>
          </a:p>
        </p:txBody>
      </p:sp>
      <p:pic>
        <p:nvPicPr>
          <p:cNvPr id="309" name="loss_curves.png" descr="loss_curv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74193" y="2447219"/>
            <a:ext cx="6013134" cy="37582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сравнение exact и prediction на t = 0</a:t>
            </a:r>
          </a:p>
        </p:txBody>
      </p:sp>
      <p:sp>
        <p:nvSpPr>
          <p:cNvPr id="312" name="Text 1"/>
          <p:cNvSpPr txBox="1"/>
          <p:nvPr/>
        </p:nvSpPr>
        <p:spPr>
          <a:xfrm>
            <a:off x="749807" y="914400"/>
            <a:ext cx="1014984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Показаны точное решение, решение PINN и карта абсолютной ошибки для начального момента времени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PINN практически точно воспроизводит начальное условие</a:t>
            </a:r>
          </a:p>
          <a:p>
            <a:pPr>
              <a:lnSpc>
                <a:spcPct val="104999"/>
              </a:lnSpc>
              <a:defRPr sz="1600">
                <a:solidFill>
                  <a:srgbClr val="111111"/>
                </a:solidFill>
              </a:defRPr>
            </a:pPr>
            <a:r>
              <a:t>• Это прямое подтверждение корректной работы output transform и hard constraints</a:t>
            </a:r>
          </a:p>
        </p:txBody>
      </p:sp>
      <p:sp>
        <p:nvSpPr>
          <p:cNvPr id="313" name="Shape 7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8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15" name="Text 9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27</a:t>
            </a:r>
          </a:p>
        </p:txBody>
      </p:sp>
      <p:pic>
        <p:nvPicPr>
          <p:cNvPr id="316" name="slice_comparison_t_0_0.png" descr="slice_comparison_t_0_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1919" y="2910191"/>
            <a:ext cx="10515462" cy="30044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сравнение exact и prediction на t = 1.0</a:t>
            </a:r>
          </a:p>
        </p:txBody>
      </p:sp>
      <p:sp>
        <p:nvSpPr>
          <p:cNvPr id="319" name="Text 1"/>
          <p:cNvSpPr txBox="1"/>
          <p:nvPr/>
        </p:nvSpPr>
        <p:spPr>
          <a:xfrm>
            <a:off x="749807" y="914400"/>
            <a:ext cx="10149842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Показаны точное решение, решение PINN и карта абсолютной ошибки для финального момента рассматриваемого интервала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PINN сохраняет корректную форму решения, но ошибка возрастает по сравнению с более ранними слоями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Качество остаётся приемлемым, но заметно уступает FDM на этой задаче</a:t>
            </a:r>
          </a:p>
        </p:txBody>
      </p:sp>
      <p:sp>
        <p:nvSpPr>
          <p:cNvPr id="320" name="Shape 2"/>
          <p:cNvSpPr/>
          <p:nvPr/>
        </p:nvSpPr>
        <p:spPr>
          <a:xfrm>
            <a:off x="960119" y="2057400"/>
            <a:ext cx="10195561" cy="685800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1" name="Text 3"/>
          <p:cNvSpPr txBox="1"/>
          <p:nvPr/>
        </p:nvSpPr>
        <p:spPr>
          <a:xfrm>
            <a:off x="204557" y="2291969"/>
            <a:ext cx="11706685" cy="43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>
              <a:lnSpc>
                <a:spcPct val="104999"/>
              </a:lnSpc>
              <a:defRPr b="1" sz="1600">
                <a:solidFill>
                  <a:srgbClr val="111111"/>
                </a:solidFill>
              </a:defRPr>
            </a:lvl1pPr>
          </a:lstStyle>
          <a:p>
            <a:pPr/>
            <a:r>
              <a:t>L₂ = 2.4063 × 10⁻⁴    |    L∞ = 1.18 × 10⁻⁴   |    rel L₂ = 1.94 × 10⁻³</a:t>
            </a:r>
          </a:p>
        </p:txBody>
      </p:sp>
      <p:sp>
        <p:nvSpPr>
          <p:cNvPr id="322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24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28</a:t>
            </a:r>
          </a:p>
        </p:txBody>
      </p:sp>
      <p:pic>
        <p:nvPicPr>
          <p:cNvPr id="325" name="slice_comparison_t_1_0.png" descr="slice_comparison_t_1_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1196" y="2965450"/>
            <a:ext cx="10553408" cy="30152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PINN: эволюция ошибки по времени</a:t>
            </a:r>
          </a:p>
        </p:txBody>
      </p:sp>
      <p:sp>
        <p:nvSpPr>
          <p:cNvPr id="328" name="Text 1"/>
          <p:cNvSpPr txBox="1"/>
          <p:nvPr/>
        </p:nvSpPr>
        <p:spPr>
          <a:xfrm>
            <a:off x="749808" y="914400"/>
            <a:ext cx="9144001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</a:defRPr>
            </a:lvl1pPr>
          </a:lstStyle>
          <a:p>
            <a:pPr/>
            <a:r>
              <a:t>На графике показана динамика относительной ошибки L₂ и абсолютной ошибки L∞.</a:t>
            </a:r>
          </a:p>
        </p:txBody>
      </p:sp>
      <p:sp>
        <p:nvSpPr>
          <p:cNvPr id="329" name="Text 2"/>
          <p:cNvSpPr txBox="1"/>
          <p:nvPr/>
        </p:nvSpPr>
        <p:spPr>
          <a:xfrm>
            <a:off x="749808" y="1417319"/>
            <a:ext cx="10068927" cy="210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t = 0.10: rel L₂ = 8.40 × 10⁻⁴, L∞ = 1.12 × 10⁻³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t = 0.30: rel L₂ = 7.08 × 10⁻⁴, L∞ = 3.49 × 10⁻⁴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t = 0.50: rel L₂ = 7.58 × 10⁻⁴, L∞ = 2.00 × 10⁻⁴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t = 1.00: rel L₂ = 1.94 × 10⁻³, L∞ = 1.18 × 10⁻⁴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Относительная ошибка остаётся порядка 10⁻³ на всём интервале; к финальному моменту rel L₂ возрастает, а абсолютная L∞ уменьшается.</a:t>
            </a:r>
          </a:p>
        </p:txBody>
      </p:sp>
      <p:sp>
        <p:nvSpPr>
          <p:cNvPr id="330" name="Shape 8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9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32" name="Text 10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29</a:t>
            </a:r>
          </a:p>
        </p:txBody>
      </p:sp>
      <p:pic>
        <p:nvPicPr>
          <p:cNvPr id="333" name="error_vs_time.png" descr="error_vs_tim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24030" y="3071015"/>
            <a:ext cx="7931240" cy="32629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Итоговое сравнение FDM и PINN</a:t>
            </a:r>
          </a:p>
        </p:txBody>
      </p:sp>
      <p:sp>
        <p:nvSpPr>
          <p:cNvPr id="336" name="Shape 1"/>
          <p:cNvSpPr/>
          <p:nvPr/>
        </p:nvSpPr>
        <p:spPr>
          <a:xfrm>
            <a:off x="868680" y="2971800"/>
            <a:ext cx="4983480" cy="2468880"/>
          </a:xfrm>
          <a:prstGeom prst="roundRect">
            <a:avLst>
              <a:gd name="adj" fmla="val 16667"/>
            </a:avLst>
          </a:prstGeom>
          <a:solidFill>
            <a:srgbClr val="EAF5F1"/>
          </a:solidFill>
          <a:ln w="12700">
            <a:solidFill>
              <a:srgbClr val="CFE5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2"/>
          <p:cNvSpPr txBox="1"/>
          <p:nvPr/>
        </p:nvSpPr>
        <p:spPr>
          <a:xfrm>
            <a:off x="1078991" y="3218688"/>
            <a:ext cx="219456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2C8C69"/>
                </a:solidFill>
              </a:defRPr>
            </a:lvl1pPr>
          </a:lstStyle>
          <a:p>
            <a:pPr/>
            <a:r>
              <a:t>Основные выводы</a:t>
            </a:r>
          </a:p>
        </p:txBody>
      </p:sp>
      <p:sp>
        <p:nvSpPr>
          <p:cNvPr id="338" name="Text 3"/>
          <p:cNvSpPr txBox="1"/>
          <p:nvPr/>
        </p:nvSpPr>
        <p:spPr>
          <a:xfrm>
            <a:off x="1078991" y="3493008"/>
            <a:ext cx="4434842" cy="160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FDM на данной аналитической задаче существенно точнее PINN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FDM демонстрирует подтверждённый второй порядок сходимости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FDM решает задачу быстро и предсказуемо</a:t>
            </a:r>
          </a:p>
          <a:p>
            <a:pPr>
              <a:lnSpc>
                <a:spcPct val="104999"/>
              </a:lnSpc>
              <a:defRPr sz="1500">
                <a:solidFill>
                  <a:srgbClr val="111111"/>
                </a:solidFill>
              </a:defRPr>
            </a:pPr>
            <a:r>
              <a:t>• PINN даёт корректное решение, но требует длительного обучения</a:t>
            </a:r>
          </a:p>
        </p:txBody>
      </p:sp>
      <p:sp>
        <p:nvSpPr>
          <p:cNvPr id="339" name="Shape 4"/>
          <p:cNvSpPr/>
          <p:nvPr/>
        </p:nvSpPr>
        <p:spPr>
          <a:xfrm>
            <a:off x="6144767" y="2971800"/>
            <a:ext cx="5102354" cy="24688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5"/>
          <p:cNvSpPr txBox="1"/>
          <p:nvPr/>
        </p:nvSpPr>
        <p:spPr>
          <a:xfrm>
            <a:off x="6355079" y="3218688"/>
            <a:ext cx="2468882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999"/>
              </a:lnSpc>
              <a:defRPr b="1" sz="1600">
                <a:solidFill>
                  <a:srgbClr val="C2410C"/>
                </a:solidFill>
              </a:defRPr>
            </a:lvl1pPr>
          </a:lstStyle>
          <a:p>
            <a:pPr/>
            <a:r>
              <a:t>Ограничения сравнения</a:t>
            </a:r>
          </a:p>
        </p:txBody>
      </p:sp>
      <p:sp>
        <p:nvSpPr>
          <p:cNvPr id="341" name="Text 6"/>
          <p:cNvSpPr txBox="1"/>
          <p:nvPr/>
        </p:nvSpPr>
        <p:spPr>
          <a:xfrm>
            <a:off x="6355079" y="3493008"/>
            <a:ext cx="4553713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905255">
              <a:lnSpc>
                <a:spcPct val="104999"/>
              </a:lnSpc>
              <a:defRPr sz="1485">
                <a:solidFill>
                  <a:srgbClr val="111111"/>
                </a:solidFill>
              </a:defRPr>
            </a:pPr>
            <a:r>
              <a:t>• PINN требует длительного обучения</a:t>
            </a:r>
          </a:p>
          <a:p>
            <a:pPr marL="148890" indent="-148890" defTabSz="905255">
              <a:lnSpc>
                <a:spcPct val="104999"/>
              </a:lnSpc>
              <a:buSzPct val="100000"/>
              <a:buChar char="•"/>
              <a:defRPr sz="1485">
                <a:solidFill>
                  <a:srgbClr val="111111"/>
                </a:solidFill>
              </a:defRPr>
            </a:pPr>
            <a:r>
              <a:t>Для PINN существуют ограничения по памяти при переходе к более плотным 3D сеткам</a:t>
            </a:r>
          </a:p>
          <a:p>
            <a:pPr marL="148890" indent="-148890" defTabSz="905255">
              <a:lnSpc>
                <a:spcPct val="104999"/>
              </a:lnSpc>
              <a:buSzPct val="100000"/>
              <a:buChar char="•"/>
              <a:defRPr sz="1485">
                <a:solidFill>
                  <a:srgbClr val="111111"/>
                </a:solidFill>
              </a:defRPr>
            </a:pPr>
            <a:r>
              <a:t>FDM и PINN теперь сравниваются на одной сетке 21³.</a:t>
            </a:r>
          </a:p>
        </p:txBody>
      </p:sp>
      <p:sp>
        <p:nvSpPr>
          <p:cNvPr id="342" name="Shape 7"/>
          <p:cNvSpPr/>
          <p:nvPr/>
        </p:nvSpPr>
        <p:spPr>
          <a:xfrm>
            <a:off x="1143000" y="5623559"/>
            <a:ext cx="9921241" cy="502921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8"/>
          <p:cNvSpPr txBox="1"/>
          <p:nvPr/>
        </p:nvSpPr>
        <p:spPr>
          <a:xfrm>
            <a:off x="1222708" y="5699505"/>
            <a:ext cx="9716104" cy="515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 algn="ctr" defTabSz="768095">
              <a:lnSpc>
                <a:spcPct val="104999"/>
              </a:lnSpc>
              <a:defRPr sz="1175">
                <a:solidFill>
                  <a:srgbClr val="111111"/>
                </a:solidFill>
              </a:defRPr>
            </a:lvl1pPr>
          </a:lstStyle>
          <a:p>
            <a:pPr/>
            <a:r>
              <a:t>FDM остаётся более практичным методом для данной гладкой задачи: он быстрее получает решение и даёт меньшую L2-ошибку. PINN показывает малое время инференса после обучения, но само обучение существенно дороже.</a:t>
            </a:r>
          </a:p>
        </p:txBody>
      </p:sp>
      <p:sp>
        <p:nvSpPr>
          <p:cNvPr id="344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46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30</a:t>
            </a:r>
          </a:p>
        </p:txBody>
      </p:sp>
      <p:graphicFrame>
        <p:nvGraphicFramePr>
          <p:cNvPr id="347" name="Table 1"/>
          <p:cNvGraphicFramePr/>
          <p:nvPr/>
        </p:nvGraphicFramePr>
        <p:xfrm>
          <a:off x="1804670" y="1385544"/>
          <a:ext cx="7620001" cy="788605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965200"/>
                <a:gridCol w="901700"/>
                <a:gridCol w="1285783"/>
                <a:gridCol w="1272729"/>
                <a:gridCol w="4171368"/>
              </a:tblGrid>
              <a:tr h="26286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Метод   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Сетка   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L2 / rel L2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L∞        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Время</a:t>
                      </a:r>
                    </a:p>
                  </a:txBody>
                  <a:tcPr marL="0" marR="0" marT="0" marB="0" anchor="t" anchorCtr="0" horzOverflow="overflow"/>
                </a:tc>
              </a:tr>
              <a:tr h="26286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FDM     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21³     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7.27E-05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2.21E-04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1.98 s</a:t>
                      </a:r>
                    </a:p>
                  </a:txBody>
                  <a:tcPr marL="0" marR="0" marT="0" marB="0" anchor="t" anchorCtr="0" horzOverflow="overflow"/>
                </a:tc>
              </a:tr>
              <a:tr h="26286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PINN    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21³     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1.94E-03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1.18E-04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обучение 14177.9 s, inference 0.03 s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 txBox="1"/>
          <p:nvPr/>
        </p:nvSpPr>
        <p:spPr>
          <a:xfrm>
            <a:off x="658368" y="370168"/>
            <a:ext cx="10881360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11111"/>
                </a:solidFill>
              </a:defRPr>
            </a:lvl1pPr>
          </a:lstStyle>
          <a:p>
            <a:pPr/>
            <a:r>
              <a:t>Список литературы</a:t>
            </a:r>
          </a:p>
        </p:txBody>
      </p:sp>
      <p:sp>
        <p:nvSpPr>
          <p:cNvPr id="350" name="Shape 9"/>
          <p:cNvSpPr/>
          <p:nvPr/>
        </p:nvSpPr>
        <p:spPr>
          <a:xfrm>
            <a:off x="594359" y="6473952"/>
            <a:ext cx="10972801" cy="1"/>
          </a:xfrm>
          <a:prstGeom prst="line">
            <a:avLst/>
          </a:prstGeom>
          <a:ln w="12700">
            <a:solidFill>
              <a:srgbClr val="D7DCE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0"/>
          <p:cNvSpPr txBox="1"/>
          <p:nvPr/>
        </p:nvSpPr>
        <p:spPr>
          <a:xfrm>
            <a:off x="621791" y="6529323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17.04.2026</a:t>
            </a:r>
          </a:p>
        </p:txBody>
      </p:sp>
      <p:sp>
        <p:nvSpPr>
          <p:cNvPr id="352" name="Text 11"/>
          <p:cNvSpPr txBox="1"/>
          <p:nvPr/>
        </p:nvSpPr>
        <p:spPr>
          <a:xfrm>
            <a:off x="11155680" y="6529323"/>
            <a:ext cx="3200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353" name="Text 2"/>
          <p:cNvSpPr txBox="1"/>
          <p:nvPr/>
        </p:nvSpPr>
        <p:spPr>
          <a:xfrm>
            <a:off x="749808" y="1417319"/>
            <a:ext cx="10502037" cy="402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615950" indent="-476250">
              <a:buSzPct val="100000"/>
              <a:buFont typeface="Times Roman"/>
              <a:buAutoNum type="arabicPeriod" startAt="1"/>
            </a:pPr>
            <a:r>
              <a:t>Raissi, M., Perdikaris, P., Karniadakis, G. E. </a:t>
            </a:r>
            <a:r>
              <a:t>Physics-informed neural networks: A deep learning framework for solving forward and inverse problems involving nonlinear partial differential equations</a:t>
            </a:r>
            <a:r>
              <a:t>. Journal of Computational Physics, 2019. (</a:t>
            </a:r>
            <a:r>
              <a:rPr u="sng">
                <a:solidFill>
                  <a:srgbClr val="0000EE"/>
                </a:solidFill>
                <a:hlinkClick r:id="rId2" invalidUrl="" action="" tgtFrame="" tooltip="" history="1" highlightClick="0" endSnd="0"/>
              </a:rPr>
              <a:t>ScienceDirect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LeVeque, R. J. </a:t>
            </a:r>
            <a:r>
              <a:t>Finite Difference Methods for Ordinary and Partial Differential Equations: Steady-State and Time-Dependent Problems</a:t>
            </a:r>
            <a:r>
              <a:t>. SIAM, 2007. (</a:t>
            </a:r>
            <a:r>
              <a:rPr u="sng">
                <a:solidFill>
                  <a:srgbClr val="0000EE"/>
                </a:solidFill>
                <a:hlinkClick r:id="rId3" invalidUrl="" action="" tgtFrame="" tooltip="" history="1" highlightClick="0" endSnd="0"/>
              </a:rPr>
              <a:t>SIAM E-Books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Strang, G. </a:t>
            </a:r>
            <a:r>
              <a:rPr i="1"/>
              <a:t>Computational Science and Engineering</a:t>
            </a:r>
            <a:r>
              <a:t>. Wellesley-Cambridge Press, 2007. (</a:t>
            </a:r>
            <a:r>
              <a:rPr u="sng">
                <a:solidFill>
                  <a:srgbClr val="0000EE"/>
                </a:solidFill>
                <a:hlinkClick r:id="rId4" invalidUrl="" action="" tgtFrame="" tooltip="" history="1" highlightClick="0" endSnd="0"/>
              </a:rPr>
              <a:t>ScienceDirect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JAX Developers. </a:t>
            </a:r>
            <a:r>
              <a:rPr i="1"/>
              <a:t>JAX Documentation</a:t>
            </a:r>
            <a:r>
              <a:t>. Official documentation, 2026. (</a:t>
            </a:r>
            <a:r>
              <a:rPr u="sng">
                <a:solidFill>
                  <a:srgbClr val="0000EE"/>
                </a:solidFill>
                <a:hlinkClick r:id="rId5" invalidUrl="" action="" tgtFrame="" tooltip="" history="1" highlightClick="0" endSnd="0"/>
              </a:rPr>
              <a:t>JAX Documentation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JAX Developers. </a:t>
            </a:r>
            <a:r>
              <a:rPr i="1"/>
              <a:t>Quickstart: How to think in JAX</a:t>
            </a:r>
            <a:r>
              <a:t>. Official documentation, 2026. (</a:t>
            </a:r>
            <a:r>
              <a:rPr u="sng">
                <a:solidFill>
                  <a:srgbClr val="0000EE"/>
                </a:solidFill>
                <a:hlinkClick r:id="rId5" invalidUrl="" action="" tgtFrame="" tooltip="" history="1" highlightClick="0" endSnd="0"/>
              </a:rPr>
              <a:t>JAX Documentation</a:t>
            </a:r>
            <a:r>
              <a:t>)</a:t>
            </a:r>
          </a:p>
          <a:p>
            <a:pPr marL="615950" indent="-476250">
              <a:buSzPct val="100000"/>
              <a:buFont typeface="Times Roman"/>
              <a:buAutoNum type="arabicPeriod" startAt="1"/>
            </a:pPr>
            <a:r>
              <a:t>JAX Developers. </a:t>
            </a:r>
            <a:r>
              <a:rPr i="1"/>
              <a:t>API Reference</a:t>
            </a:r>
            <a:r>
              <a:t>. Official documentation, 2026. (</a:t>
            </a:r>
            <a:r>
              <a:rPr u="sng">
                <a:solidFill>
                  <a:srgbClr val="0000EE"/>
                </a:solidFill>
                <a:hlinkClick r:id="rId6" invalidUrl="" action="" tgtFrame="" tooltip="" history="1" highlightClick="0" endSnd="0"/>
              </a:rPr>
              <a:t>JAX Documentation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